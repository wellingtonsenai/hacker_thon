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</p:sldIdLst>
  <p:sldSz cy="5143500" cx="9144000"/>
  <p:notesSz cx="6858000" cy="9144000"/>
  <p:embeddedFontLst>
    <p:embeddedFont>
      <p:font typeface="Lexend ExtraBold"/>
      <p:bold r:id="rId108"/>
    </p:embeddedFont>
    <p:embeddedFont>
      <p:font typeface="Lexend Light"/>
      <p:regular r:id="rId109"/>
      <p:bold r:id="rId110"/>
    </p:embeddedFont>
    <p:embeddedFont>
      <p:font typeface="Lexend"/>
      <p:regular r:id="rId111"/>
      <p:bold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">
          <p15:clr>
            <a:srgbClr val="747775"/>
          </p15:clr>
        </p15:guide>
        <p15:guide id="2" pos="204">
          <p15:clr>
            <a:srgbClr val="747775"/>
          </p15:clr>
        </p15:guide>
        <p15:guide id="3" pos="55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" orient="horz"/>
        <p:guide pos="204"/>
        <p:guide pos="55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font" Target="fonts/LexendLight-regular.fntdata"/><Relationship Id="rId108" Type="http://schemas.openxmlformats.org/officeDocument/2006/relationships/font" Target="fonts/LexendExtraBold-bold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font" Target="fonts/LexendLight-bold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12" Type="http://schemas.openxmlformats.org/officeDocument/2006/relationships/font" Target="fonts/Lexend-bold.fntdata"/><Relationship Id="rId111" Type="http://schemas.openxmlformats.org/officeDocument/2006/relationships/font" Target="fonts/Lexend-regular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orms.gle/mcZ7Dxgp6BkX7Nz8A" TargetMode="Externa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bb6d2f7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g3fbb6d2f7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09:00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Boas-vindas. Apresentação rápida do instrutor.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Hoje cada grupo constrói duas ferramentas que servem para montar aula: de manhã um gerador de arquiteturas AWS, à tarde um gerador de slides.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 tarde, os slides apresentam um plano de arquitetura de IA, defendido num tribunal.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bc1d0319d_9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fbc1d0319d_9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09:20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14 slides em 30 min: ritmo de cerca de 2 min por slide.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Se atrasar, pular o slide do GA.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bc1d0319d_9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3fbc1d0319d_9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bc1d0319d_9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g3fbc1d0319d_9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09:20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14 slides em 30 min: ritmo de cerca de 2 min por slide.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Se atrasar, pular o slide do GA.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bb6d2f70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bb6d2f70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09:01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fio do dia: padrão escrito, validado por código e aplicado pela IA.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 manhã o padrão é o guia visual da AWS e o produto é um diagrama.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 tarde o padrão é criado pelo grupo e o produto é um deck com o plano de arquitetura de IA do caso.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diagrama da manhã entra no deck da tarde.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ee1e813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fbee1e813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09:01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fio do dia: padrão escrito, validado por código e aplicado pela IA.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 manhã o padrão é o guia visual da AWS e o produto é um diagrama.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 tarde o padrão é criado pelo grupo e o produto é um deck com o plano de arquitetura de IA do caso.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diagrama da manhã entra no deck da tarde.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bb6d2f70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bb6d2f70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09:01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Tudo em grupo, com papéis. Cada grupo sai ao meio-dia com o primeiro diagrama do seu caso no GitHub.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Dois hands-on e um bloco de estudo individual no AWS Academy.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que for feito de manhã é a base da tarde.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b6d2f70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fbb6d2f70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09:03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Linhas cinza são as paradas: intervalo às 10h20 e estudo no AWS Academy às 10h40.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Cada bloco de teoria termina em prática.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Almoço às 12h. À tarde: gerador de slides e tribunal do plano.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bb6d2f70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fbb6d2f70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09:04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Ler os quatro objetivos.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Perguntar: quem já usou IA para montar aula? Quem já corrigiu trabalho feito com IA?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quarto objetivo é o que mais importa para professor.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bb6d2f70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bb6d2f70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09:05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 ideia nasceu de uma necessidade real: professor monta aula com diagrama de arquitetura o tempo todo.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gerador recebe um pedido, consulta a documentação oficial, escreve a arquitetura em YAML, valida as regras e desenha com os ícones oficiais.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 manhã vamos até o PNG. À tarde o mesmo caminho vale para slides, e o PNG entra no deck da defesa.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bb6d2f701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fbb6d2f701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09:09 (3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Sorteio agora: cada grupo tira um caso.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Casos do mundo de dados e IA, com dados públicos ou fictícios.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Referência do instrutor (não mostrar): 1 S3, Bedrock Knowledge Bases, OpenSearch Serverless; 2 IoT Core, Firehose, S3, Glue, Athena; 3 S3, Glue, SageMaker AI, Step Functions; 4 API Gateway, Lambda, AgentCore, DynamoDB; 5 S3, Glue Data Quality, Step Functions, SNS.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bb6d2f701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bb6d2f701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09:12 (3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Sortear os papéis dentro do grupo.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Cada papel tem entrega própria: ninguém fica só assistindo.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Uma branch por papel e merge por pull request no fim de cada hands-on.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Créditos: no máximo 2 contas Kiro ativas por grupo. Quando uma zera, entra a próxima.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 fim do dia, todos fazem fork do repositório do grupo.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bb6d2f701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fbb6d2f701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09:15 (3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Kiro aberto e logado (GitHub, Google ou AWS Builder ID) nas máquinas do grupo.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GitHub e LMS do AWS Academy.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Terminal: python --version (3.11), node --version (20) e git --version.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Quem tiver problema levanta a mão; o monitor resolve enquanto seguimos.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bb6d2f701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fbb6d2f701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09:18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 plano Free são 50 créditos por mês e não acumulam.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Cada interação consome créditos; spec grande consome mais.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Por isso o trabalho é em grupo: no máximo 2 contas ativas, a próxima entra quando uma zera.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Planos pagos: excedente de US$ 0,04 por crédito. Conferido em 16/09/2026 em kiro.dev/pricing.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bb6d2f701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fbb6d2f701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09:20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14 slides em 30 min: ritmo de cerca de 2 min por slide.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Se atrasar, pular o slide do GA.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bb6d2f701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fbb6d2f701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09:21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2021: GitHub Copilot, o "AI pair programmer" (autocomplete).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2022: ChatGPT populariza código gerado em conversa.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Nov/2024: Anthropic lança o Model Context Protocol (MCP). Vamos usar MCP hoje.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Fev/2025: Andrej Karpathy cunha "vibe coding".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Jul/2025: AWS lança o Kiro com specs.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2026: Karpathy fala em agentes "com mais supervisão e escrutínio".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bb6d2f701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fbb6d2f701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09:23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Definição da Collins, que escolheu "vibe coding" como Palavra do Ano 2025.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Para protótipo e script descartável é ótimo.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problema aparece quando o protótipo vira produção sem requisito, revisão e registro.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Pergunta: qual trabalho de aluno de vocês já é vibe coding?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bb6d2f701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fbb6d2f701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09:25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Peng et al. (2023, arXiv 2302.06590): grupo com Copilot terminou a tarefa 55,8% mais rápido. Tarefa isolada: servidor HTTP em JavaScript.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METR (Becker et al., 2025, arXiv 2507.09089): 16 devs experientes, 246 tarefas nos próprios repositórios. Com IA, 19% mais lentos.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Veracode (2025): mais de 100 LLMs, 80 tarefas, falha de segurança em 45%.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Mensagem: ganho depende do contexto, e a percepção engana.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bb6d2f701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fbb6d2f701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09:27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Spracklen et al., USENIX Security 2025 (arXiv 2406.10279): 576 mil amostras de código, 16 modelos.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Modelos inventam nomes de pacote; os nomes se repetem entre execuções.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Ataque conhecido como slopsquatting: registrar o nome inventado com código malicioso.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mesmo vale para serviço AWS inventado: por isso o pesquisador confere tudo no MCP de documentação.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bb6d2f701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fbb6d2f701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09:29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 diferença não é a IA, é o momento em que o humano revisa.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 vibe coding a revisão fica para o fim, no código.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 spec-driven a revisão acontece antes: requisito, design e tarefas.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Os arquivos da spec ficam no repositório e servem de evidência.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fbb6d2f701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fbb6d2f701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09:31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Cinco fases. A IA propõe cada uma; o humano aprova antes de seguir.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É o mesmo ciclo do AI-DLC (AI-Driven Development Lifecycle) que a AWS publica.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 Kiro, as fases 2 a 4 viram três arquivos Markdown.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bb6d2f701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fbb6d2f701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09:33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Agora a ferramenta: de onde veio, o que mudou em um ano e o que ela é hoje.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bb6d2f701_0_5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fbb6d2f701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09:34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IDE agêntica da AWS, construída sobre o Code OSS (a base aberta do VS Code): configurações e extensões Open VSX funcionam.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Construída sobre o Amazon Bedrock, usando vários modelos (o agente Auto escolhe).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Hoje vamos usar as quatro ideias: specs, steering, hooks e MCP com skills.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bb6d2f701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g3fbb6d2f701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09:36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 anúncio de 14/07/2025, a AWS diz que levar protótipo para produção exige documentar suposições, esclarecer requisitos vagos e entender decisões de design.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Cada lacuna ganhou uma resposta no Kiro.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 citação é do anúncio do GA (17/11/2025).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bb6d2f701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3fbb6d2f701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09:38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14/07: preview público com specs, hooks, steering e MCP.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15/09 (vale de 01/10): planos com créditos unificados e o agente Auto.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17/11: GA com Kiro CLI, property-based testing, checkpoints e times.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02/12: Kiro autonomous agent, anunciado no re:Invent.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03/12: powers, pacotes de MCP e steering que ativam por contexto.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bb6d2f701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fbb6d2f701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09:40 (2 min, pode pular se atrasar)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Kiro CLI: comando kiro-cli, também usado em pipelines no modo headless.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Property-based testing: extrai propriedades dos requisitos e gera centenas de casos.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Checkpoints: voltar o agente para um passo anterior.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Times: IAM Identity Center, painel central de acesso, cobrança e MCP.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fbb6d2f701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g3fbb6d2f701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09:42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25/06: IDE 1.0 com sistema de permissões, custom agents em Markdown e Agent Focus. Hooks passam a ser JSON em .kiro/hooks/.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04/08: Kiro Crew open source. Nasceu na Amazon como MeshClaw, com mais de 39 mil builders.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01/09: Kiro Web GA e certificação ISO/IEC 27001:2022.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14/09: IDE 1.1 com artefatos do agente.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Em 2026 o Kiro também passou a seguir o padrão aberto de Agent Skills, que usaremos no Hands-on 2.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fbb6d2f701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g3fbb6d2f701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09:44 (3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 spec é o que liga tudo: a mesma spec pode ser criada na IDE e executada no CLI ou na Web.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IDE: onde fazemos o workshop.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CLI: kiro-cli no terminal e no CI.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Web: delegar tarefas no navegador (planos pagos).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Crew: workspace de agentes open source.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Powers e skills: especialização sob demanda. Hoje vamos criar uma skill.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Fechar o bloco teórico e ir para a prática.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fbb6d2f701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3fbb6d2f701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09:50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9 min de Kiro por dentro (5 slides), 21 min de prática por papel.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fbb6d2f701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g3fbb6d2f701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09:51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Tudo que configura o agente mora na pasta .kiro/, versionada com o código.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steering/: contexto. skills/: fluxos reutilizáveis. hooks/: automações. settings/mcp.json: servidores MCP.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Fora do .kiro/: renderizador e ícones prontos; arquitetura/ é onde nasce o validador do grupo.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fbb6d2f701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g3fbb6d2f701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09:53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1. O grupo faz o pedido no chat ou pela skill.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2. O contexto (steering, spec, código) vai para os modelos no Amazon Bedrock.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3. O Kiro consulta a documentação oficial pelo AWS Knowledge MCP.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4. O Kiro escreve o YAML da arquitetura.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5. Ao salvar o YAML, um hook roda o validador e o renderizador.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6. Validado, tudo vai para o GitHub.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Este diagrama foi feito com o mesmo renderizador do template.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bb6d2f701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g3fbb6d2f701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09:55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Steering é memória de projeto: o agente lê em toda conversa, sem você repetir.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Três arquivos base e um específico do workshop: guia-visual-aws.md.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.kiro/steering/ vale para o projeto; ~/.kiro/steering/ vale para todos. Em conflito, vence o do projeto.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Nunca colocar chave, senha ou dado sensível.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fbb6d2f701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g3fbb6d2f701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09:58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AWS Knowledge MCP: servidor remoto da AWS, sem conta AWS e sem credencial. Só lê documentação pública; tem limite de uso.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Tools principais: search_documentation, read_documentation, get_regional_availability.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Plano B se a rede bloquear: servidor local awslabs.aws-documentation-mcp-server via uvx.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Não usar autoApprove "*" em servidor que escreve ou executa.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fbb6d2f701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3" name="Google Shape;943;g3fbb6d2f701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09:59 a 10:20 (21 min, em grupo)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Relator cria o repositório do grupo pelo template e convida os colegas; escreve o rascunho do caso.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Guardião: steering e guia-visual-aws.md (conteúdo no próximo slide).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Pesquisador: mcp.json e pergunta ao Kiro se os serviços do caso existem em us-east-1.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Dev do validador: no chat (vibe), função que confere se os ícones do YAML existem em icones/. Revisa com o dev do gerador.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Dev do gerador: roda o renderizador com exemplo.yaml.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Máximo de 2 contas Kiro ativas.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fbb6d2f701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g3fbb6d2f701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Fim do Hands-on 1 (10:12 a 10:20)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Dev do validador e dev do gerador trocam de máquina e respondem às 4 perguntas sobre a função gerada no modo vibe.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Teste rápido: um YAML com "Bedrock AgentCore" e outro com um serviço inventado.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Cada problema encontrado vira critério de aceite no Hands-on 2.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Às 10h20: intervalo.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fbb6d2f701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g3fbb6d2f701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10:20 a 10:40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Deixar projetado durante o intervalo.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Monitor passa nos grupos sem MCP configurado ou sem repositório.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fbb6d2f701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g3fbb6d2f701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10:40 a 11:10 (30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Parada de estudo individual, não é aula expositiva.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Instrutor circula e ajuda com acesso ao LMS.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Os demais módulos do curso ficam como tarefa para os dias 2 a 5.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fbb6d2f701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" name="Google Shape;1015;g3fbb6d2f701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10:41 (1 min para explicar, depois 29 min de estudo)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Tópicos: conceitos de IA generativa e prompt engineering.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Conferir no LMS os nomes exatos dos módulos antes do evento e escrever no quadro.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Na volta, cada grupo junta as técnicas anotadas para escrever a skill do gerador.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fbb6d2f701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4" name="Google Shape;1054;g3fbb6d2f701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11:10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Parte A (spec e skill): 9 min de teoria, 13 min de prática.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Parte B (hooks e PNG): 5 min de teoria, 13 min de prática.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fbb6d2f701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0" name="Google Shape;1060;g3fbb6d2f701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11:11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Três arquivos, três fases, cada uma com aprovação.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requirements.md: o quê. design.md: como. tasks.md: passo a passo.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Tipos: feature (requirements-first ou design-first) e bugfix. Quick Spec gera tudo sem pausas; hoje não, porque queremos revisar.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Use #spec no chat para validar o código contra a spec.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fbb6d2f701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g3fbb6d2f701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11:14 (1 min, pode pular se atrasar)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botão Run all Tasks analisa as dependências entre tarefas.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Tarefas independentes rodam em paralelo, em ondas.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Para o workshop, rodar tarefa por tarefa ajuda a acompanhar e a revisar.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fbb6d2f701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6" name="Google Shape;1126;g3fbb6d2f701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11:16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Skill é um pacote de instruções com scripts, referências e modelos. Segue o padrão aberto Agent Skills (agentskills.io).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.kiro/skills/ vale para o projeto; ~/.kiro/skills/ vale para todos os projetos.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Ativa sozinha quando o pedido combina com a description, ou manualmente com / no chat.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Diferença para steering: steering é contexto; skill é um fluxo com passos e scripts.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Segurança: ler o SKILL.md antes de usar skill de terceiros, porque ela manda o agente rodar scripts.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exemplo é a skill que cada grupo constrói à tarde.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fbb6d2f701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1" name="Google Shape;1151;g3fbb6d2f701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11:18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guardião escreve esta skill no Hands-on 2A.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Ela amarra tudo: MCP, guia visual, validador, renderizador e revisão.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 description é o que faz a skill ativar sozinha: precisa dizer quando usar.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 tarde, o mesmo formato vira a skill gerador-slides.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fbb6d2f701_0_1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4" name="Google Shape;1164;g3fbb6d2f701_0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11:19 a 11:32 (13 min, em grupo)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Dev do validador: Specs &gt; +, colar o prompt abaixo, revisar requirements.md com o relator e incluir os problemas da revisão em dupla.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Guardião: cria a skill gerador-arquitetura (slide anterior).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Pesquisador: confere no MCP cada serviço do caso e anota a URL da fonte no README.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Dev do gerador e relator: aprovam o design e rodam as tasks uma a uma.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fbb6d2f701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g3fbb6d2f701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11:32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Hook = evento + ação. Na citação do lançamento: "hooks agem como um dev experiente que pega o que você deixou passar".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Conversa: Prompt Submit (pode bloquear), Agent Stop, Session Start (IDE), Agent Spawn (CLI).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Ferramentas: Pre Tool Use (pode bloquear) e Post Tool Use.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Arquivos: File Create, File Save, File Delete.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Spec: Pre e Post Task Execution. O 12º é o Legacy Manual Hook.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Ação command roda no terminal; ação agent injeta um prompt.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fbb6d2f701_0_1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0" name="Google Shape;1230;g3fbb6d2f701_0_1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11:34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Desde a IDE 1.0, hooks são arquivos JSON versão v1 em .kiro/hooks/.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matcher é regex: caminho do arquivo nos gatilhos de arquivo, nome da ferramenta nos de ferramenta.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timeout padrão de 60 s; o renderizador pode precisar de mais.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Não precisa escrever o JSON: o Kiro gera a partir de uma frase. Conferir no Kiro instalado o nome exato do gatilho.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fbb6d2f701_0_1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5" name="Google Shape;1255;g3fbb6d2f701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11:35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Hook 1: File Save em arquiteturas/*.yaml roda o validador com --renderizar. Salvou, desenhou.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Hook 2: Post Task Execution procura padrões de chave AWS. Sugestão de comando: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  git grep -nE "AKIA[0-9A-Z]{16}|aws_secret_access_key" &amp;&amp; exit 1 || exit 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Kiro não tem gatilho de commit. Desafio extra: um pre-commit do Git.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fbb6d2f701_0_1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g3fbb6d2f701_0_1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11:37 a 11:50 (13 min, em grupo)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1. Dev do validador: Agent Hooks &gt; + &gt; Ask Kiro to create a hook, em português, para os dois hooks.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2. Relator e dev do gerador: pedem à skill "gere a arquitetura do nosso caso".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3. Guardião confere o PNG contra o guia visual.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4. Pull requests das branches e merge na main.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Às 11h50: como ensinar com IA.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fbb6d2f701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g3fbb6d2f701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11:50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10 minutos de conversa. Mais perguntas para a turma do que exposição.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3fbb6d2f701_0_1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1" name="Google Shape;1331;g3fbb6d2f701_0_1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11:51 (3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resultado final não prova aprendizado quando a IA escreveu.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Evidências em degraus: spec revisada, commits por papel, testes ajustados e, no topo, a defesa oral.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 tarde a defesa vira tribunal.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Pergunta: qual dessas evidências vocês já pedem hoje?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3fbb6d2f701_0_1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8" name="Google Shape;1358;g3fbb6d2f701_0_1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11:54 (3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Um critério único, fácil de aplicar em qualquer disciplina.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Aceito: explica cada decisão e mostra o teste passando.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Revisar: explica, mas não testou os casos de borda.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Refazer: não explica o que entregou.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Em grupo: qualquer pessoa pode ser chamada a responder.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fbb6d2f701_0_1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7" name="Google Shape;1387;g3fbb6d2f701_0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11:57 (3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Plano Free e login social: parte do conteúdo pode ser usada para melhoria do serviço, com opt-out (Kiro FAQ). Mostrar onde desliga.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Casos com dados públicos ou fictícios; nada de dado pessoal de aluno.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Skill de terceiros manda o agente rodar scripts: ler antes.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MCP: só leitura, sem autoApprove geral.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fbb6d2f701_0_1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1" name="Google Shape;1421;g3fbb6d2f701_0_1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12:00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Conferir: todos os grupos têm o PNG do caso na main? Quem não tiver, faz no começo da tarde.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Esse repositório é a base da tarde.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3fbb6d2f701_0_1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5" name="Google Shape;1455;g3fbb6d2f701_0_1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12:01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Aperitivo da tarde.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 tarde cada grupo cria o próprio padrão visual e um gerador de slides. O deck apresenta um plano de arquitetura de IA para o caso.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Pares em ciclo: G1 defende e G2 ataca, até G5 com G1.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4 min de defesa com o deck do gerador do grupo, 4 min de ataque com uma carta de pilar e uma de design, 1 min de veredito.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3fbb6d2f701_0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5" name="Google Shape;1485;g3fbb6d2f701_0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12:00 a 13:00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Lembrar: grupo sem PNG na main faz no começo da tarde.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Voltamos às 13h em ponto.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fbb6d2f701_0_1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6" name="Google Shape;1496;g3fbb6d2f701_0_1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13:00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Boas-vindas de volta.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 tarde cada grupo constrói um gerador de slides com o próprio padrão visual.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conteúdo dos slides é um plano de arquitetura de IA para o caso do grupo. Assim o assunto de agentes continua no centro.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Nada é implantado na AWS à tarde: basta Kiro, Python e o AWS Knowledge MCP.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fbb6d2f701_0_1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5" name="Google Shape;1505;g3fbb6d2f701_0_1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13:01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 manhã: gerador de diagramas que segue o guia visual da AWS.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À tarde: gerador de slides que segue o padrão visual do grupo.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deck gerado apresenta um plano de arquitetura de IA. O tribunal julga a arquitetura e o design.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3fbb6d2f701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9" name="Google Shape;1539;g3fbb6d2f701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13:02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Linhas cinza são as paradas: estudo no AWS Academy e intervalo.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35 min de teoria em dois blocos curtos e depois prática até o tribunal.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Tribunal às 16h10. Encerramento às 17h.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fbb6d2f701_0_1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3" name="Google Shape;1593;g3fbb6d2f701_0_1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13:03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Recapitular o que cada grupo tem no repositório depois da manhã.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Tudo isso continua valendo: o PNG da arquitetura vai para dentro do deck.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Grupo sem PNG na main: o pesquisador resolve nos primeiros minutos do Hands-on 3.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fbb6d2f701_0_1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3" name="Google Shape;1633;g3fbb6d2f701_0_1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13:04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 estrutura é a mesma. Quem entendeu a manhã já sabe o que fazer à tarde.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Diferença importante: de manhã o renderizador veio pronto. À tarde o grupo escreve o próprio gerador.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Por isso o padrão visual também é do grupo, não da AWS.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3fbb6d2f701_0_1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4" name="Google Shape;1674;g3fbb6d2f701_0_1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13:05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8 slides em 13 min. Objetivo: vocabulário para o grupo escrever o plano do caso.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3fbb6d2f701_0_1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0" name="Google Shape;1680;g3fbb6d2f701_0_1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13:05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Definições da Anthropic (Building effective agents, dezembro de 2024).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Workflow: LLMs e tools orquestrados por caminhos de código definidos antes.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Agente: o LLM decide os próprios passos e o uso das tools.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Decisão de arquitetura: começar pelo mais simples. Agente só quando o caminho não dá para prever.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3fbb6d2f701_0_1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1" name="Google Shape;1721;g3fbb6d2f701_0_1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13:07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Cinco padrões de workflow da Anthropic.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Prompt chaining: saída de uma chamada vira entrada da próxima.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Routing: classifica e manda para o especialista.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Parallelization: divide em partes ou roda várias vezes e vota.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Orchestrator-workers: um LLM divide o trabalho e junta os resultados.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Evaluator-optimizer: um gera, outro avalia, repete até passar. É o padrão do G5 e também o que o validador faz com o deck.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3fbb6d2f701_0_1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7" name="Google Shape;1757;g3fbb6d2f701_0_1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13:09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Catálogo da AWS Prescriptive Guidance (Agentic AI patterns and workflows on AWS).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Seis padrões de agente. Voice e coding não entram hoje, mas valem citar.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Cada caso do workshop cai num padrão diferente (próximos slides).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3fbb6d2f701_0_1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3" name="Google Shape;1793;g3fbb6d2f701_0_1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13:11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ReAct: Yao et al., ICLR 2023, arXiv 2210.03629.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Em ALFWorld e WebShop, ReAct superou imitação e reforço por 34 e 10 pontos de sucesso absoluto.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 plano de arquitetura, o loop aparece como custo (quantas chamadas) e como risco (quando parar).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Pergunta que o tribunal vai fazer: qual o limite de passos do agente?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3fbb6d2f701_0_1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6" name="Google Shape;1816;g3fbb6d2f701_0_1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13:12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Peças que aparecem nos planos. Não precisa usar todas.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Amazon Bedrock: modelos. Knowledge Bases: RAG gerenciado.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AgentCore: Runtime roda o agente; Memory guarda contexto; Gateway transforma APIs em tools MCP; Observability mostra traces.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Step Functions e EventBridge para workflows e eventos.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3fbb6d2f701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2" name="Google Shape;1852;g3fbb6d2f701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13:14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Cada caso sorteado de manhã recebe um padrão diferente. Assim o tribunal compara arquiteturas distintas.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As peças são sugestão. O pesquisador confirma cada serviço no AWS Knowledge MCP e o grupo pode trocar, desde que justifique.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G1 RAG; G2 eventos; G3 agente com ferramentas; G4 multiagente; G5 avaliador e otimizador.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g3fbb6d2f701_0_1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8" name="Google Shape;1878;g3fbb6d2f701_0_1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13:16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Seis perguntas. Viram os slides do deck da defesa.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Governança é obrigatória: dados de alunos, segredos, quem acessa o quê.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Custo e métrica: como o grupo sabe que funciona e quanto custa por pergunta.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3fbb6d2f701_0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8" name="Google Shape;1908;g3fbb6d2f701_0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13:17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Diagrama gerado com o renderizador da manhã, ícones oficiais.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1. O aluno pergunta pela API.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2. Cognito autentica.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3. A API chama o agente no AgentCore Runtime.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4. O agente busca trechos das apostilas na Knowledge Base.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5. O Bedrock gera a resposta com as fontes.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 seta tracejada é a ingestão das apostilas do S3 para o índice vetorial.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Pacote de ícones de 2025 não tem ícone do AgentCore: usamos o ícone geral dentro do grupo.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3fbb6d2f701_0_1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0" name="Google Shape;1930;g3fbb6d2f701_0_1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13:18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13 slides em 17 min. Objetivo: cada grupo sai sabendo o que escrever na spec do gerador e do validador.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3fbb6d2f701_0_1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6" name="Google Shape;1936;g3fbb6d2f701_0_1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13:18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AutoPresent (Ge et al., 2025, arXiv 2501.00912): SlidesBench com 7 mil exemplos de treino e 585 de teste, de 310 decks em 10 domínios.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Conclusão dos autores: métodos que geram programa (código de slides) produzem slides de mais qualidade e editáveis.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Um modelo de 8B treinado em instrução e código chegou perto do GPT-4o.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PPTAgent (Zheng et al., 2025, arXiv 2501.03936): avalia conteúdo, design e coerência (PPTEval). Usamos os três eixos na revisão cruzada.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3fbb6d2f701_0_1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7" name="Google Shape;1967;g3fbb6d2f701_0_1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13:20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Pedir o PPT inteiro para a IA a cada vez: visual diferente em cada execução, difícil de revisar.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Separar: a IA escreve conteúdo num YAML; um script determinístico aplica o padrão.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É a mesma lógica da manhã: a IA escrevia o YAML da arquitetura; o renderizador desenhava.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 documentação do Kiro recomenda scripts nas skills para tarefas determinísticas.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3fbb6d2f701_0_2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4" name="Google Shape;2004;g3fbb6d2f701_0_2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13:22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Tokens: as decisões básicas (cor, fonte, tamanho, espaçamento).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Estilos: combinações de tokens (título, corpo, rótulo).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Componentes: peças prontas (card, pill, destaque).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Layouts: os tipos de slide que o gerador sabe montar.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Cada grupo cria o seu. Mudou um token, muda o deck inteiro.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3fbb6d2f701_0_2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1" name="Google Shape;2031;g3fbb6d2f701_0_2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13:27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Área segura: margem fixa em volta. Nada encosta na borda.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Faixa do título sempre no mesmo lugar: o olho acha o título sem procurar.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validador confere se cada caixa e imagem cabem na área segura.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Regra do workshop: no máximo 6 bullets por slide e 90 caracteres por bullet.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3fbb6d2f701_0_2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2" name="Google Shape;2062;g3fbb6d2f701_0_2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13:28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gerador de cada grupo precisa saber montar estes 6 tipos.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Um tipo por task na spec. Se faltar tempo, os 4 essenciais: capa, conteúdo, diagrama e fechamento.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visual de cada tipo é do grupo: cor, fonte, onde fica o título.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3fbb6d2f701_0_2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2" name="Google Shape;2092;g3fbb6d2f701_0_2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13:29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Duas entradas: deck.yaml (conteúdo, escrito com a IA) e tokens.json (padrão, escrito pelo guardião).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Primeiro valida, depois gera. Se o validador acusa erro, não sai PPTX.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hook roda tudo ao salvar o deck.yaml. A skill ensina o Kiro a usar.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3fbb6d2f701_0_2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2" name="Google Shape;2132;g3fbb6d2f701_0_2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13:35 a 13:50 (15 min). Depois, estudo no AWS Academy e Sprint 1.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3fbb6d2f701_0_2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8" name="Google Shape;2138;g3fbb6d2f701_0_2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13:35 a 13:50 (15 min, em grupo)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Guardião: tokens.json e steering design-system.md com inclusion fileMatch em slides/**.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Dev do validador: spec validador-design (Specs &gt; +), requisitos do slide anterior.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Dev do gerador: spec gerador-slides com os 6 tipos, um por task.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Pesquisador: confirma no MCP as peças do padrão do caso.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Relator: esqueleto do deck.yaml com as 6 perguntas do plano.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3fbb6d2f701_0_2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6" name="Google Shape;2166;g3fbb6d2f701_0_2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13:50 a 14:10 (20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Instrutor circula conferindo tokens.json e specs de cada grupo.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g3fbb6d2f701_0_2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7" name="Google Shape;2177;g3fbb6d2f701_0_2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Início do estudo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Tópico: Amazon Bedrock e agentes.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Conferir no LMS os nomes exatos dos módulos antes do evento.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que for anotado entra no slide de padrão escolhido ou de governança do deck.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3fbb6d2f701_0_2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6" name="Google Shape;2216;g3fbb6d2f701_0_2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14:10 a 15:15 (65 min, em grupo)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Checkpoint às 14h45.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Dev do gerador roda as tasks uma a uma, testando cada tipo com o deck.yaml de exemplo.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Dev do validador escreve os testes antes de ligar o hook.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Pesquisador e relator geram o diagrama do plano com a skill gerador-arquitetura da manhã.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Guardião escreve a skill gerador-slides e cria o hook.</a:t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3fbb6d2f701_0_2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4" name="Google Shape;2244;g3fbb6d2f701_0_2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Durante o Sprint 1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Fonte trocada: a fonte não está instalada. Usar uma da lista do lab.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Imagem esticada: calcular a altura a partir da largura e da proporção do PNG.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Texto saindo da caixa: o validador precisa barrar antes. Reduzir o texto no YAML, não a fonte.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pip bloqueado: pedir ao instrutor o pacote offline do python-pptx.</a:t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g3fbb6d2f701_0_2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8" name="Google Shape;2278;g3fbb6d2f701_0_2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14:45 (5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Instrutor passa em cada grupo com esta lista.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Grupo sem os 4 itens: reduzir para 4 tipos de slide (capa, conteúdo, diagrama, fechamento).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Grupo adiantado: desafio extra de um tema escuro só trocando tokens.json.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g3fbb6d2f701_0_2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0" name="Google Shape;2300;g3fbb6d2f701_0_2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15:15 a 15:35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Deixar projetado durante o intervalo.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Monitor confere grupos que falharam no checkpoint.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g3fbb6d2f701_0_2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1" name="Google Shape;2311;g3fbb6d2f701_0_2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15:35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Regras em 5 min, depois Sprint 2.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g3fbb6d2f701_0_2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7" name="Google Shape;2317;g3fbb6d2f701_0_2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Regras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Pares em ciclo: G1 defende e G2 ataca, e assim por diante, até G5 defender e G1 atacar.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Todo grupo defende uma vez e ataca uma vez.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grupo atacante também faz a revisão cruzada de design no Sprint 2.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g3fbb6d2f701_0_2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4" name="Google Shape;2344;g3fbb6d2f701_0_2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Regras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Defesa: 4 min com o deck gerado pelo gerador do grupo. No último minuto, geração ao vivo: muda uma linha do YAML e o deck sai de novo.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Ataque: 4 min, com uma carta de pilar e uma carta de design.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Veredito: 1 min para o instrutor anotar a rubrica.</a:t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g3fbb6d2f701_0_2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7" name="Google Shape;2387;g3fbb6d2f701_0_2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Regras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Os slides respondem as 6 perguntas do plano.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Tudo sai do gerador do grupo, no padrão do grupo.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Ajuste manual no PPTX não vale: ajuste pelo YAML ou pelos tokens.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g3fbb6d2f701_0_2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7" name="Google Shape;2417;g3fbb6d2f701_0_2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Regras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grupo atacante sorteia uma carta de pilar (Well-Architected) e uma carta de design.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Pilares: excelência operacional, segurança, confiabilidade, eficiência de performance, custos e sustentabilidade.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Design: usa os três eixos do PPTEval (conteúdo, design, coerência) e o contraste.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Critique a ideia, nunca a pessoa.</a:t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g3fbb6d2f701_0_26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9" name="Google Shape;2459;g3fbb6d2f701_0_2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Regras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Rubrica de 100 pontos. Plano, gerador e defesa pesam mais.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Qualidade do ataque vale 10: atacar bem também pontua.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Bônus: +10 geração ao vivo no tribunal; +5 teste automático de contraste; +5 deck aprovado na revisão cruzada sem ajuste.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g3fbb6d2f701_0_2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8" name="Google Shape;2478;g3fbb6d2f701_0_2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15:40 a 16:10 (30 min, em grupo)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Relator fecha o deck.yaml e gera o deck pela skill.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15:50: revisão cruzada. O grupo atacante confere o deck do grupo defensor com o checklist (8 min).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Ajustes só pelo YAML ou pelos tokens.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Push até 16h05.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g3fbb6d2f701_0_2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6" name="Google Shape;2506;g3fbb6d2f701_0_2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15:50 (8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guardião do grupo atacante confere o deck do grupo defensor.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Checklist inspirado nos eixos do PPTEval: conteúdo, design e coerência.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defensor corrige pelo YAML ou pelos tokens e gera de novo.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Deck aprovado sem ajuste ganha +5.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g3fbb6d2f701_0_2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6" name="Google Shape;2536;g3fbb6d2f701_0_2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Durante o Sprint 2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Tempo sugerido por slide: 3 minutos para os 6 slides e 1 minuto de geração ao vivo.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Padrão e arquitetura levam mais tempo: é o que o grupo precisa explicar.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Geração ao vivo: trocar uma linha do deck.yaml, salvar, o hook gera o deck novo.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g3fbb6d2f701_0_2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2" name="Google Shape;2582;g3fbb6d2f701_0_2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16:10 a 16:55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5 rodadas de 9 minutos, sem intervalo entre elas.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Cronômetro projetado. Ao fim dos 4 min de defesa, entram as cartas sorteadas.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grupo que acabou de ser atacado ataca na rodada seguinte.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9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g3fbb6d2f701_0_2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1" name="Google Shape;2631;g3fbb6d2f701_0_2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Antes da rodada 1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Ataque bom é específico e verificável.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Pedir a fonte transforma opinião em evidência.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 design, pedir o número: qual a razão de contraste daquele texto?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Uma pergunta por vez: dá tempo de o grupo responder.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g3fbb6d2f701_0_27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3" name="Google Shape;2653;g3fbb6d2f701_0_2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16:55 (2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Nota final: 60% instrutor pela rubrica e 40% voto dos grupos.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Cada grupo distribui 3 pontos entre os outros 4 e não vota em si.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Reconhecimento: post no LinkedIn do SENAI com o deck e o repositório do grupo vencedor, com autorização dos integrantes.</a:t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7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g3fbb6d2f701_0_2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9" name="Google Shape;2679;g3fbb6d2f701_0_2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16:58 (1 min)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Quatro coisas prontas para usar com alunos, todas no repositório do grupo.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gerador de slides serve para montar aula no padrão da escola: basta trocar os tokens.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O validador vira critério objetivo para avaliar apresentações de alunos.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g3fbb6d2f701_0_2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3" name="Google Shape;2713;g3fbb6d2f701_0_2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Para depois do workshop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Tema escuro: um segundo tokens.json, mesmo gerador.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Mais tipos de slide: tabela, gráfico, código.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Tokens no formato W3C 2025.10 para usar em outras ferramentas.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Quando houver conta AWS: o plano do grupo vira agente de verdade (caminhos A e B).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8" name="Shape 2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9" name="Google Shape;2749;g3f8f675b6f6_2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0" name="Google Shape;2750;g3f8f675b6f6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https://forms.gle/mcZ7Dxgp6BkX7Nz8A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g3fbb6d2f701_0_2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7" name="Google Shape;2757;g3fbb6d2f701_0_2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Datas, planos e números conferidos em 16/09/2026.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Planos, créditos e limites do MCP mudam: reconferir na semana do evento.</a:t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5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" name="Google Shape;2766;g3fbb6d2f701_0_2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7" name="Google Shape;2767;g3fbb6d2f701_0_2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• Conferido em 20/09/2026. Reconferir versão do python-pptx e skills no Kiro Free na semana do evento.</a:t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g3fbb6d2f701_0_2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7" name="Google Shape;2777;g3fbb6d2f701_0_2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Encerramento do dia. Certificados ao fim do 5º dia, pelo SENAI.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ção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1527900" y="15768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Lexend"/>
              <a:buNone/>
              <a:defRPr b="1" sz="35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just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2500"/>
              <a:buFont typeface="Lexend"/>
              <a:buNone/>
              <a:defRPr b="1" sz="2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24000" y="1344100"/>
            <a:ext cx="84738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1500"/>
              <a:buFont typeface="Lexend"/>
              <a:buNone/>
              <a:defRPr sz="1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Extra da Apresentação">
  <p:cSld name="CUSTOM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/>
          <p:cNvPicPr preferRelativeResize="0"/>
          <p:nvPr/>
        </p:nvPicPr>
        <p:blipFill rotWithShape="1">
          <a:blip r:embed="rId3">
            <a:alphaModFix/>
          </a:blip>
          <a:srcRect b="43071" l="20157" r="47629" t="42274"/>
          <a:stretch/>
        </p:blipFill>
        <p:spPr>
          <a:xfrm>
            <a:off x="3063175" y="2183425"/>
            <a:ext cx="3017650" cy="7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bra de Tema">
  <p:cSld name="CUSTOM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>
            <p:ph type="title"/>
          </p:nvPr>
        </p:nvSpPr>
        <p:spPr>
          <a:xfrm>
            <a:off x="1288200" y="2002350"/>
            <a:ext cx="6567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Lexend"/>
              <a:buNone/>
              <a:defRPr b="1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urso Extra">
  <p:cSld name="CUSTOM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193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type="title"/>
          </p:nvPr>
        </p:nvSpPr>
        <p:spPr>
          <a:xfrm>
            <a:off x="1527900" y="21337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Lexend"/>
              <a:buNone/>
              <a:defRPr b="1" sz="25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41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Relationship Id="rId8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Relationship Id="rId4" Type="http://schemas.openxmlformats.org/officeDocument/2006/relationships/image" Target="../media/image17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5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Relationship Id="rId4" Type="http://schemas.openxmlformats.org/officeDocument/2006/relationships/image" Target="../media/image60.png"/><Relationship Id="rId5" Type="http://schemas.openxmlformats.org/officeDocument/2006/relationships/image" Target="../media/image55.png"/><Relationship Id="rId6" Type="http://schemas.openxmlformats.org/officeDocument/2006/relationships/image" Target="../media/image28.png"/><Relationship Id="rId7" Type="http://schemas.openxmlformats.org/officeDocument/2006/relationships/image" Target="../media/image58.png"/><Relationship Id="rId8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Relationship Id="rId4" Type="http://schemas.openxmlformats.org/officeDocument/2006/relationships/image" Target="../media/image62.png"/><Relationship Id="rId5" Type="http://schemas.openxmlformats.org/officeDocument/2006/relationships/image" Target="../media/image52.png"/><Relationship Id="rId6" Type="http://schemas.openxmlformats.org/officeDocument/2006/relationships/image" Target="../media/image59.png"/><Relationship Id="rId7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7.png"/><Relationship Id="rId4" Type="http://schemas.openxmlformats.org/officeDocument/2006/relationships/image" Target="../media/image49.png"/><Relationship Id="rId5" Type="http://schemas.openxmlformats.org/officeDocument/2006/relationships/image" Target="../media/image7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Relationship Id="rId4" Type="http://schemas.openxmlformats.org/officeDocument/2006/relationships/image" Target="../media/image65.png"/><Relationship Id="rId5" Type="http://schemas.openxmlformats.org/officeDocument/2006/relationships/image" Target="../media/image64.png"/><Relationship Id="rId6" Type="http://schemas.openxmlformats.org/officeDocument/2006/relationships/image" Target="../media/image8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6.png"/><Relationship Id="rId4" Type="http://schemas.openxmlformats.org/officeDocument/2006/relationships/image" Target="../media/image46.png"/><Relationship Id="rId5" Type="http://schemas.openxmlformats.org/officeDocument/2006/relationships/image" Target="../media/image63.png"/><Relationship Id="rId6" Type="http://schemas.openxmlformats.org/officeDocument/2006/relationships/image" Target="../media/image54.png"/><Relationship Id="rId7" Type="http://schemas.openxmlformats.org/officeDocument/2006/relationships/image" Target="../media/image75.png"/><Relationship Id="rId8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0.png"/><Relationship Id="rId4" Type="http://schemas.openxmlformats.org/officeDocument/2006/relationships/image" Target="../media/image81.png"/><Relationship Id="rId5" Type="http://schemas.openxmlformats.org/officeDocument/2006/relationships/image" Target="../media/image68.png"/><Relationship Id="rId6" Type="http://schemas.openxmlformats.org/officeDocument/2006/relationships/image" Target="../media/image7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7.png"/><Relationship Id="rId4" Type="http://schemas.openxmlformats.org/officeDocument/2006/relationships/image" Target="../media/image20.png"/><Relationship Id="rId5" Type="http://schemas.openxmlformats.org/officeDocument/2006/relationships/image" Target="../media/image76.png"/><Relationship Id="rId6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7.png"/><Relationship Id="rId4" Type="http://schemas.openxmlformats.org/officeDocument/2006/relationships/image" Target="../media/image17.png"/><Relationship Id="rId5" Type="http://schemas.openxmlformats.org/officeDocument/2006/relationships/image" Target="../media/image74.png"/><Relationship Id="rId6" Type="http://schemas.openxmlformats.org/officeDocument/2006/relationships/image" Target="../media/image71.png"/><Relationship Id="rId7" Type="http://schemas.openxmlformats.org/officeDocument/2006/relationships/image" Target="../media/image8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8.png"/><Relationship Id="rId4" Type="http://schemas.openxmlformats.org/officeDocument/2006/relationships/image" Target="../media/image22.png"/><Relationship Id="rId5" Type="http://schemas.openxmlformats.org/officeDocument/2006/relationships/image" Target="../media/image86.png"/><Relationship Id="rId6" Type="http://schemas.openxmlformats.org/officeDocument/2006/relationships/image" Target="../media/image88.png"/><Relationship Id="rId7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Relationship Id="rId4" Type="http://schemas.openxmlformats.org/officeDocument/2006/relationships/image" Target="../media/image73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1.png"/><Relationship Id="rId4" Type="http://schemas.openxmlformats.org/officeDocument/2006/relationships/image" Target="../media/image96.png"/><Relationship Id="rId5" Type="http://schemas.openxmlformats.org/officeDocument/2006/relationships/image" Target="../media/image32.png"/><Relationship Id="rId6" Type="http://schemas.openxmlformats.org/officeDocument/2006/relationships/image" Target="../media/image9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5.png"/><Relationship Id="rId4" Type="http://schemas.openxmlformats.org/officeDocument/2006/relationships/image" Target="../media/image81.png"/><Relationship Id="rId5" Type="http://schemas.openxmlformats.org/officeDocument/2006/relationships/image" Target="../media/image92.png"/><Relationship Id="rId6" Type="http://schemas.openxmlformats.org/officeDocument/2006/relationships/image" Target="../media/image9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9.png"/><Relationship Id="rId4" Type="http://schemas.openxmlformats.org/officeDocument/2006/relationships/image" Target="../media/image98.png"/><Relationship Id="rId5" Type="http://schemas.openxmlformats.org/officeDocument/2006/relationships/image" Target="../media/image26.png"/><Relationship Id="rId6" Type="http://schemas.openxmlformats.org/officeDocument/2006/relationships/image" Target="../media/image9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Relationship Id="rId4" Type="http://schemas.openxmlformats.org/officeDocument/2006/relationships/image" Target="../media/image90.png"/><Relationship Id="rId5" Type="http://schemas.openxmlformats.org/officeDocument/2006/relationships/image" Target="../media/image93.png"/><Relationship Id="rId6" Type="http://schemas.openxmlformats.org/officeDocument/2006/relationships/image" Target="../media/image83.png"/><Relationship Id="rId7" Type="http://schemas.openxmlformats.org/officeDocument/2006/relationships/image" Target="../media/image4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9.png"/><Relationship Id="rId4" Type="http://schemas.openxmlformats.org/officeDocument/2006/relationships/image" Target="../media/image101.png"/><Relationship Id="rId5" Type="http://schemas.openxmlformats.org/officeDocument/2006/relationships/image" Target="../media/image104.png"/><Relationship Id="rId6" Type="http://schemas.openxmlformats.org/officeDocument/2006/relationships/image" Target="../media/image10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3.png"/><Relationship Id="rId4" Type="http://schemas.openxmlformats.org/officeDocument/2006/relationships/image" Target="../media/image107.png"/><Relationship Id="rId5" Type="http://schemas.openxmlformats.org/officeDocument/2006/relationships/image" Target="../media/image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0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10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9.png"/><Relationship Id="rId4" Type="http://schemas.openxmlformats.org/officeDocument/2006/relationships/image" Target="../media/image106.png"/><Relationship Id="rId5" Type="http://schemas.openxmlformats.org/officeDocument/2006/relationships/image" Target="../media/image65.png"/><Relationship Id="rId6" Type="http://schemas.openxmlformats.org/officeDocument/2006/relationships/image" Target="../media/image10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2.png"/><Relationship Id="rId4" Type="http://schemas.openxmlformats.org/officeDocument/2006/relationships/image" Target="../media/image127.png"/><Relationship Id="rId5" Type="http://schemas.openxmlformats.org/officeDocument/2006/relationships/image" Target="../media/image11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0.png"/><Relationship Id="rId4" Type="http://schemas.openxmlformats.org/officeDocument/2006/relationships/image" Target="../media/image24.png"/><Relationship Id="rId5" Type="http://schemas.openxmlformats.org/officeDocument/2006/relationships/image" Target="../media/image39.png"/><Relationship Id="rId6" Type="http://schemas.openxmlformats.org/officeDocument/2006/relationships/image" Target="../media/image10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Relationship Id="rId4" Type="http://schemas.openxmlformats.org/officeDocument/2006/relationships/image" Target="../media/image70.png"/><Relationship Id="rId5" Type="http://schemas.openxmlformats.org/officeDocument/2006/relationships/image" Target="../media/image92.png"/><Relationship Id="rId6" Type="http://schemas.openxmlformats.org/officeDocument/2006/relationships/image" Target="../media/image6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6.png"/><Relationship Id="rId4" Type="http://schemas.openxmlformats.org/officeDocument/2006/relationships/image" Target="../media/image111.png"/><Relationship Id="rId5" Type="http://schemas.openxmlformats.org/officeDocument/2006/relationships/image" Target="../media/image126.png"/><Relationship Id="rId6" Type="http://schemas.openxmlformats.org/officeDocument/2006/relationships/image" Target="../media/image2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3.png"/><Relationship Id="rId4" Type="http://schemas.openxmlformats.org/officeDocument/2006/relationships/image" Target="../media/image109.png"/><Relationship Id="rId5" Type="http://schemas.openxmlformats.org/officeDocument/2006/relationships/image" Target="../media/image114.png"/><Relationship Id="rId6" Type="http://schemas.openxmlformats.org/officeDocument/2006/relationships/image" Target="../media/image11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26.png"/><Relationship Id="rId4" Type="http://schemas.openxmlformats.org/officeDocument/2006/relationships/image" Target="../media/image3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5.png"/><Relationship Id="rId4" Type="http://schemas.openxmlformats.org/officeDocument/2006/relationships/image" Target="../media/image17.png"/><Relationship Id="rId5" Type="http://schemas.openxmlformats.org/officeDocument/2006/relationships/image" Target="../media/image32.png"/><Relationship Id="rId6" Type="http://schemas.openxmlformats.org/officeDocument/2006/relationships/image" Target="../media/image81.png"/><Relationship Id="rId7" Type="http://schemas.openxmlformats.org/officeDocument/2006/relationships/image" Target="../media/image19.png"/><Relationship Id="rId8" Type="http://schemas.openxmlformats.org/officeDocument/2006/relationships/image" Target="../media/image11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4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16.png"/><Relationship Id="rId4" Type="http://schemas.openxmlformats.org/officeDocument/2006/relationships/image" Target="../media/image21.png"/><Relationship Id="rId5" Type="http://schemas.openxmlformats.org/officeDocument/2006/relationships/image" Target="../media/image12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Relationship Id="rId4" Type="http://schemas.openxmlformats.org/officeDocument/2006/relationships/image" Target="../media/image154.png"/><Relationship Id="rId5" Type="http://schemas.openxmlformats.org/officeDocument/2006/relationships/image" Target="../media/image73.png"/><Relationship Id="rId6" Type="http://schemas.openxmlformats.org/officeDocument/2006/relationships/image" Target="../media/image3.png"/><Relationship Id="rId7" Type="http://schemas.openxmlformats.org/officeDocument/2006/relationships/image" Target="../media/image122.png"/><Relationship Id="rId8" Type="http://schemas.openxmlformats.org/officeDocument/2006/relationships/image" Target="../media/image2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6.png"/><Relationship Id="rId4" Type="http://schemas.openxmlformats.org/officeDocument/2006/relationships/image" Target="../media/image22.png"/><Relationship Id="rId5" Type="http://schemas.openxmlformats.org/officeDocument/2006/relationships/image" Target="../media/image118.png"/><Relationship Id="rId6" Type="http://schemas.openxmlformats.org/officeDocument/2006/relationships/image" Target="../media/image105.png"/><Relationship Id="rId7" Type="http://schemas.openxmlformats.org/officeDocument/2006/relationships/image" Target="../media/image116.png"/><Relationship Id="rId8" Type="http://schemas.openxmlformats.org/officeDocument/2006/relationships/image" Target="../media/image5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6.png"/><Relationship Id="rId4" Type="http://schemas.openxmlformats.org/officeDocument/2006/relationships/image" Target="../media/image22.png"/><Relationship Id="rId5" Type="http://schemas.openxmlformats.org/officeDocument/2006/relationships/image" Target="../media/image120.png"/><Relationship Id="rId6" Type="http://schemas.openxmlformats.org/officeDocument/2006/relationships/image" Target="../media/image24.png"/><Relationship Id="rId7" Type="http://schemas.openxmlformats.org/officeDocument/2006/relationships/image" Target="../media/image75.png"/><Relationship Id="rId8" Type="http://schemas.openxmlformats.org/officeDocument/2006/relationships/image" Target="../media/image11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73.png"/><Relationship Id="rId4" Type="http://schemas.openxmlformats.org/officeDocument/2006/relationships/image" Target="../media/image12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4.png"/><Relationship Id="rId4" Type="http://schemas.openxmlformats.org/officeDocument/2006/relationships/image" Target="../media/image173.png"/><Relationship Id="rId5" Type="http://schemas.openxmlformats.org/officeDocument/2006/relationships/image" Target="../media/image11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25.png"/><Relationship Id="rId4" Type="http://schemas.openxmlformats.org/officeDocument/2006/relationships/image" Target="../media/image128.png"/><Relationship Id="rId5" Type="http://schemas.openxmlformats.org/officeDocument/2006/relationships/image" Target="../media/image141.png"/><Relationship Id="rId6" Type="http://schemas.openxmlformats.org/officeDocument/2006/relationships/image" Target="../media/image12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33.png"/><Relationship Id="rId4" Type="http://schemas.openxmlformats.org/officeDocument/2006/relationships/image" Target="../media/image139.png"/><Relationship Id="rId5" Type="http://schemas.openxmlformats.org/officeDocument/2006/relationships/image" Target="../media/image130.png"/><Relationship Id="rId6" Type="http://schemas.openxmlformats.org/officeDocument/2006/relationships/image" Target="../media/image13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31.png"/><Relationship Id="rId4" Type="http://schemas.openxmlformats.org/officeDocument/2006/relationships/image" Target="../media/image140.png"/><Relationship Id="rId5" Type="http://schemas.openxmlformats.org/officeDocument/2006/relationships/image" Target="../media/image138.png"/><Relationship Id="rId6" Type="http://schemas.openxmlformats.org/officeDocument/2006/relationships/image" Target="../media/image143.png"/><Relationship Id="rId7" Type="http://schemas.openxmlformats.org/officeDocument/2006/relationships/image" Target="../media/image132.png"/><Relationship Id="rId8" Type="http://schemas.openxmlformats.org/officeDocument/2006/relationships/image" Target="../media/image13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5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8.png"/><Relationship Id="rId4" Type="http://schemas.openxmlformats.org/officeDocument/2006/relationships/image" Target="../media/image22.png"/><Relationship Id="rId5" Type="http://schemas.openxmlformats.org/officeDocument/2006/relationships/image" Target="../media/image86.png"/><Relationship Id="rId6" Type="http://schemas.openxmlformats.org/officeDocument/2006/relationships/image" Target="../media/image88.png"/><Relationship Id="rId7" Type="http://schemas.openxmlformats.org/officeDocument/2006/relationships/image" Target="../media/image4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28.png"/><Relationship Id="rId4" Type="http://schemas.openxmlformats.org/officeDocument/2006/relationships/image" Target="../media/image103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7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6.png"/><Relationship Id="rId4" Type="http://schemas.openxmlformats.org/officeDocument/2006/relationships/image" Target="../media/image111.png"/><Relationship Id="rId5" Type="http://schemas.openxmlformats.org/officeDocument/2006/relationships/image" Target="../media/image126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2.png"/><Relationship Id="rId10" Type="http://schemas.openxmlformats.org/officeDocument/2006/relationships/image" Target="../media/image155.png"/><Relationship Id="rId13" Type="http://schemas.openxmlformats.org/officeDocument/2006/relationships/image" Target="../media/image151.png"/><Relationship Id="rId1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2.png"/><Relationship Id="rId4" Type="http://schemas.openxmlformats.org/officeDocument/2006/relationships/image" Target="../media/image150.png"/><Relationship Id="rId9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4.png"/><Relationship Id="rId7" Type="http://schemas.openxmlformats.org/officeDocument/2006/relationships/image" Target="../media/image142.png"/><Relationship Id="rId8" Type="http://schemas.openxmlformats.org/officeDocument/2006/relationships/image" Target="../media/image15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60.png"/><Relationship Id="rId4" Type="http://schemas.openxmlformats.org/officeDocument/2006/relationships/image" Target="../media/image148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49.png"/><Relationship Id="rId4" Type="http://schemas.openxmlformats.org/officeDocument/2006/relationships/image" Target="../media/image157.png"/><Relationship Id="rId9" Type="http://schemas.openxmlformats.org/officeDocument/2006/relationships/image" Target="../media/image100.png"/><Relationship Id="rId5" Type="http://schemas.openxmlformats.org/officeDocument/2006/relationships/image" Target="../media/image161.png"/><Relationship Id="rId6" Type="http://schemas.openxmlformats.org/officeDocument/2006/relationships/image" Target="../media/image165.png"/><Relationship Id="rId7" Type="http://schemas.openxmlformats.org/officeDocument/2006/relationships/image" Target="../media/image158.png"/><Relationship Id="rId8" Type="http://schemas.openxmlformats.org/officeDocument/2006/relationships/image" Target="../media/image156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3.png"/><Relationship Id="rId4" Type="http://schemas.openxmlformats.org/officeDocument/2006/relationships/image" Target="../media/image163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59.png"/><Relationship Id="rId4" Type="http://schemas.openxmlformats.org/officeDocument/2006/relationships/image" Target="../media/image164.png"/><Relationship Id="rId5" Type="http://schemas.openxmlformats.org/officeDocument/2006/relationships/image" Target="../media/image166.png"/><Relationship Id="rId6" Type="http://schemas.openxmlformats.org/officeDocument/2006/relationships/image" Target="../media/image162.png"/><Relationship Id="rId7" Type="http://schemas.openxmlformats.org/officeDocument/2006/relationships/image" Target="../media/image169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6.png"/><Relationship Id="rId4" Type="http://schemas.openxmlformats.org/officeDocument/2006/relationships/image" Target="../media/image87.png"/><Relationship Id="rId5" Type="http://schemas.openxmlformats.org/officeDocument/2006/relationships/image" Target="../media/image103.png"/><Relationship Id="rId6" Type="http://schemas.openxmlformats.org/officeDocument/2006/relationships/image" Target="../media/image123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71.png"/><Relationship Id="rId4" Type="http://schemas.openxmlformats.org/officeDocument/2006/relationships/image" Target="../media/image167.png"/><Relationship Id="rId5" Type="http://schemas.openxmlformats.org/officeDocument/2006/relationships/image" Target="../media/image172.png"/><Relationship Id="rId6" Type="http://schemas.openxmlformats.org/officeDocument/2006/relationships/image" Target="../media/image170.png"/><Relationship Id="rId7" Type="http://schemas.openxmlformats.org/officeDocument/2006/relationships/image" Target="../media/image117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68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731520" y="1783080"/>
            <a:ext cx="7680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pt-BR" sz="3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KIRO E AGENTES NA AWS</a:t>
            </a:r>
            <a:endParaRPr/>
          </a:p>
        </p:txBody>
      </p:sp>
      <p:sp>
        <p:nvSpPr>
          <p:cNvPr id="32" name="Google Shape;32;p8"/>
          <p:cNvSpPr txBox="1"/>
          <p:nvPr/>
        </p:nvSpPr>
        <p:spPr>
          <a:xfrm>
            <a:off x="731520" y="256032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 manhã, um gerador de arquiteturas. À tarde, um gerador de slides</a:t>
            </a:r>
            <a:endParaRPr/>
          </a:p>
        </p:txBody>
      </p:sp>
      <p:sp>
        <p:nvSpPr>
          <p:cNvPr id="33" name="Google Shape;33;p8"/>
          <p:cNvSpPr txBox="1"/>
          <p:nvPr/>
        </p:nvSpPr>
        <p:spPr>
          <a:xfrm>
            <a:off x="731520" y="3017520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Felipe Oliveira  ·  Capacitação de professores SENAI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OLÁ MEU NOME É ...</a:t>
            </a:r>
            <a:endParaRPr/>
          </a:p>
        </p:txBody>
      </p:sp>
      <p:sp>
        <p:nvSpPr>
          <p:cNvPr id="39" name="Google Shape;39;p9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Vamos </a:t>
            </a:r>
            <a:r>
              <a:rPr lang="pt-BR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nos</a:t>
            </a:r>
            <a:r>
              <a:rPr lang="pt-BR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apresentar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 rotWithShape="1">
          <a:blip r:embed="rId3">
            <a:alphaModFix/>
          </a:blip>
          <a:srcRect b="0" l="23920" r="0" t="3920"/>
          <a:stretch/>
        </p:blipFill>
        <p:spPr>
          <a:xfrm>
            <a:off x="375100" y="989600"/>
            <a:ext cx="2659450" cy="3349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 txBox="1"/>
          <p:nvPr/>
        </p:nvSpPr>
        <p:spPr>
          <a:xfrm>
            <a:off x="3737375" y="1080525"/>
            <a:ext cx="47835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50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Engenheiro de IA/ML</a:t>
            </a:r>
            <a:r>
              <a:rPr lang="pt-BR" sz="1150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 há 6 anos, vindo da engenharia civil.</a:t>
            </a:r>
            <a:endParaRPr sz="1150">
              <a:solidFill>
                <a:srgbClr val="3A3A4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A3A4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50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Staff AI Engineer na OLX</a:t>
            </a:r>
            <a:r>
              <a:rPr lang="pt-BR" sz="1150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, liderando a plataforma de IA: gateway com 103 modelos, bilhões de tokens/mês, 2M+ usuários alcançados.</a:t>
            </a:r>
            <a:endParaRPr sz="1150">
              <a:solidFill>
                <a:srgbClr val="3A3A4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A3A4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50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IA agêntica em produção</a:t>
            </a:r>
            <a:r>
              <a:rPr lang="pt-BR" sz="1150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, com integrações via MCP, 19 guardrails e avaliação de ~30 modelos.</a:t>
            </a:r>
            <a:endParaRPr sz="1150">
              <a:solidFill>
                <a:srgbClr val="3A3A4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A3A4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50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5 anos de consultoria</a:t>
            </a:r>
            <a:r>
              <a:rPr lang="pt-BR" sz="1150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 para Globo, Bunge, GAP, Natura, C&amp;A, Unimed e Stone.</a:t>
            </a:r>
            <a:endParaRPr sz="1150">
              <a:solidFill>
                <a:srgbClr val="3A3A4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A3A4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50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Doutor em PLN pela UFRJ</a:t>
            </a:r>
            <a:r>
              <a:rPr lang="pt-BR" sz="1150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 e instrutor de IA aplicada no SENAI SC.</a:t>
            </a:r>
            <a:endParaRPr sz="1150">
              <a:solidFill>
                <a:srgbClr val="3A3A4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ANTES DE COMEÇAR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DIA EM UM SLIDE</a:t>
            </a:r>
            <a:endParaRPr/>
          </a:p>
        </p:txBody>
      </p:sp>
      <p:sp>
        <p:nvSpPr>
          <p:cNvPr id="57" name="Google Shape;57;p12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58" name="Google Shape;58;p12"/>
          <p:cNvSpPr/>
          <p:nvPr/>
        </p:nvSpPr>
        <p:spPr>
          <a:xfrm>
            <a:off x="323697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506577" y="1344168"/>
            <a:ext cx="548700" cy="5487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_FFFFFF.png" id="60" name="Google Shape;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64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 txBox="1"/>
          <p:nvPr/>
        </p:nvSpPr>
        <p:spPr>
          <a:xfrm>
            <a:off x="1192377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MANHÃ · 9H ÀS 12H</a:t>
            </a:r>
            <a:endParaRPr/>
          </a:p>
        </p:txBody>
      </p:sp>
      <p:sp>
        <p:nvSpPr>
          <p:cNvPr id="62" name="Google Shape;62;p12"/>
          <p:cNvSpPr txBox="1"/>
          <p:nvPr/>
        </p:nvSpPr>
        <p:spPr>
          <a:xfrm>
            <a:off x="1192377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de arquiteturas</a:t>
            </a:r>
            <a:endParaRPr/>
          </a:p>
        </p:txBody>
      </p:sp>
      <p:sp>
        <p:nvSpPr>
          <p:cNvPr id="63" name="Google Shape;63;p12"/>
          <p:cNvSpPr txBox="1"/>
          <p:nvPr/>
        </p:nvSpPr>
        <p:spPr>
          <a:xfrm>
            <a:off x="598017" y="2148840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09:00</a:t>
            </a:r>
            <a:endParaRPr/>
          </a:p>
        </p:txBody>
      </p:sp>
      <p:sp>
        <p:nvSpPr>
          <p:cNvPr id="64" name="Google Shape;64;p12"/>
          <p:cNvSpPr txBox="1"/>
          <p:nvPr/>
        </p:nvSpPr>
        <p:spPr>
          <a:xfrm>
            <a:off x="2015337" y="2148840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abertura, casos e papéis</a:t>
            </a:r>
            <a:endParaRPr/>
          </a:p>
        </p:txBody>
      </p:sp>
      <p:sp>
        <p:nvSpPr>
          <p:cNvPr id="65" name="Google Shape;65;p12"/>
          <p:cNvSpPr txBox="1"/>
          <p:nvPr/>
        </p:nvSpPr>
        <p:spPr>
          <a:xfrm>
            <a:off x="598017" y="2487168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09:20</a:t>
            </a:r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2015337" y="2487168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código com IA e o Kiro</a:t>
            </a:r>
            <a:endParaRPr/>
          </a:p>
        </p:txBody>
      </p:sp>
      <p:sp>
        <p:nvSpPr>
          <p:cNvPr id="67" name="Google Shape;67;p12"/>
          <p:cNvSpPr txBox="1"/>
          <p:nvPr/>
        </p:nvSpPr>
        <p:spPr>
          <a:xfrm>
            <a:off x="598017" y="2825496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09:50</a:t>
            </a:r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2015337" y="2825496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Hands-on 1</a:t>
            </a:r>
            <a:endParaRPr/>
          </a:p>
        </p:txBody>
      </p:sp>
      <p:sp>
        <p:nvSpPr>
          <p:cNvPr id="69" name="Google Shape;69;p12"/>
          <p:cNvSpPr txBox="1"/>
          <p:nvPr/>
        </p:nvSpPr>
        <p:spPr>
          <a:xfrm>
            <a:off x="598017" y="3163824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10:20</a:t>
            </a:r>
            <a:endParaRPr/>
          </a:p>
        </p:txBody>
      </p:sp>
      <p:sp>
        <p:nvSpPr>
          <p:cNvPr id="70" name="Google Shape;70;p12"/>
          <p:cNvSpPr txBox="1"/>
          <p:nvPr/>
        </p:nvSpPr>
        <p:spPr>
          <a:xfrm>
            <a:off x="2015337" y="3163824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intervalo e AWS Academy 1</a:t>
            </a:r>
            <a:endParaRPr/>
          </a:p>
        </p:txBody>
      </p:sp>
      <p:sp>
        <p:nvSpPr>
          <p:cNvPr id="71" name="Google Shape;71;p12"/>
          <p:cNvSpPr txBox="1"/>
          <p:nvPr/>
        </p:nvSpPr>
        <p:spPr>
          <a:xfrm>
            <a:off x="598017" y="3502152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11:10</a:t>
            </a:r>
            <a:endParaRPr/>
          </a:p>
        </p:txBody>
      </p:sp>
      <p:sp>
        <p:nvSpPr>
          <p:cNvPr id="72" name="Google Shape;72;p12"/>
          <p:cNvSpPr txBox="1"/>
          <p:nvPr/>
        </p:nvSpPr>
        <p:spPr>
          <a:xfrm>
            <a:off x="2015337" y="3502152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Hands-on 2</a:t>
            </a:r>
            <a:endParaRPr/>
          </a:p>
        </p:txBody>
      </p:sp>
      <p:sp>
        <p:nvSpPr>
          <p:cNvPr id="73" name="Google Shape;73;p12"/>
          <p:cNvSpPr txBox="1"/>
          <p:nvPr/>
        </p:nvSpPr>
        <p:spPr>
          <a:xfrm>
            <a:off x="4375404" y="2377439"/>
            <a:ext cx="39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/>
          </a:p>
        </p:txBody>
      </p:sp>
      <p:sp>
        <p:nvSpPr>
          <p:cNvPr id="74" name="Google Shape;74;p12"/>
          <p:cNvSpPr/>
          <p:nvPr/>
        </p:nvSpPr>
        <p:spPr>
          <a:xfrm>
            <a:off x="4768596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/>
          <p:nvPr/>
        </p:nvSpPr>
        <p:spPr>
          <a:xfrm>
            <a:off x="4951476" y="1344168"/>
            <a:ext cx="548700" cy="5487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sentation_FFFFFF.png" id="76" name="Google Shape;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663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2"/>
          <p:cNvSpPr txBox="1"/>
          <p:nvPr/>
        </p:nvSpPr>
        <p:spPr>
          <a:xfrm>
            <a:off x="5637276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TARDE · 13H ÀS 17H</a:t>
            </a:r>
            <a:endParaRPr/>
          </a:p>
        </p:txBody>
      </p:sp>
      <p:sp>
        <p:nvSpPr>
          <p:cNvPr id="78" name="Google Shape;78;p12"/>
          <p:cNvSpPr txBox="1"/>
          <p:nvPr/>
        </p:nvSpPr>
        <p:spPr>
          <a:xfrm>
            <a:off x="5637276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de slides</a:t>
            </a:r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5042916" y="2148840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13:05</a:t>
            </a:r>
            <a:endParaRPr/>
          </a:p>
        </p:txBody>
      </p:sp>
      <p:sp>
        <p:nvSpPr>
          <p:cNvPr id="80" name="Google Shape;80;p12"/>
          <p:cNvSpPr txBox="1"/>
          <p:nvPr/>
        </p:nvSpPr>
        <p:spPr>
          <a:xfrm>
            <a:off x="6460236" y="2148840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arquiteturas de IA e design</a:t>
            </a:r>
            <a:endParaRPr/>
          </a:p>
        </p:txBody>
      </p:sp>
      <p:sp>
        <p:nvSpPr>
          <p:cNvPr id="81" name="Google Shape;81;p12"/>
          <p:cNvSpPr txBox="1"/>
          <p:nvPr/>
        </p:nvSpPr>
        <p:spPr>
          <a:xfrm>
            <a:off x="5042916" y="2487168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13:35</a:t>
            </a:r>
            <a:endParaRPr/>
          </a:p>
        </p:txBody>
      </p:sp>
      <p:sp>
        <p:nvSpPr>
          <p:cNvPr id="82" name="Google Shape;82;p12"/>
          <p:cNvSpPr txBox="1"/>
          <p:nvPr/>
        </p:nvSpPr>
        <p:spPr>
          <a:xfrm>
            <a:off x="6460236" y="2487168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Hands-on 3</a:t>
            </a:r>
            <a:endParaRPr/>
          </a:p>
        </p:txBody>
      </p:sp>
      <p:sp>
        <p:nvSpPr>
          <p:cNvPr id="83" name="Google Shape;83;p12"/>
          <p:cNvSpPr txBox="1"/>
          <p:nvPr/>
        </p:nvSpPr>
        <p:spPr>
          <a:xfrm>
            <a:off x="5042916" y="2825496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13:50</a:t>
            </a:r>
            <a:endParaRPr/>
          </a:p>
        </p:txBody>
      </p:sp>
      <p:sp>
        <p:nvSpPr>
          <p:cNvPr id="84" name="Google Shape;84;p12"/>
          <p:cNvSpPr txBox="1"/>
          <p:nvPr/>
        </p:nvSpPr>
        <p:spPr>
          <a:xfrm>
            <a:off x="6460236" y="2825496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AWS Academy 2</a:t>
            </a:r>
            <a:endParaRPr/>
          </a:p>
        </p:txBody>
      </p:sp>
      <p:sp>
        <p:nvSpPr>
          <p:cNvPr id="85" name="Google Shape;85;p12"/>
          <p:cNvSpPr txBox="1"/>
          <p:nvPr/>
        </p:nvSpPr>
        <p:spPr>
          <a:xfrm>
            <a:off x="5042916" y="3163824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14:10</a:t>
            </a:r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460236" y="3163824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sprints e intervalo</a:t>
            </a:r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5042916" y="3502152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16:10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6460236" y="3502152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tribunal do plano</a:t>
            </a:r>
            <a:endParaRPr/>
          </a:p>
        </p:txBody>
      </p:sp>
      <p:sp>
        <p:nvSpPr>
          <p:cNvPr id="89" name="Google Shape;89;p12"/>
          <p:cNvSpPr/>
          <p:nvPr/>
        </p:nvSpPr>
        <p:spPr>
          <a:xfrm>
            <a:off x="323697" y="4069080"/>
            <a:ext cx="8496600" cy="640200"/>
          </a:xfrm>
          <a:prstGeom prst="roundRect">
            <a:avLst>
              <a:gd fmla="val 2285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506577" y="416052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k_FFFFFF.png" id="91" name="Google Shape;9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733" y="4265676"/>
            <a:ext cx="246887" cy="24688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/>
        </p:nvSpPr>
        <p:spPr>
          <a:xfrm>
            <a:off x="1192377" y="4069080"/>
            <a:ext cx="739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O fio do dia: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diagrama da manhã vira peça central do deck da tarde.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DIA EM UM SLIDE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pic>
        <p:nvPicPr>
          <p:cNvPr descr="tarde-c-rag-crop.png"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400" y="2238721"/>
            <a:ext cx="2937524" cy="106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4">
            <a:alphaModFix/>
          </a:blip>
          <a:srcRect b="0" l="2515" r="0" t="0"/>
          <a:stretch/>
        </p:blipFill>
        <p:spPr>
          <a:xfrm>
            <a:off x="4149588" y="2144971"/>
            <a:ext cx="2111813" cy="124846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121214" y="175870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de arquiteturas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3633000" y="1609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de slides</a:t>
            </a:r>
            <a:endParaRPr/>
          </a:p>
        </p:txBody>
      </p:sp>
      <p:pic>
        <p:nvPicPr>
          <p:cNvPr id="103" name="Google Shape;10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0350" y="2144950"/>
            <a:ext cx="1060950" cy="1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7154375" y="1609125"/>
            <a:ext cx="19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Apresentação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1847952" y="3610643"/>
            <a:ext cx="548700" cy="5487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1</a:t>
            </a:r>
            <a:endParaRPr i="0" sz="1400" u="none" cap="none" strike="noStrike">
              <a:solidFill>
                <a:schemeClr val="lt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4931151" y="3610643"/>
            <a:ext cx="548700" cy="5487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2</a:t>
            </a:r>
            <a:endParaRPr i="0" sz="1400" u="none" cap="none" strike="noStrike">
              <a:solidFill>
                <a:schemeClr val="lt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8014352" y="3656395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3</a:t>
            </a:r>
            <a:endParaRPr i="0" sz="1400" u="none" cap="none" strike="noStrike">
              <a:solidFill>
                <a:schemeClr val="lt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 MANHÃ EM UM SLIDE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323697" y="120700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_0E1D8E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84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1036929" y="120700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OBJETIVO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36929" y="1444752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Construir em grupo um gerador de arquiteturas AWS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323697" y="207568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ck_0E1D8E.png" id="119" name="Google Shape;1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884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1036929" y="207568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DURAÇÃO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36929" y="2313432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9h às 12h, com intervalo e estudo no AWS Academy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323697" y="294436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_0E1D8E.png" id="123" name="Google Shape;12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884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1036929" y="294436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PRÁTICA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036929" y="3182112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Dois hands-on em grupo, cada pessoa com um papel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323697" y="381304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ckage_0E1D8E.png" id="127" name="Google Shape;12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884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1036929" y="3813047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ENTREGÁVEL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36929" y="4050791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Primeiro diagrama do caso no GitHub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5230368" y="1188720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5413248" y="1417320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5413248" y="2148839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grupos</a:t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7098487" y="1188720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7281367" y="1417320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7281367" y="2148839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papéis por grupo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5230368" y="2980944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5413248" y="3209544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5413248" y="3941063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casos sorteados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7098487" y="2980944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7281367" y="3209544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7281367" y="3941063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diagrama por grupo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AGENDA DA MANHÃ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323697" y="118872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488289" y="118872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09:00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164945" y="118872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Abertura, sorteio de casos e papéis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4374489" y="128473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4374489" y="128473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ABERTURA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323697" y="169164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488289" y="169164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09:20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164945" y="169164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Código com IA e a história do Kiro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4374489" y="178765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4374489" y="178765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TEORIA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323697" y="219456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488289" y="219456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09:50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164945" y="219456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Hands-on 1: steering e MCP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4374489" y="229057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4374489" y="229057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PRÁTICA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323697" y="269748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488289" y="269748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10:20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164945" y="269748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Intervalo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4374489" y="279349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374489" y="279349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PARADA</a:t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323697" y="320040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488289" y="320040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10:40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1164945" y="320040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Estudo AWS Academy 1</a:t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4374489" y="329641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4374489" y="329641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ESTUDO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323697" y="370332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488289" y="370332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11:10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1164945" y="370332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Hands-on 2: spec, skill e hooks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4374489" y="379933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374489" y="379933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PRÁTICA</a:t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323697" y="420624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488289" y="420624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11:50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1164945" y="420624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Como ensinar com IA</a:t>
            </a: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4374489" y="430225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4374489" y="430225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DISCUSSÃO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5623560" y="1188720"/>
            <a:ext cx="3196800" cy="3447300"/>
          </a:xfrm>
          <a:prstGeom prst="roundRect">
            <a:avLst>
              <a:gd fmla="val 4576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5852160" y="1417319"/>
            <a:ext cx="640200" cy="640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ckage_FFFFFF.png" id="185" name="Google Shape;1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9378" y="1564538"/>
            <a:ext cx="345643" cy="345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5"/>
          <p:cNvSpPr txBox="1"/>
          <p:nvPr/>
        </p:nvSpPr>
        <p:spPr>
          <a:xfrm>
            <a:off x="5897880" y="2212848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ENTREGÁVEL AO MEIO-DIA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5897880" y="2432304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Primeiro diagrama</a:t>
            </a:r>
            <a:endParaRPr/>
          </a:p>
        </p:txBody>
      </p:sp>
      <p:pic>
        <p:nvPicPr>
          <p:cNvPr descr="CircleCheck_0E1D8E.png" id="188" name="Google Shape;18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29443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5"/>
          <p:cNvSpPr txBox="1"/>
          <p:nvPr/>
        </p:nvSpPr>
        <p:spPr>
          <a:xfrm>
            <a:off x="6227064" y="292608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Steering e guia visual</a:t>
            </a:r>
            <a:endParaRPr/>
          </a:p>
        </p:txBody>
      </p:sp>
      <p:pic>
        <p:nvPicPr>
          <p:cNvPr descr="CircleCheck_0E1D8E.png" id="190" name="Google Shape;19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3346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5"/>
          <p:cNvSpPr txBox="1"/>
          <p:nvPr/>
        </p:nvSpPr>
        <p:spPr>
          <a:xfrm>
            <a:off x="6227064" y="3328416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MCP de docs da AWS</a:t>
            </a:r>
            <a:endParaRPr/>
          </a:p>
        </p:txBody>
      </p:sp>
      <p:pic>
        <p:nvPicPr>
          <p:cNvPr descr="CircleCheck_0E1D8E.png" id="192" name="Google Shape;1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3749039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/>
        </p:nvSpPr>
        <p:spPr>
          <a:xfrm>
            <a:off x="6227064" y="3730752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Validador com spec</a:t>
            </a:r>
            <a:endParaRPr/>
          </a:p>
        </p:txBody>
      </p:sp>
      <p:pic>
        <p:nvPicPr>
          <p:cNvPr descr="CircleCheck_0E1D8E.png" id="194" name="Google Shape;1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41513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5"/>
          <p:cNvSpPr txBox="1"/>
          <p:nvPr/>
        </p:nvSpPr>
        <p:spPr>
          <a:xfrm>
            <a:off x="6227064" y="4133088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Hooks, PNG e GitHub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OBJETIVOS DA MANHÃ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323697" y="118872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598017" y="173964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598017" y="173964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1375257" y="118872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Diferenciar vibe e spec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Saber quando cada abordagem serve.</a:t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4709160" y="118872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4983480" y="173964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4983480" y="173964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5760720" y="118872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Dar contexto ao agente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Steering com o guia visual e MCP de docs.</a:t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323697" y="304038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598017" y="359130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598017" y="359130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1375257" y="304038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Automatizar com o Kiro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Spec, skill e hooks trabalhando juntos.</a:t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4709160" y="304038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4983480" y="359130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4983480" y="359130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5760720" y="304038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Avaliar trabalho com IA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Critérios para usar em sala de aula.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DESAFIO DA MANHÃ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323697" y="1188720"/>
            <a:ext cx="8496600" cy="868800"/>
          </a:xfrm>
          <a:prstGeom prst="roundRect">
            <a:avLst>
              <a:gd fmla="val 14736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323697" y="1188720"/>
            <a:ext cx="822900" cy="868800"/>
          </a:xfrm>
          <a:prstGeom prst="roundRect">
            <a:avLst>
              <a:gd fmla="val 15555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872337" y="1188720"/>
            <a:ext cx="274200" cy="868800"/>
          </a:xfrm>
          <a:prstGeom prst="roundRect">
            <a:avLst>
              <a:gd fmla="val 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323697" y="1188720"/>
            <a:ext cx="822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1375257" y="1325880"/>
            <a:ext cx="7216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Um pedido em português vira um diagrama AWS revisado pelos 6 pilares.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O gerador que cada grupo constrói de manhã</a:t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323697" y="2926080"/>
            <a:ext cx="1772400" cy="567000"/>
          </a:xfrm>
          <a:prstGeom prst="homePlate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506577" y="292608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899038" y="225856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ssageSquare_C96A00.png"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812" y="237634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/>
        </p:nvSpPr>
        <p:spPr>
          <a:xfrm>
            <a:off x="396849" y="365760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Pedido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415137" y="395020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"Quero um RAG para as apostilas"</a:t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2032162" y="2926080"/>
            <a:ext cx="1772400" cy="567000"/>
          </a:xfrm>
          <a:prstGeom prst="chevron">
            <a:avLst>
              <a:gd fmla="val 28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2215042" y="292608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2607503" y="2258568"/>
            <a:ext cx="512100" cy="5121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_C71D81.png" id="238" name="Google Shape;2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5277" y="237634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7"/>
          <p:cNvSpPr txBox="1"/>
          <p:nvPr/>
        </p:nvSpPr>
        <p:spPr>
          <a:xfrm>
            <a:off x="2105314" y="365760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Documentação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2123602" y="395020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AWS Knowledge MCP</a:t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3740627" y="2926080"/>
            <a:ext cx="1772400" cy="567000"/>
          </a:xfrm>
          <a:prstGeom prst="chevron">
            <a:avLst>
              <a:gd fmla="val 28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3923507" y="292608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4315968" y="2258568"/>
            <a:ext cx="512100" cy="5121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Code_85228B.png" id="244" name="Google Shape;2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3742" y="237634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7"/>
          <p:cNvSpPr txBox="1"/>
          <p:nvPr/>
        </p:nvSpPr>
        <p:spPr>
          <a:xfrm>
            <a:off x="3813779" y="365760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YAML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3832067" y="395020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Arquitetura escrita pela skill</a:t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5449092" y="2926080"/>
            <a:ext cx="1772400" cy="567000"/>
          </a:xfrm>
          <a:prstGeom prst="chevron">
            <a:avLst>
              <a:gd fmla="val 28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5631972" y="292608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6024432" y="2258568"/>
            <a:ext cx="512100" cy="5121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0E1D8E.png" id="250" name="Google Shape;25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2207" y="237634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7"/>
          <p:cNvSpPr txBox="1"/>
          <p:nvPr/>
        </p:nvSpPr>
        <p:spPr>
          <a:xfrm>
            <a:off x="5522244" y="365760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Validação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5540532" y="395020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Regras do guia oficial</a:t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7157557" y="2926080"/>
            <a:ext cx="1662600" cy="567000"/>
          </a:xfrm>
          <a:prstGeom prst="chevron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7340437" y="292608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7732897" y="225856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_C96A00.png" id="256" name="Google Shape;25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0672" y="237634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7"/>
          <p:cNvSpPr txBox="1"/>
          <p:nvPr/>
        </p:nvSpPr>
        <p:spPr>
          <a:xfrm>
            <a:off x="7230709" y="365760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Diagrama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7248997" y="395020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PNG com ícones oficiais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OS 5 CASOS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323697" y="1188720"/>
            <a:ext cx="1582200" cy="2697600"/>
          </a:xfrm>
          <a:prstGeom prst="roundRect">
            <a:avLst>
              <a:gd fmla="val 809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831372" y="1408176"/>
            <a:ext cx="567000" cy="5670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okOpen_FFFFFF.png" id="267" name="Google Shape;2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765" y="1538569"/>
            <a:ext cx="306141" cy="3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8"/>
          <p:cNvSpPr txBox="1"/>
          <p:nvPr/>
        </p:nvSpPr>
        <p:spPr>
          <a:xfrm>
            <a:off x="323697" y="2103120"/>
            <a:ext cx="1582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CASO 1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433425" y="2331720"/>
            <a:ext cx="136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Assistente das apostilas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460857" y="2880360"/>
            <a:ext cx="130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RAG que responde dúvidas dos alunos com as apostilas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2052279" y="1188720"/>
            <a:ext cx="1582200" cy="2697600"/>
          </a:xfrm>
          <a:prstGeom prst="roundRect">
            <a:avLst>
              <a:gd fmla="val 809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2559954" y="1408176"/>
            <a:ext cx="567000" cy="5670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pu_FFFFFF.png" id="273" name="Google Shape;2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0347" y="1538569"/>
            <a:ext cx="306141" cy="3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8"/>
          <p:cNvSpPr txBox="1"/>
          <p:nvPr/>
        </p:nvSpPr>
        <p:spPr>
          <a:xfrm>
            <a:off x="2052279" y="2103120"/>
            <a:ext cx="1582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CASO 2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2162007" y="2331720"/>
            <a:ext cx="136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Sensores da oficina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2189439" y="2880360"/>
            <a:ext cx="130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Data lake com leituras das máquinas do laboratório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3780861" y="1188720"/>
            <a:ext cx="1582200" cy="2697600"/>
          </a:xfrm>
          <a:prstGeom prst="roundRect">
            <a:avLst>
              <a:gd fmla="val 809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4288536" y="1408176"/>
            <a:ext cx="567000" cy="5670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endingUp_FFFFFF.png" id="279" name="Google Shape;2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8929" y="1538569"/>
            <a:ext cx="306141" cy="3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/>
        </p:nvSpPr>
        <p:spPr>
          <a:xfrm>
            <a:off x="3780861" y="2103120"/>
            <a:ext cx="1582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CASO 3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3890589" y="2331720"/>
            <a:ext cx="136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Previsão de matrículas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3918021" y="2880360"/>
            <a:ext cx="130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Modelo que prevê a demanda de vagas por curso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5509442" y="1188720"/>
            <a:ext cx="1582200" cy="2697600"/>
          </a:xfrm>
          <a:prstGeom prst="roundRect">
            <a:avLst>
              <a:gd fmla="val 809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6017117" y="1408176"/>
            <a:ext cx="567000" cy="5670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t_FFFFFF.png" id="285" name="Google Shape;2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7511" y="1538569"/>
            <a:ext cx="306141" cy="3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8"/>
          <p:cNvSpPr txBox="1"/>
          <p:nvPr/>
        </p:nvSpPr>
        <p:spPr>
          <a:xfrm>
            <a:off x="5509442" y="2103120"/>
            <a:ext cx="1582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CASO 4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5619170" y="2331720"/>
            <a:ext cx="136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Helpdesk de TI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5646602" y="2880360"/>
            <a:ext cx="130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Agente que abre e responde chamados da escola</a:t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7238024" y="1188720"/>
            <a:ext cx="1582200" cy="2697600"/>
          </a:xfrm>
          <a:prstGeom prst="roundRect">
            <a:avLst>
              <a:gd fmla="val 809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7745699" y="1408176"/>
            <a:ext cx="567000" cy="5670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_FFFFFF.png" id="291" name="Google Shape;29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76092" y="1538569"/>
            <a:ext cx="306141" cy="3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8"/>
          <p:cNvSpPr txBox="1"/>
          <p:nvPr/>
        </p:nvSpPr>
        <p:spPr>
          <a:xfrm>
            <a:off x="7238024" y="2103120"/>
            <a:ext cx="1582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CASO 5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7347752" y="2331720"/>
            <a:ext cx="136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Qualidade dos dados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7375184" y="2880360"/>
            <a:ext cx="130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Pipeline que valida planilhas da secretaria</a:t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>
            <a:off x="323697" y="4069080"/>
            <a:ext cx="8496600" cy="640200"/>
          </a:xfrm>
          <a:prstGeom prst="roundRect">
            <a:avLst>
              <a:gd fmla="val 2285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506577" y="416052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uffle_FFFFFF.png" id="297" name="Google Shape;2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1733" y="4265676"/>
            <a:ext cx="246887" cy="24688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8"/>
          <p:cNvSpPr txBox="1"/>
          <p:nvPr/>
        </p:nvSpPr>
        <p:spPr>
          <a:xfrm>
            <a:off x="1192377" y="4069080"/>
            <a:ext cx="739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Sorteio agora: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cada grupo tira um caso. Dados sempre públicos ou fictícios.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OS 5 PAPÉIS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323697" y="120700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uler_85228B.png" id="306" name="Google Shape;3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84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9"/>
          <p:cNvSpPr txBox="1"/>
          <p:nvPr/>
        </p:nvSpPr>
        <p:spPr>
          <a:xfrm>
            <a:off x="1036929" y="1207008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GUARDIÃO DO PADRÃO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1036929" y="1444752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Steering e guia visual da AWS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323697" y="1911096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_85228B.png" id="310" name="Google Shape;3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884" y="2037283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9"/>
          <p:cNvSpPr txBox="1"/>
          <p:nvPr/>
        </p:nvSpPr>
        <p:spPr>
          <a:xfrm>
            <a:off x="1036929" y="1911096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PESQUISADOR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1036929" y="214884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MCP de docs e serviços conferidos</a:t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323697" y="2615184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85228B.png" id="314" name="Google Shape;31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884" y="2741371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 txBox="1"/>
          <p:nvPr/>
        </p:nvSpPr>
        <p:spPr>
          <a:xfrm>
            <a:off x="1036929" y="2615184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DEV DO VALIDADOR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1036929" y="2852928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Spec, código, testes e hooks</a:t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323697" y="3319272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nch_85228B.png" id="318" name="Google Shape;3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884" y="3445459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9"/>
          <p:cNvSpPr txBox="1"/>
          <p:nvPr/>
        </p:nvSpPr>
        <p:spPr>
          <a:xfrm>
            <a:off x="1036929" y="3319272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DEV DO GERADOR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1036929" y="3557016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Renderizador de manhã, slides à tarde</a:t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323697" y="4023360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sentation_85228B.png" id="322" name="Google Shape;32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884" y="4149547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9"/>
          <p:cNvSpPr txBox="1"/>
          <p:nvPr/>
        </p:nvSpPr>
        <p:spPr>
          <a:xfrm>
            <a:off x="1036929" y="4023359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RELATOR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1036929" y="4261104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Caso em YAML e slides da defesa</a:t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5486400" y="1188720"/>
            <a:ext cx="3333900" cy="3520500"/>
          </a:xfrm>
          <a:prstGeom prst="roundRect">
            <a:avLst>
              <a:gd fmla="val 4388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5715000" y="1417319"/>
            <a:ext cx="640200" cy="640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itBranch_FFFFFF.png" id="327" name="Google Shape;32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2218" y="1564538"/>
            <a:ext cx="345643" cy="34564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9"/>
          <p:cNvSpPr txBox="1"/>
          <p:nvPr/>
        </p:nvSpPr>
        <p:spPr>
          <a:xfrm>
            <a:off x="5760720" y="2212848"/>
            <a:ext cx="2926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REGRAS DO GRUPO</a:t>
            </a:r>
            <a:endParaRPr/>
          </a:p>
        </p:txBody>
      </p:sp>
      <p:sp>
        <p:nvSpPr>
          <p:cNvPr id="329" name="Google Shape;329;p19"/>
          <p:cNvSpPr txBox="1"/>
          <p:nvPr/>
        </p:nvSpPr>
        <p:spPr>
          <a:xfrm>
            <a:off x="5760720" y="2432304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Todos entregam</a:t>
            </a:r>
            <a:endParaRPr/>
          </a:p>
        </p:txBody>
      </p:sp>
      <p:pic>
        <p:nvPicPr>
          <p:cNvPr descr="CircleCheck_85228B.png" id="330" name="Google Shape;33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60720" y="29443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9"/>
          <p:cNvSpPr txBox="1"/>
          <p:nvPr/>
        </p:nvSpPr>
        <p:spPr>
          <a:xfrm>
            <a:off x="6089904" y="292608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Uma branch por papel</a:t>
            </a:r>
            <a:endParaRPr/>
          </a:p>
        </p:txBody>
      </p:sp>
      <p:pic>
        <p:nvPicPr>
          <p:cNvPr descr="CircleCheck_85228B.png" id="332" name="Google Shape;33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60720" y="33649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9"/>
          <p:cNvSpPr txBox="1"/>
          <p:nvPr/>
        </p:nvSpPr>
        <p:spPr>
          <a:xfrm>
            <a:off x="6089904" y="3346704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2 contas Kiro ativas por vez</a:t>
            </a:r>
            <a:endParaRPr/>
          </a:p>
        </p:txBody>
      </p:sp>
      <p:pic>
        <p:nvPicPr>
          <p:cNvPr descr="CircleCheck_85228B.png" id="334" name="Google Shape;33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60720" y="3785615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9"/>
          <p:cNvSpPr txBox="1"/>
          <p:nvPr/>
        </p:nvSpPr>
        <p:spPr>
          <a:xfrm>
            <a:off x="6089904" y="376732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Merge por pull request</a:t>
            </a:r>
            <a:endParaRPr/>
          </a:p>
        </p:txBody>
      </p:sp>
      <p:pic>
        <p:nvPicPr>
          <p:cNvPr descr="CircleCheck_85228B.png" id="336" name="Google Shape;33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60720" y="42062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9"/>
          <p:cNvSpPr txBox="1"/>
          <p:nvPr/>
        </p:nvSpPr>
        <p:spPr>
          <a:xfrm>
            <a:off x="6089904" y="4187952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Fork do repositório no fim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CONFERÊNCIA DE ACESSOS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323697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534009" y="1399032"/>
            <a:ext cx="585300" cy="5853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host_FFFFFF.png" id="346" name="Google Shape;3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609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0"/>
          <p:cNvSpPr txBox="1"/>
          <p:nvPr/>
        </p:nvSpPr>
        <p:spPr>
          <a:xfrm>
            <a:off x="1283817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FERRAMENTA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1283817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Kiro instalado e logado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643737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COMO CONFERIR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643737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Login com GitHub, Google ou AWS Builder ID.</a:t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4768596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4978908" y="1399032"/>
            <a:ext cx="585300" cy="5853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ithub_FFFFFF.png" id="353" name="Google Shape;35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3507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0"/>
          <p:cNvSpPr txBox="1"/>
          <p:nvPr/>
        </p:nvSpPr>
        <p:spPr>
          <a:xfrm>
            <a:off x="5728716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VERSIONAMENTO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5728716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Conta no GitHub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5088636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COMO CONFERIR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5088636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Relator cria o repositório do grupo pelo template.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323697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534009" y="3250692"/>
            <a:ext cx="585300" cy="5853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duationCap_FFFFFF.png" id="360" name="Google Shape;36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609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0"/>
          <p:cNvSpPr txBox="1"/>
          <p:nvPr/>
        </p:nvSpPr>
        <p:spPr>
          <a:xfrm>
            <a:off x="1283817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ESTUDO</a:t>
            </a:r>
            <a:endParaRPr/>
          </a:p>
        </p:txBody>
      </p:sp>
      <p:sp>
        <p:nvSpPr>
          <p:cNvPr id="362" name="Google Shape;362;p20"/>
          <p:cNvSpPr txBox="1"/>
          <p:nvPr/>
        </p:nvSpPr>
        <p:spPr>
          <a:xfrm>
            <a:off x="1283817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AWS Academy</a:t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643737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COMO CONFERIR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643737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Curso Generative AI Foundations aparece no LMS.</a:t>
            </a:r>
            <a:endParaRPr/>
          </a:p>
        </p:txBody>
      </p:sp>
      <p:sp>
        <p:nvSpPr>
          <p:cNvPr id="365" name="Google Shape;365;p20"/>
          <p:cNvSpPr/>
          <p:nvPr/>
        </p:nvSpPr>
        <p:spPr>
          <a:xfrm>
            <a:off x="4768596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4978908" y="3250692"/>
            <a:ext cx="585300" cy="5853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rminal_FFFFFF.png" id="367" name="Google Shape;36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13507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0"/>
          <p:cNvSpPr txBox="1"/>
          <p:nvPr/>
        </p:nvSpPr>
        <p:spPr>
          <a:xfrm>
            <a:off x="5728716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AMBIENTE</a:t>
            </a:r>
            <a:endParaRPr/>
          </a:p>
        </p:txBody>
      </p:sp>
      <p:sp>
        <p:nvSpPr>
          <p:cNvPr id="369" name="Google Shape;369;p20"/>
          <p:cNvSpPr txBox="1"/>
          <p:nvPr/>
        </p:nvSpPr>
        <p:spPr>
          <a:xfrm>
            <a:off x="5728716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Python, Node.js e Git</a:t>
            </a:r>
            <a:endParaRPr/>
          </a:p>
        </p:txBody>
      </p:sp>
      <p:sp>
        <p:nvSpPr>
          <p:cNvPr id="370" name="Google Shape;370;p20"/>
          <p:cNvSpPr txBox="1"/>
          <p:nvPr/>
        </p:nvSpPr>
        <p:spPr>
          <a:xfrm>
            <a:off x="5088636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COMO CONFERIR</a:t>
            </a:r>
            <a:endParaRPr/>
          </a:p>
        </p:txBody>
      </p:sp>
      <p:sp>
        <p:nvSpPr>
          <p:cNvPr id="371" name="Google Shape;371;p20"/>
          <p:cNvSpPr txBox="1"/>
          <p:nvPr/>
        </p:nvSpPr>
        <p:spPr>
          <a:xfrm>
            <a:off x="5088636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python, node e git com --version no terminal.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CRÉDITOS DO KIRO</a:t>
            </a:r>
            <a:endParaRPr/>
          </a:p>
        </p:txBody>
      </p:sp>
      <p:sp>
        <p:nvSpPr>
          <p:cNvPr id="377" name="Google Shape;377;p21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323697" y="1188720"/>
            <a:ext cx="3017400" cy="3520500"/>
          </a:xfrm>
          <a:prstGeom prst="roundRect">
            <a:avLst>
              <a:gd fmla="val 4848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1032357" y="1714500"/>
            <a:ext cx="1600200" cy="1600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1144371" y="1826514"/>
            <a:ext cx="1376100" cy="1376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1144371" y="1826514"/>
            <a:ext cx="13761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5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/>
          </a:p>
        </p:txBody>
      </p:sp>
      <p:sp>
        <p:nvSpPr>
          <p:cNvPr id="382" name="Google Shape;382;p21"/>
          <p:cNvSpPr txBox="1"/>
          <p:nvPr/>
        </p:nvSpPr>
        <p:spPr>
          <a:xfrm>
            <a:off x="826617" y="340614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créditos por mês no plano Free</a:t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598017" y="3977639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Não acumulam. Plano do workshop.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3615537" y="1188720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PLANOS PAGOS (US$ POR USUÁRIO/MÊS)</a:t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3615537" y="1481328"/>
            <a:ext cx="5204700" cy="384000"/>
          </a:xfrm>
          <a:prstGeom prst="roundRect">
            <a:avLst>
              <a:gd fmla="val 23809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3798417" y="148132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Pro</a:t>
            </a:r>
            <a:endParaRPr/>
          </a:p>
        </p:txBody>
      </p:sp>
      <p:sp>
        <p:nvSpPr>
          <p:cNvPr id="387" name="Google Shape;387;p21"/>
          <p:cNvSpPr txBox="1"/>
          <p:nvPr/>
        </p:nvSpPr>
        <p:spPr>
          <a:xfrm>
            <a:off x="5170017" y="148132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US$ 20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6541617" y="1481328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1.000 créditos</a:t>
            </a:r>
            <a:endParaRPr/>
          </a:p>
        </p:txBody>
      </p:sp>
      <p:sp>
        <p:nvSpPr>
          <p:cNvPr id="389" name="Google Shape;389;p21"/>
          <p:cNvSpPr/>
          <p:nvPr/>
        </p:nvSpPr>
        <p:spPr>
          <a:xfrm>
            <a:off x="3615537" y="1938528"/>
            <a:ext cx="5204700" cy="384000"/>
          </a:xfrm>
          <a:prstGeom prst="roundRect">
            <a:avLst>
              <a:gd fmla="val 23809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3798417" y="193852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Pro+</a:t>
            </a:r>
            <a:endParaRPr/>
          </a:p>
        </p:txBody>
      </p:sp>
      <p:sp>
        <p:nvSpPr>
          <p:cNvPr id="391" name="Google Shape;391;p21"/>
          <p:cNvSpPr txBox="1"/>
          <p:nvPr/>
        </p:nvSpPr>
        <p:spPr>
          <a:xfrm>
            <a:off x="5170017" y="193852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US$ 40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6541617" y="1938528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2.000 créditos</a:t>
            </a:r>
            <a:endParaRPr/>
          </a:p>
        </p:txBody>
      </p:sp>
      <p:sp>
        <p:nvSpPr>
          <p:cNvPr id="393" name="Google Shape;393;p21"/>
          <p:cNvSpPr/>
          <p:nvPr/>
        </p:nvSpPr>
        <p:spPr>
          <a:xfrm>
            <a:off x="3615537" y="2395728"/>
            <a:ext cx="5204700" cy="384000"/>
          </a:xfrm>
          <a:prstGeom prst="roundRect">
            <a:avLst>
              <a:gd fmla="val 23809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3798417" y="239572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Pro Max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5170017" y="239572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US$ 100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6541617" y="2395728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5.000 créditos</a:t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3615537" y="2852928"/>
            <a:ext cx="5204700" cy="384000"/>
          </a:xfrm>
          <a:prstGeom prst="roundRect">
            <a:avLst>
              <a:gd fmla="val 23809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3798417" y="285292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Power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5170017" y="285292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US$ 200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6541617" y="2852928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10.000 créditos</a:t>
            </a:r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3615537" y="3429000"/>
            <a:ext cx="5204700" cy="1280100"/>
          </a:xfrm>
          <a:prstGeom prst="roundRect">
            <a:avLst>
              <a:gd fmla="val 11428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3798417" y="3840480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_FFFFFF.png" id="403" name="Google Shape;4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3573" y="39456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1"/>
          <p:cNvSpPr txBox="1"/>
          <p:nvPr/>
        </p:nvSpPr>
        <p:spPr>
          <a:xfrm>
            <a:off x="4484217" y="3429000"/>
            <a:ext cx="4107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No grupo: </a:t>
            </a: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no máximo 2 contas ativas; quando uma zera, entra a próxima.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BLOCO 1: CÓDIGO COM IA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Do autocomplete ao spec-driven development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ASSISTENTES DE CÓDIGO</a:t>
            </a:r>
            <a:endParaRPr/>
          </a:p>
        </p:txBody>
      </p:sp>
      <p:sp>
        <p:nvSpPr>
          <p:cNvPr id="416" name="Google Shape;416;p23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cxnSp>
        <p:nvCxnSpPr>
          <p:cNvPr id="417" name="Google Shape;417;p23"/>
          <p:cNvCxnSpPr/>
          <p:nvPr/>
        </p:nvCxnSpPr>
        <p:spPr>
          <a:xfrm>
            <a:off x="460857" y="2944368"/>
            <a:ext cx="8222400" cy="0"/>
          </a:xfrm>
          <a:prstGeom prst="straightConnector1">
            <a:avLst/>
          </a:prstGeom>
          <a:noFill/>
          <a:ln cap="flat" cmpd="sng" w="19050">
            <a:solidFill>
              <a:srgbClr val="C9CAD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23"/>
          <p:cNvSpPr/>
          <p:nvPr/>
        </p:nvSpPr>
        <p:spPr>
          <a:xfrm>
            <a:off x="460857" y="2761488"/>
            <a:ext cx="365700" cy="3657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552297" y="2852928"/>
            <a:ext cx="183000" cy="1830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-87782" y="32004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2021</a:t>
            </a:r>
            <a:endParaRPr/>
          </a:p>
        </p:txBody>
      </p:sp>
      <p:cxnSp>
        <p:nvCxnSpPr>
          <p:cNvPr id="421" name="Google Shape;421;p23"/>
          <p:cNvCxnSpPr/>
          <p:nvPr/>
        </p:nvCxnSpPr>
        <p:spPr>
          <a:xfrm rot="10800000">
            <a:off x="643737" y="237748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23"/>
          <p:cNvSpPr/>
          <p:nvPr/>
        </p:nvSpPr>
        <p:spPr>
          <a:xfrm>
            <a:off x="602589" y="2336292"/>
            <a:ext cx="82200" cy="82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323697" y="1481328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Copilot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Autocomplete, o "AI pair programmer"</a:t>
            </a:r>
            <a:endParaRPr/>
          </a:p>
        </p:txBody>
      </p:sp>
      <p:sp>
        <p:nvSpPr>
          <p:cNvPr id="424" name="Google Shape;424;p23"/>
          <p:cNvSpPr/>
          <p:nvPr/>
        </p:nvSpPr>
        <p:spPr>
          <a:xfrm>
            <a:off x="2032162" y="2761488"/>
            <a:ext cx="365700" cy="3657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2123602" y="2852928"/>
            <a:ext cx="183000" cy="1830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1483522" y="22860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2022</a:t>
            </a:r>
            <a:endParaRPr/>
          </a:p>
        </p:txBody>
      </p:sp>
      <p:cxnSp>
        <p:nvCxnSpPr>
          <p:cNvPr id="427" name="Google Shape;427;p23"/>
          <p:cNvCxnSpPr/>
          <p:nvPr/>
        </p:nvCxnSpPr>
        <p:spPr>
          <a:xfrm>
            <a:off x="2215042" y="312724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23"/>
          <p:cNvSpPr/>
          <p:nvPr/>
        </p:nvSpPr>
        <p:spPr>
          <a:xfrm>
            <a:off x="2173894" y="3470148"/>
            <a:ext cx="82200" cy="82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1392082" y="3602736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ChatGPT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Código gerado em conversa</a:t>
            </a:r>
            <a:endParaRPr/>
          </a:p>
        </p:txBody>
      </p:sp>
      <p:sp>
        <p:nvSpPr>
          <p:cNvPr id="430" name="Google Shape;430;p23"/>
          <p:cNvSpPr/>
          <p:nvPr/>
        </p:nvSpPr>
        <p:spPr>
          <a:xfrm>
            <a:off x="3603467" y="2761488"/>
            <a:ext cx="365700" cy="365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3694907" y="2852928"/>
            <a:ext cx="183000" cy="1830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3054827" y="32004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2024</a:t>
            </a:r>
            <a:endParaRPr/>
          </a:p>
        </p:txBody>
      </p:sp>
      <p:cxnSp>
        <p:nvCxnSpPr>
          <p:cNvPr id="433" name="Google Shape;433;p23"/>
          <p:cNvCxnSpPr/>
          <p:nvPr/>
        </p:nvCxnSpPr>
        <p:spPr>
          <a:xfrm rot="10800000">
            <a:off x="3786347" y="237748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23"/>
          <p:cNvSpPr/>
          <p:nvPr/>
        </p:nvSpPr>
        <p:spPr>
          <a:xfrm>
            <a:off x="3745199" y="2336292"/>
            <a:ext cx="82200" cy="82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3"/>
          <p:cNvSpPr txBox="1"/>
          <p:nvPr/>
        </p:nvSpPr>
        <p:spPr>
          <a:xfrm>
            <a:off x="2963387" y="1481328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MCP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Protocolo que liga agentes a ferramentas</a:t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5174772" y="2761488"/>
            <a:ext cx="365700" cy="365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5266212" y="2852928"/>
            <a:ext cx="183000" cy="1830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4626132" y="22860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fev 2025</a:t>
            </a:r>
            <a:endParaRPr/>
          </a:p>
        </p:txBody>
      </p:sp>
      <p:cxnSp>
        <p:nvCxnSpPr>
          <p:cNvPr id="439" name="Google Shape;439;p23"/>
          <p:cNvCxnSpPr/>
          <p:nvPr/>
        </p:nvCxnSpPr>
        <p:spPr>
          <a:xfrm>
            <a:off x="5357652" y="312724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23"/>
          <p:cNvSpPr/>
          <p:nvPr/>
        </p:nvSpPr>
        <p:spPr>
          <a:xfrm>
            <a:off x="5316504" y="3470148"/>
            <a:ext cx="82200" cy="82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4534692" y="3602736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Vibe coding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Termo criado por Andrej Karpathy</a:t>
            </a:r>
            <a:endParaRPr/>
          </a:p>
        </p:txBody>
      </p:sp>
      <p:sp>
        <p:nvSpPr>
          <p:cNvPr id="442" name="Google Shape;442;p23"/>
          <p:cNvSpPr/>
          <p:nvPr/>
        </p:nvSpPr>
        <p:spPr>
          <a:xfrm>
            <a:off x="6746077" y="2761488"/>
            <a:ext cx="365700" cy="3657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6837517" y="2852928"/>
            <a:ext cx="183000" cy="1830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 txBox="1"/>
          <p:nvPr/>
        </p:nvSpPr>
        <p:spPr>
          <a:xfrm>
            <a:off x="6197437" y="32004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jul 2025</a:t>
            </a:r>
            <a:endParaRPr/>
          </a:p>
        </p:txBody>
      </p:sp>
      <p:cxnSp>
        <p:nvCxnSpPr>
          <p:cNvPr id="445" name="Google Shape;445;p23"/>
          <p:cNvCxnSpPr/>
          <p:nvPr/>
        </p:nvCxnSpPr>
        <p:spPr>
          <a:xfrm rot="10800000">
            <a:off x="6928957" y="237748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23"/>
          <p:cNvSpPr/>
          <p:nvPr/>
        </p:nvSpPr>
        <p:spPr>
          <a:xfrm>
            <a:off x="6887809" y="2336292"/>
            <a:ext cx="82200" cy="82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6105997" y="1481328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Kiro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Spec-driven dentro da IDE</a:t>
            </a:r>
            <a:endParaRPr/>
          </a:p>
        </p:txBody>
      </p:sp>
      <p:sp>
        <p:nvSpPr>
          <p:cNvPr id="448" name="Google Shape;448;p23"/>
          <p:cNvSpPr/>
          <p:nvPr/>
        </p:nvSpPr>
        <p:spPr>
          <a:xfrm>
            <a:off x="8317382" y="2761488"/>
            <a:ext cx="365700" cy="3657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8408822" y="2852928"/>
            <a:ext cx="183000" cy="1830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7768742" y="22860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2026</a:t>
            </a:r>
            <a:endParaRPr/>
          </a:p>
        </p:txBody>
      </p:sp>
      <p:cxnSp>
        <p:nvCxnSpPr>
          <p:cNvPr id="451" name="Google Shape;451;p23"/>
          <p:cNvCxnSpPr/>
          <p:nvPr/>
        </p:nvCxnSpPr>
        <p:spPr>
          <a:xfrm>
            <a:off x="8500262" y="312724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23"/>
          <p:cNvSpPr/>
          <p:nvPr/>
        </p:nvSpPr>
        <p:spPr>
          <a:xfrm>
            <a:off x="8459114" y="3470148"/>
            <a:ext cx="82200" cy="82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3"/>
          <p:cNvSpPr txBox="1"/>
          <p:nvPr/>
        </p:nvSpPr>
        <p:spPr>
          <a:xfrm>
            <a:off x="7174382" y="3602736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Mais supervisão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Agentes no dia a dia, com revisão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QUE É VIBE CODING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323697" y="1188720"/>
            <a:ext cx="8496600" cy="1005900"/>
          </a:xfrm>
          <a:prstGeom prst="roundRect">
            <a:avLst>
              <a:gd fmla="val 1272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323697" y="1188720"/>
            <a:ext cx="822900" cy="1005900"/>
          </a:xfrm>
          <a:prstGeom prst="roundRect">
            <a:avLst>
              <a:gd fmla="val 15555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872337" y="1188720"/>
            <a:ext cx="274200" cy="1005900"/>
          </a:xfrm>
          <a:prstGeom prst="roundRect">
            <a:avLst>
              <a:gd fmla="val 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4"/>
          <p:cNvSpPr txBox="1"/>
          <p:nvPr/>
        </p:nvSpPr>
        <p:spPr>
          <a:xfrm>
            <a:off x="323697" y="1188720"/>
            <a:ext cx="82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endParaRPr/>
          </a:p>
        </p:txBody>
      </p:sp>
      <p:sp>
        <p:nvSpPr>
          <p:cNvPr id="464" name="Google Shape;464;p24"/>
          <p:cNvSpPr txBox="1"/>
          <p:nvPr/>
        </p:nvSpPr>
        <p:spPr>
          <a:xfrm>
            <a:off x="1375257" y="1325880"/>
            <a:ext cx="721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O uso de inteligência artificial, guiada por linguagem natural, para escrever código.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Collins Dictionary, Palavra do Ano 2025 (tradução livre)</a:t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323697" y="2377440"/>
            <a:ext cx="4051800" cy="2331600"/>
          </a:xfrm>
          <a:prstGeom prst="roundRect">
            <a:avLst>
              <a:gd fmla="val 6274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506577" y="2532888"/>
            <a:ext cx="548700" cy="5487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FFFFFF.png" id="467" name="Google Shape;4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64" y="26590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4"/>
          <p:cNvSpPr txBox="1"/>
          <p:nvPr/>
        </p:nvSpPr>
        <p:spPr>
          <a:xfrm>
            <a:off x="1192377" y="257860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FUNCIONA BEM</a:t>
            </a:r>
            <a:endParaRPr/>
          </a:p>
        </p:txBody>
      </p:sp>
      <p:sp>
        <p:nvSpPr>
          <p:cNvPr id="469" name="Google Shape;469;p24"/>
          <p:cNvSpPr txBox="1"/>
          <p:nvPr/>
        </p:nvSpPr>
        <p:spPr>
          <a:xfrm>
            <a:off x="1192377" y="277977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Explorar e prototipar</a:t>
            </a:r>
            <a:endParaRPr/>
          </a:p>
        </p:txBody>
      </p:sp>
      <p:sp>
        <p:nvSpPr>
          <p:cNvPr id="470" name="Google Shape;470;p24"/>
          <p:cNvSpPr txBox="1"/>
          <p:nvPr/>
        </p:nvSpPr>
        <p:spPr>
          <a:xfrm>
            <a:off x="598017" y="3337560"/>
            <a:ext cx="1417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Protótipo</a:t>
            </a:r>
            <a:endParaRPr/>
          </a:p>
        </p:txBody>
      </p:sp>
      <p:sp>
        <p:nvSpPr>
          <p:cNvPr id="471" name="Google Shape;471;p24"/>
          <p:cNvSpPr txBox="1"/>
          <p:nvPr/>
        </p:nvSpPr>
        <p:spPr>
          <a:xfrm>
            <a:off x="2015337" y="3337560"/>
            <a:ext cx="21771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 ideia na tela em minutos</a:t>
            </a:r>
            <a:endParaRPr/>
          </a:p>
        </p:txBody>
      </p:sp>
      <p:sp>
        <p:nvSpPr>
          <p:cNvPr id="472" name="Google Shape;472;p24"/>
          <p:cNvSpPr txBox="1"/>
          <p:nvPr/>
        </p:nvSpPr>
        <p:spPr>
          <a:xfrm>
            <a:off x="598017" y="3764280"/>
            <a:ext cx="1417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Script</a:t>
            </a:r>
            <a:endParaRPr/>
          </a:p>
        </p:txBody>
      </p:sp>
      <p:sp>
        <p:nvSpPr>
          <p:cNvPr id="473" name="Google Shape;473;p24"/>
          <p:cNvSpPr txBox="1"/>
          <p:nvPr/>
        </p:nvSpPr>
        <p:spPr>
          <a:xfrm>
            <a:off x="2015337" y="3764280"/>
            <a:ext cx="21771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tarefa descartável</a:t>
            </a:r>
            <a:endParaRPr/>
          </a:p>
        </p:txBody>
      </p:sp>
      <p:sp>
        <p:nvSpPr>
          <p:cNvPr id="474" name="Google Shape;474;p24"/>
          <p:cNvSpPr txBox="1"/>
          <p:nvPr/>
        </p:nvSpPr>
        <p:spPr>
          <a:xfrm>
            <a:off x="598017" y="4191000"/>
            <a:ext cx="1417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API nova</a:t>
            </a:r>
            <a:endParaRPr/>
          </a:p>
        </p:txBody>
      </p:sp>
      <p:sp>
        <p:nvSpPr>
          <p:cNvPr id="475" name="Google Shape;475;p24"/>
          <p:cNvSpPr txBox="1"/>
          <p:nvPr/>
        </p:nvSpPr>
        <p:spPr>
          <a:xfrm>
            <a:off x="2015337" y="4191000"/>
            <a:ext cx="21771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aprender testando</a:t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4768596" y="2377440"/>
            <a:ext cx="4051800" cy="2331600"/>
          </a:xfrm>
          <a:prstGeom prst="roundRect">
            <a:avLst>
              <a:gd fmla="val 6274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4951476" y="2532888"/>
            <a:ext cx="548700" cy="5487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Alert_FFFFFF.png" id="478" name="Google Shape;47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663" y="26590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4"/>
          <p:cNvSpPr txBox="1"/>
          <p:nvPr/>
        </p:nvSpPr>
        <p:spPr>
          <a:xfrm>
            <a:off x="5637276" y="257860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DÁ PROBLEMA</a:t>
            </a:r>
            <a:endParaRPr/>
          </a:p>
        </p:txBody>
      </p:sp>
      <p:sp>
        <p:nvSpPr>
          <p:cNvPr id="480" name="Google Shape;480;p24"/>
          <p:cNvSpPr txBox="1"/>
          <p:nvPr/>
        </p:nvSpPr>
        <p:spPr>
          <a:xfrm>
            <a:off x="5637276" y="277977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Código que vai durar</a:t>
            </a:r>
            <a:endParaRPr/>
          </a:p>
        </p:txBody>
      </p:sp>
      <p:sp>
        <p:nvSpPr>
          <p:cNvPr id="481" name="Google Shape;481;p24"/>
          <p:cNvSpPr txBox="1"/>
          <p:nvPr/>
        </p:nvSpPr>
        <p:spPr>
          <a:xfrm>
            <a:off x="5042916" y="3337560"/>
            <a:ext cx="1417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Requisitos</a:t>
            </a:r>
            <a:endParaRPr/>
          </a:p>
        </p:txBody>
      </p:sp>
      <p:sp>
        <p:nvSpPr>
          <p:cNvPr id="482" name="Google Shape;482;p24"/>
          <p:cNvSpPr txBox="1"/>
          <p:nvPr/>
        </p:nvSpPr>
        <p:spPr>
          <a:xfrm>
            <a:off x="6460236" y="3337560"/>
            <a:ext cx="21771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ficam na cabeça de quem pediu</a:t>
            </a:r>
            <a:endParaRPr/>
          </a:p>
        </p:txBody>
      </p:sp>
      <p:sp>
        <p:nvSpPr>
          <p:cNvPr id="483" name="Google Shape;483;p24"/>
          <p:cNvSpPr txBox="1"/>
          <p:nvPr/>
        </p:nvSpPr>
        <p:spPr>
          <a:xfrm>
            <a:off x="5042916" y="3764280"/>
            <a:ext cx="1417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Revisão</a:t>
            </a:r>
            <a:endParaRPr/>
          </a:p>
        </p:txBody>
      </p:sp>
      <p:sp>
        <p:nvSpPr>
          <p:cNvPr id="484" name="Google Shape;484;p24"/>
          <p:cNvSpPr txBox="1"/>
          <p:nvPr/>
        </p:nvSpPr>
        <p:spPr>
          <a:xfrm>
            <a:off x="6460236" y="3764280"/>
            <a:ext cx="21771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ninguém lê o diff inteiro</a:t>
            </a:r>
            <a:endParaRPr/>
          </a:p>
        </p:txBody>
      </p:sp>
      <p:sp>
        <p:nvSpPr>
          <p:cNvPr id="485" name="Google Shape;485;p24"/>
          <p:cNvSpPr txBox="1"/>
          <p:nvPr/>
        </p:nvSpPr>
        <p:spPr>
          <a:xfrm>
            <a:off x="5042916" y="4191000"/>
            <a:ext cx="1417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Manutenção</a:t>
            </a:r>
            <a:endParaRPr/>
          </a:p>
        </p:txBody>
      </p:sp>
      <p:sp>
        <p:nvSpPr>
          <p:cNvPr id="486" name="Google Shape;486;p24"/>
          <p:cNvSpPr txBox="1"/>
          <p:nvPr/>
        </p:nvSpPr>
        <p:spPr>
          <a:xfrm>
            <a:off x="6460236" y="4191000"/>
            <a:ext cx="21771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ninguém sabe por que foi feito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 QUE </a:t>
            </a:r>
            <a:r>
              <a:rPr lang="pt-BR" sz="2200">
                <a:solidFill>
                  <a:srgbClr val="0E1D8E"/>
                </a:solidFill>
              </a:rPr>
              <a:t>OS NÚMEROS</a:t>
            </a: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 DIZEM</a:t>
            </a:r>
            <a:endParaRPr/>
          </a:p>
        </p:txBody>
      </p:sp>
      <p:sp>
        <p:nvSpPr>
          <p:cNvPr id="492" name="Google Shape;492;p2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1120140" y="1421891"/>
            <a:ext cx="1326000" cy="13260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1212951" y="1514703"/>
            <a:ext cx="1140300" cy="1140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5"/>
          <p:cNvSpPr txBox="1"/>
          <p:nvPr/>
        </p:nvSpPr>
        <p:spPr>
          <a:xfrm>
            <a:off x="1212951" y="1514703"/>
            <a:ext cx="11403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14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55,8%</a:t>
            </a:r>
            <a:endParaRPr/>
          </a:p>
        </p:txBody>
      </p:sp>
      <p:sp>
        <p:nvSpPr>
          <p:cNvPr id="496" name="Google Shape;496;p25"/>
          <p:cNvSpPr txBox="1"/>
          <p:nvPr/>
        </p:nvSpPr>
        <p:spPr>
          <a:xfrm>
            <a:off x="777239" y="2839212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mais rápido numa tarefa isolada (Peng et al., 2023)</a:t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3909060" y="1421891"/>
            <a:ext cx="1326000" cy="13260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4001871" y="1514703"/>
            <a:ext cx="1140300" cy="1140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5"/>
          <p:cNvSpPr txBox="1"/>
          <p:nvPr/>
        </p:nvSpPr>
        <p:spPr>
          <a:xfrm>
            <a:off x="4001871" y="1514703"/>
            <a:ext cx="11403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19%</a:t>
            </a:r>
            <a:endParaRPr/>
          </a:p>
        </p:txBody>
      </p:sp>
      <p:sp>
        <p:nvSpPr>
          <p:cNvPr id="500" name="Google Shape;500;p25"/>
          <p:cNvSpPr txBox="1"/>
          <p:nvPr/>
        </p:nvSpPr>
        <p:spPr>
          <a:xfrm>
            <a:off x="3566160" y="2839212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mais lento em repositórios reais (METR, 2025)</a:t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6697980" y="1421891"/>
            <a:ext cx="1326000" cy="13260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6790791" y="1514703"/>
            <a:ext cx="1140300" cy="1140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6790791" y="1514703"/>
            <a:ext cx="11403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9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45%</a:t>
            </a:r>
            <a:endParaRPr/>
          </a:p>
        </p:txBody>
      </p:sp>
      <p:sp>
        <p:nvSpPr>
          <p:cNvPr id="504" name="Google Shape;504;p25"/>
          <p:cNvSpPr txBox="1"/>
          <p:nvPr/>
        </p:nvSpPr>
        <p:spPr>
          <a:xfrm>
            <a:off x="6355080" y="2839212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das tarefas com falha de segurança (Veracode, 2025)</a:t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323697" y="3904487"/>
            <a:ext cx="8496600" cy="804600"/>
          </a:xfrm>
          <a:prstGeom prst="roundRect">
            <a:avLst>
              <a:gd fmla="val 18181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506577" y="4078224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ye_FFFFFF.png" id="507" name="Google Shape;5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733" y="418338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5"/>
          <p:cNvSpPr txBox="1"/>
          <p:nvPr/>
        </p:nvSpPr>
        <p:spPr>
          <a:xfrm>
            <a:off x="1192377" y="3904487"/>
            <a:ext cx="73992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Percepção x medição: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no estudo do METR, os devs acharam que tinham ficado 20% mais rápidos. A medição mostrou o contrário.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6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PACOTES QUE NÃO EXISTEM</a:t>
            </a:r>
            <a:endParaRPr/>
          </a:p>
        </p:txBody>
      </p:sp>
      <p:sp>
        <p:nvSpPr>
          <p:cNvPr id="514" name="Google Shape;514;p26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515" name="Google Shape;515;p26"/>
          <p:cNvSpPr/>
          <p:nvPr/>
        </p:nvSpPr>
        <p:spPr>
          <a:xfrm>
            <a:off x="323697" y="1874519"/>
            <a:ext cx="2199600" cy="567000"/>
          </a:xfrm>
          <a:prstGeom prst="homePlate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6"/>
          <p:cNvSpPr txBox="1"/>
          <p:nvPr/>
        </p:nvSpPr>
        <p:spPr>
          <a:xfrm>
            <a:off x="506577" y="1874519"/>
            <a:ext cx="181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/>
          </a:p>
        </p:txBody>
      </p:sp>
      <p:sp>
        <p:nvSpPr>
          <p:cNvPr id="517" name="Google Shape;517;p26"/>
          <p:cNvSpPr/>
          <p:nvPr/>
        </p:nvSpPr>
        <p:spPr>
          <a:xfrm>
            <a:off x="1112596" y="120700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t_C96A00.png" id="518" name="Google Shape;5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370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6"/>
          <p:cNvSpPr txBox="1"/>
          <p:nvPr/>
        </p:nvSpPr>
        <p:spPr>
          <a:xfrm>
            <a:off x="396849" y="2606040"/>
            <a:ext cx="194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Modelo sugere</a:t>
            </a:r>
            <a:endParaRPr/>
          </a:p>
        </p:txBody>
      </p:sp>
      <p:sp>
        <p:nvSpPr>
          <p:cNvPr id="520" name="Google Shape;520;p26"/>
          <p:cNvSpPr txBox="1"/>
          <p:nvPr/>
        </p:nvSpPr>
        <p:spPr>
          <a:xfrm>
            <a:off x="415137" y="2898648"/>
            <a:ext cx="19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import de pacote inexistente</a:t>
            </a:r>
            <a:endParaRPr/>
          </a:p>
        </p:txBody>
      </p:sp>
      <p:sp>
        <p:nvSpPr>
          <p:cNvPr id="521" name="Google Shape;521;p26"/>
          <p:cNvSpPr/>
          <p:nvPr/>
        </p:nvSpPr>
        <p:spPr>
          <a:xfrm>
            <a:off x="2459278" y="1874519"/>
            <a:ext cx="2199600" cy="567000"/>
          </a:xfrm>
          <a:prstGeom prst="chevron">
            <a:avLst>
              <a:gd fmla="val 28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"/>
          <p:cNvSpPr txBox="1"/>
          <p:nvPr/>
        </p:nvSpPr>
        <p:spPr>
          <a:xfrm>
            <a:off x="2642158" y="1874519"/>
            <a:ext cx="181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/>
          </a:p>
        </p:txBody>
      </p:sp>
      <p:sp>
        <p:nvSpPr>
          <p:cNvPr id="523" name="Google Shape;523;p26"/>
          <p:cNvSpPr/>
          <p:nvPr/>
        </p:nvSpPr>
        <p:spPr>
          <a:xfrm>
            <a:off x="3248177" y="1207008"/>
            <a:ext cx="512100" cy="5121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_C71D81.png" id="524" name="Google Shape;52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5952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6"/>
          <p:cNvSpPr txBox="1"/>
          <p:nvPr/>
        </p:nvSpPr>
        <p:spPr>
          <a:xfrm>
            <a:off x="2532430" y="2606040"/>
            <a:ext cx="194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Atacante descobre</a:t>
            </a:r>
            <a:endParaRPr/>
          </a:p>
        </p:txBody>
      </p:sp>
      <p:sp>
        <p:nvSpPr>
          <p:cNvPr id="526" name="Google Shape;526;p26"/>
          <p:cNvSpPr txBox="1"/>
          <p:nvPr/>
        </p:nvSpPr>
        <p:spPr>
          <a:xfrm>
            <a:off x="2550718" y="2898648"/>
            <a:ext cx="19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nomes inventados se repetem</a:t>
            </a:r>
            <a:endParaRPr/>
          </a:p>
        </p:txBody>
      </p:sp>
      <p:sp>
        <p:nvSpPr>
          <p:cNvPr id="527" name="Google Shape;527;p26"/>
          <p:cNvSpPr/>
          <p:nvPr/>
        </p:nvSpPr>
        <p:spPr>
          <a:xfrm>
            <a:off x="4594860" y="1874519"/>
            <a:ext cx="2199600" cy="567000"/>
          </a:xfrm>
          <a:prstGeom prst="chevron">
            <a:avLst>
              <a:gd fmla="val 28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6"/>
          <p:cNvSpPr txBox="1"/>
          <p:nvPr/>
        </p:nvSpPr>
        <p:spPr>
          <a:xfrm>
            <a:off x="4777740" y="1874519"/>
            <a:ext cx="181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/>
          </a:p>
        </p:txBody>
      </p:sp>
      <p:sp>
        <p:nvSpPr>
          <p:cNvPr id="529" name="Google Shape;529;p26"/>
          <p:cNvSpPr/>
          <p:nvPr/>
        </p:nvSpPr>
        <p:spPr>
          <a:xfrm>
            <a:off x="5383758" y="1207008"/>
            <a:ext cx="512100" cy="5121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ckagePlus_85228B.png" id="530" name="Google Shape;53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1533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6"/>
          <p:cNvSpPr txBox="1"/>
          <p:nvPr/>
        </p:nvSpPr>
        <p:spPr>
          <a:xfrm>
            <a:off x="4668012" y="2606040"/>
            <a:ext cx="194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Atacante publica</a:t>
            </a:r>
            <a:endParaRPr/>
          </a:p>
        </p:txBody>
      </p:sp>
      <p:sp>
        <p:nvSpPr>
          <p:cNvPr id="532" name="Google Shape;532;p26"/>
          <p:cNvSpPr txBox="1"/>
          <p:nvPr/>
        </p:nvSpPr>
        <p:spPr>
          <a:xfrm>
            <a:off x="4686300" y="2898648"/>
            <a:ext cx="19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pacote malicioso com o nome</a:t>
            </a:r>
            <a:endParaRPr/>
          </a:p>
        </p:txBody>
      </p:sp>
      <p:sp>
        <p:nvSpPr>
          <p:cNvPr id="533" name="Google Shape;533;p26"/>
          <p:cNvSpPr/>
          <p:nvPr/>
        </p:nvSpPr>
        <p:spPr>
          <a:xfrm>
            <a:off x="6730441" y="1874519"/>
            <a:ext cx="2089800" cy="567000"/>
          </a:xfrm>
          <a:prstGeom prst="chevron">
            <a:avLst>
              <a:gd fmla="val 28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6"/>
          <p:cNvSpPr txBox="1"/>
          <p:nvPr/>
        </p:nvSpPr>
        <p:spPr>
          <a:xfrm>
            <a:off x="6913321" y="1874519"/>
            <a:ext cx="181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/>
          </a:p>
        </p:txBody>
      </p:sp>
      <p:sp>
        <p:nvSpPr>
          <p:cNvPr id="535" name="Google Shape;535;p26"/>
          <p:cNvSpPr/>
          <p:nvPr/>
        </p:nvSpPr>
        <p:spPr>
          <a:xfrm>
            <a:off x="7519339" y="1207008"/>
            <a:ext cx="512100" cy="5121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ownload_0E1D8E.png" id="536" name="Google Shape;53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7114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6"/>
          <p:cNvSpPr txBox="1"/>
          <p:nvPr/>
        </p:nvSpPr>
        <p:spPr>
          <a:xfrm>
            <a:off x="6803593" y="2606040"/>
            <a:ext cx="194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Dev instala</a:t>
            </a:r>
            <a:endParaRPr/>
          </a:p>
        </p:txBody>
      </p:sp>
      <p:sp>
        <p:nvSpPr>
          <p:cNvPr id="538" name="Google Shape;538;p26"/>
          <p:cNvSpPr txBox="1"/>
          <p:nvPr/>
        </p:nvSpPr>
        <p:spPr>
          <a:xfrm>
            <a:off x="6821881" y="2898648"/>
            <a:ext cx="19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pip install sem conferir</a:t>
            </a:r>
            <a:endParaRPr/>
          </a:p>
        </p:txBody>
      </p:sp>
      <p:sp>
        <p:nvSpPr>
          <p:cNvPr id="539" name="Google Shape;539;p26"/>
          <p:cNvSpPr/>
          <p:nvPr/>
        </p:nvSpPr>
        <p:spPr>
          <a:xfrm>
            <a:off x="323697" y="3675887"/>
            <a:ext cx="2014500" cy="1033200"/>
          </a:xfrm>
          <a:prstGeom prst="roundRect">
            <a:avLst>
              <a:gd fmla="val 12389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6"/>
          <p:cNvSpPr txBox="1"/>
          <p:nvPr/>
        </p:nvSpPr>
        <p:spPr>
          <a:xfrm>
            <a:off x="506577" y="3749039"/>
            <a:ext cx="16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5,2%</a:t>
            </a:r>
            <a:endParaRPr/>
          </a:p>
        </p:txBody>
      </p:sp>
      <p:sp>
        <p:nvSpPr>
          <p:cNvPr id="541" name="Google Shape;541;p26"/>
          <p:cNvSpPr txBox="1"/>
          <p:nvPr/>
        </p:nvSpPr>
        <p:spPr>
          <a:xfrm>
            <a:off x="506577" y="4206240"/>
            <a:ext cx="16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pacotes inventados em modelos comerciais</a:t>
            </a:r>
            <a:endParaRPr/>
          </a:p>
        </p:txBody>
      </p:sp>
      <p:sp>
        <p:nvSpPr>
          <p:cNvPr id="542" name="Google Shape;542;p26"/>
          <p:cNvSpPr/>
          <p:nvPr/>
        </p:nvSpPr>
        <p:spPr>
          <a:xfrm>
            <a:off x="2484424" y="3675887"/>
            <a:ext cx="2014500" cy="1033200"/>
          </a:xfrm>
          <a:prstGeom prst="roundRect">
            <a:avLst>
              <a:gd fmla="val 12389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6"/>
          <p:cNvSpPr txBox="1"/>
          <p:nvPr/>
        </p:nvSpPr>
        <p:spPr>
          <a:xfrm>
            <a:off x="2667304" y="3749039"/>
            <a:ext cx="16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21,7%</a:t>
            </a:r>
            <a:endParaRPr/>
          </a:p>
        </p:txBody>
      </p:sp>
      <p:sp>
        <p:nvSpPr>
          <p:cNvPr id="544" name="Google Shape;544;p26"/>
          <p:cNvSpPr txBox="1"/>
          <p:nvPr/>
        </p:nvSpPr>
        <p:spPr>
          <a:xfrm>
            <a:off x="2667304" y="4206240"/>
            <a:ext cx="16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pacotes inventados em modelos open-source</a:t>
            </a:r>
            <a:endParaRPr/>
          </a:p>
        </p:txBody>
      </p:sp>
      <p:sp>
        <p:nvSpPr>
          <p:cNvPr id="545" name="Google Shape;545;p26"/>
          <p:cNvSpPr/>
          <p:nvPr/>
        </p:nvSpPr>
        <p:spPr>
          <a:xfrm>
            <a:off x="4645152" y="3675887"/>
            <a:ext cx="2014500" cy="1033200"/>
          </a:xfrm>
          <a:prstGeom prst="roundRect">
            <a:avLst>
              <a:gd fmla="val 12389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6"/>
          <p:cNvSpPr txBox="1"/>
          <p:nvPr/>
        </p:nvSpPr>
        <p:spPr>
          <a:xfrm>
            <a:off x="4828032" y="3749039"/>
            <a:ext cx="16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205.474</a:t>
            </a:r>
            <a:endParaRPr/>
          </a:p>
        </p:txBody>
      </p:sp>
      <p:sp>
        <p:nvSpPr>
          <p:cNvPr id="547" name="Google Shape;547;p26"/>
          <p:cNvSpPr txBox="1"/>
          <p:nvPr/>
        </p:nvSpPr>
        <p:spPr>
          <a:xfrm>
            <a:off x="4828032" y="4206240"/>
            <a:ext cx="164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nomes únicos inventados</a:t>
            </a:r>
            <a:endParaRPr/>
          </a:p>
        </p:txBody>
      </p:sp>
      <p:sp>
        <p:nvSpPr>
          <p:cNvPr id="548" name="Google Shape;548;p26"/>
          <p:cNvSpPr/>
          <p:nvPr/>
        </p:nvSpPr>
        <p:spPr>
          <a:xfrm>
            <a:off x="6805879" y="3675887"/>
            <a:ext cx="2014500" cy="1033200"/>
          </a:xfrm>
          <a:prstGeom prst="roundRect">
            <a:avLst>
              <a:gd fmla="val 12389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6"/>
          <p:cNvSpPr txBox="1"/>
          <p:nvPr/>
        </p:nvSpPr>
        <p:spPr>
          <a:xfrm>
            <a:off x="6988759" y="3813048"/>
            <a:ext cx="164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FONTE</a:t>
            </a:r>
            <a:endParaRPr/>
          </a:p>
        </p:txBody>
      </p:sp>
      <p:sp>
        <p:nvSpPr>
          <p:cNvPr id="550" name="Google Shape;550;p26"/>
          <p:cNvSpPr txBox="1"/>
          <p:nvPr/>
        </p:nvSpPr>
        <p:spPr>
          <a:xfrm>
            <a:off x="6988759" y="4041648"/>
            <a:ext cx="164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Spracklen et al., USENIX Security 2025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7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VIBE X SPEC</a:t>
            </a:r>
            <a:endParaRPr/>
          </a:p>
        </p:txBody>
      </p:sp>
      <p:sp>
        <p:nvSpPr>
          <p:cNvPr id="556" name="Google Shape;556;p27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323697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7"/>
          <p:cNvSpPr/>
          <p:nvPr/>
        </p:nvSpPr>
        <p:spPr>
          <a:xfrm>
            <a:off x="506577" y="1344168"/>
            <a:ext cx="548700" cy="5487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ssageSquare_FFFFFF.png" id="559" name="Google Shape;5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64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7"/>
          <p:cNvSpPr txBox="1"/>
          <p:nvPr/>
        </p:nvSpPr>
        <p:spPr>
          <a:xfrm>
            <a:off x="1192377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VIBE CODING</a:t>
            </a:r>
            <a:endParaRPr/>
          </a:p>
        </p:txBody>
      </p:sp>
      <p:sp>
        <p:nvSpPr>
          <p:cNvPr id="561" name="Google Shape;561;p27"/>
          <p:cNvSpPr txBox="1"/>
          <p:nvPr/>
        </p:nvSpPr>
        <p:spPr>
          <a:xfrm>
            <a:off x="1192377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Conversa livre</a:t>
            </a:r>
            <a:endParaRPr/>
          </a:p>
        </p:txBody>
      </p:sp>
      <p:sp>
        <p:nvSpPr>
          <p:cNvPr id="562" name="Google Shape;562;p27"/>
          <p:cNvSpPr txBox="1"/>
          <p:nvPr/>
        </p:nvSpPr>
        <p:spPr>
          <a:xfrm>
            <a:off x="598017" y="2148840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Começa com</a:t>
            </a:r>
            <a:endParaRPr/>
          </a:p>
        </p:txBody>
      </p:sp>
      <p:sp>
        <p:nvSpPr>
          <p:cNvPr id="563" name="Google Shape;563;p27"/>
          <p:cNvSpPr txBox="1"/>
          <p:nvPr/>
        </p:nvSpPr>
        <p:spPr>
          <a:xfrm>
            <a:off x="2015337" y="2148840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 prompt</a:t>
            </a:r>
            <a:endParaRPr/>
          </a:p>
        </p:txBody>
      </p:sp>
      <p:sp>
        <p:nvSpPr>
          <p:cNvPr id="564" name="Google Shape;564;p27"/>
          <p:cNvSpPr txBox="1"/>
          <p:nvPr/>
        </p:nvSpPr>
        <p:spPr>
          <a:xfrm>
            <a:off x="598017" y="2487168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Contexto</a:t>
            </a:r>
            <a:endParaRPr/>
          </a:p>
        </p:txBody>
      </p:sp>
      <p:sp>
        <p:nvSpPr>
          <p:cNvPr id="565" name="Google Shape;565;p27"/>
          <p:cNvSpPr txBox="1"/>
          <p:nvPr/>
        </p:nvSpPr>
        <p:spPr>
          <a:xfrm>
            <a:off x="2015337" y="2487168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que está no chat</a:t>
            </a:r>
            <a:endParaRPr/>
          </a:p>
        </p:txBody>
      </p:sp>
      <p:sp>
        <p:nvSpPr>
          <p:cNvPr id="566" name="Google Shape;566;p27"/>
          <p:cNvSpPr txBox="1"/>
          <p:nvPr/>
        </p:nvSpPr>
        <p:spPr>
          <a:xfrm>
            <a:off x="598017" y="2825496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Revisão</a:t>
            </a:r>
            <a:endParaRPr/>
          </a:p>
        </p:txBody>
      </p:sp>
      <p:sp>
        <p:nvSpPr>
          <p:cNvPr id="567" name="Google Shape;567;p27"/>
          <p:cNvSpPr txBox="1"/>
          <p:nvPr/>
        </p:nvSpPr>
        <p:spPr>
          <a:xfrm>
            <a:off x="2015337" y="2825496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no fim, no código</a:t>
            </a:r>
            <a:endParaRPr/>
          </a:p>
        </p:txBody>
      </p:sp>
      <p:sp>
        <p:nvSpPr>
          <p:cNvPr id="568" name="Google Shape;568;p27"/>
          <p:cNvSpPr txBox="1"/>
          <p:nvPr/>
        </p:nvSpPr>
        <p:spPr>
          <a:xfrm>
            <a:off x="598017" y="3163824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Registro</a:t>
            </a:r>
            <a:endParaRPr/>
          </a:p>
        </p:txBody>
      </p:sp>
      <p:sp>
        <p:nvSpPr>
          <p:cNvPr id="569" name="Google Shape;569;p27"/>
          <p:cNvSpPr txBox="1"/>
          <p:nvPr/>
        </p:nvSpPr>
        <p:spPr>
          <a:xfrm>
            <a:off x="2015337" y="3163824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histórico do chat</a:t>
            </a:r>
            <a:endParaRPr/>
          </a:p>
        </p:txBody>
      </p:sp>
      <p:sp>
        <p:nvSpPr>
          <p:cNvPr id="570" name="Google Shape;570;p27"/>
          <p:cNvSpPr txBox="1"/>
          <p:nvPr/>
        </p:nvSpPr>
        <p:spPr>
          <a:xfrm>
            <a:off x="598017" y="3502152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Serve para</a:t>
            </a:r>
            <a:endParaRPr/>
          </a:p>
        </p:txBody>
      </p:sp>
      <p:sp>
        <p:nvSpPr>
          <p:cNvPr id="571" name="Google Shape;571;p27"/>
          <p:cNvSpPr txBox="1"/>
          <p:nvPr/>
        </p:nvSpPr>
        <p:spPr>
          <a:xfrm>
            <a:off x="2015337" y="3502152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explorar e prototipar</a:t>
            </a:r>
            <a:endParaRPr/>
          </a:p>
        </p:txBody>
      </p:sp>
      <p:sp>
        <p:nvSpPr>
          <p:cNvPr id="572" name="Google Shape;572;p27"/>
          <p:cNvSpPr txBox="1"/>
          <p:nvPr/>
        </p:nvSpPr>
        <p:spPr>
          <a:xfrm>
            <a:off x="4375404" y="2377439"/>
            <a:ext cx="39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4768596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4951476" y="1344168"/>
            <a:ext cx="548700" cy="5487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Text_FFFFFF.png" id="575" name="Google Shape;57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663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7"/>
          <p:cNvSpPr txBox="1"/>
          <p:nvPr/>
        </p:nvSpPr>
        <p:spPr>
          <a:xfrm>
            <a:off x="5637276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SPEC-DRIVEN</a:t>
            </a:r>
            <a:endParaRPr/>
          </a:p>
        </p:txBody>
      </p:sp>
      <p:sp>
        <p:nvSpPr>
          <p:cNvPr id="577" name="Google Shape;577;p27"/>
          <p:cNvSpPr txBox="1"/>
          <p:nvPr/>
        </p:nvSpPr>
        <p:spPr>
          <a:xfrm>
            <a:off x="5637276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Requisito primeiro</a:t>
            </a:r>
            <a:endParaRPr/>
          </a:p>
        </p:txBody>
      </p:sp>
      <p:sp>
        <p:nvSpPr>
          <p:cNvPr id="578" name="Google Shape;578;p27"/>
          <p:cNvSpPr txBox="1"/>
          <p:nvPr/>
        </p:nvSpPr>
        <p:spPr>
          <a:xfrm>
            <a:off x="5042916" y="2148840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Começa com</a:t>
            </a:r>
            <a:endParaRPr/>
          </a:p>
        </p:txBody>
      </p:sp>
      <p:sp>
        <p:nvSpPr>
          <p:cNvPr id="579" name="Google Shape;579;p27"/>
          <p:cNvSpPr txBox="1"/>
          <p:nvPr/>
        </p:nvSpPr>
        <p:spPr>
          <a:xfrm>
            <a:off x="6460236" y="2148840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requisitos revisados</a:t>
            </a:r>
            <a:endParaRPr/>
          </a:p>
        </p:txBody>
      </p:sp>
      <p:sp>
        <p:nvSpPr>
          <p:cNvPr id="580" name="Google Shape;580;p27"/>
          <p:cNvSpPr txBox="1"/>
          <p:nvPr/>
        </p:nvSpPr>
        <p:spPr>
          <a:xfrm>
            <a:off x="5042916" y="2487168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Contexto</a:t>
            </a:r>
            <a:endParaRPr/>
          </a:p>
        </p:txBody>
      </p:sp>
      <p:sp>
        <p:nvSpPr>
          <p:cNvPr id="581" name="Google Shape;581;p27"/>
          <p:cNvSpPr txBox="1"/>
          <p:nvPr/>
        </p:nvSpPr>
        <p:spPr>
          <a:xfrm>
            <a:off x="6460236" y="2487168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steering e spec no repo</a:t>
            </a:r>
            <a:endParaRPr/>
          </a:p>
        </p:txBody>
      </p:sp>
      <p:sp>
        <p:nvSpPr>
          <p:cNvPr id="582" name="Google Shape;582;p27"/>
          <p:cNvSpPr txBox="1"/>
          <p:nvPr/>
        </p:nvSpPr>
        <p:spPr>
          <a:xfrm>
            <a:off x="5042916" y="2825496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Revisão</a:t>
            </a:r>
            <a:endParaRPr/>
          </a:p>
        </p:txBody>
      </p:sp>
      <p:sp>
        <p:nvSpPr>
          <p:cNvPr id="583" name="Google Shape;583;p27"/>
          <p:cNvSpPr txBox="1"/>
          <p:nvPr/>
        </p:nvSpPr>
        <p:spPr>
          <a:xfrm>
            <a:off x="6460236" y="2825496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em cada fase</a:t>
            </a:r>
            <a:endParaRPr/>
          </a:p>
        </p:txBody>
      </p:sp>
      <p:sp>
        <p:nvSpPr>
          <p:cNvPr id="584" name="Google Shape;584;p27"/>
          <p:cNvSpPr txBox="1"/>
          <p:nvPr/>
        </p:nvSpPr>
        <p:spPr>
          <a:xfrm>
            <a:off x="5042916" y="3163824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Registro</a:t>
            </a:r>
            <a:endParaRPr/>
          </a:p>
        </p:txBody>
      </p:sp>
      <p:sp>
        <p:nvSpPr>
          <p:cNvPr id="585" name="Google Shape;585;p27"/>
          <p:cNvSpPr txBox="1"/>
          <p:nvPr/>
        </p:nvSpPr>
        <p:spPr>
          <a:xfrm>
            <a:off x="6460236" y="3163824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arquivos versionados</a:t>
            </a:r>
            <a:endParaRPr/>
          </a:p>
        </p:txBody>
      </p:sp>
      <p:sp>
        <p:nvSpPr>
          <p:cNvPr id="586" name="Google Shape;586;p27"/>
          <p:cNvSpPr txBox="1"/>
          <p:nvPr/>
        </p:nvSpPr>
        <p:spPr>
          <a:xfrm>
            <a:off x="5042916" y="3502152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Serve para</a:t>
            </a:r>
            <a:endParaRPr/>
          </a:p>
        </p:txBody>
      </p:sp>
      <p:sp>
        <p:nvSpPr>
          <p:cNvPr id="587" name="Google Shape;587;p27"/>
          <p:cNvSpPr txBox="1"/>
          <p:nvPr/>
        </p:nvSpPr>
        <p:spPr>
          <a:xfrm>
            <a:off x="6460236" y="3502152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código que vai durar</a:t>
            </a: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323697" y="4069080"/>
            <a:ext cx="8496600" cy="640200"/>
          </a:xfrm>
          <a:prstGeom prst="roundRect">
            <a:avLst>
              <a:gd fmla="val 2285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506577" y="416052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FFFFFF.png" id="590" name="Google Shape;59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733" y="4265676"/>
            <a:ext cx="246887" cy="246887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7"/>
          <p:cNvSpPr txBox="1"/>
          <p:nvPr/>
        </p:nvSpPr>
        <p:spPr>
          <a:xfrm>
            <a:off x="1192377" y="4069080"/>
            <a:ext cx="739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Mesma IA, processo diferente: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que muda é quando o humano revisa.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8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SPEC-DRIVEN DEVELOPMENT</a:t>
            </a:r>
            <a:endParaRPr/>
          </a:p>
        </p:txBody>
      </p:sp>
      <p:sp>
        <p:nvSpPr>
          <p:cNvPr id="597" name="Google Shape;597;p28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598" name="Google Shape;598;p28"/>
          <p:cNvSpPr/>
          <p:nvPr/>
        </p:nvSpPr>
        <p:spPr>
          <a:xfrm>
            <a:off x="323697" y="1965960"/>
            <a:ext cx="1772400" cy="567000"/>
          </a:xfrm>
          <a:prstGeom prst="homePlate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 txBox="1"/>
          <p:nvPr/>
        </p:nvSpPr>
        <p:spPr>
          <a:xfrm>
            <a:off x="506577" y="196596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/>
          </a:p>
        </p:txBody>
      </p:sp>
      <p:sp>
        <p:nvSpPr>
          <p:cNvPr id="600" name="Google Shape;600;p28"/>
          <p:cNvSpPr/>
          <p:nvPr/>
        </p:nvSpPr>
        <p:spPr>
          <a:xfrm>
            <a:off x="899038" y="129844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C96A00.png" id="601" name="Google Shape;6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812" y="141622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8"/>
          <p:cNvSpPr txBox="1"/>
          <p:nvPr/>
        </p:nvSpPr>
        <p:spPr>
          <a:xfrm>
            <a:off x="396849" y="269748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Intenção</a:t>
            </a:r>
            <a:endParaRPr/>
          </a:p>
        </p:txBody>
      </p:sp>
      <p:sp>
        <p:nvSpPr>
          <p:cNvPr id="603" name="Google Shape;603;p28"/>
          <p:cNvSpPr txBox="1"/>
          <p:nvPr/>
        </p:nvSpPr>
        <p:spPr>
          <a:xfrm>
            <a:off x="415137" y="2990088"/>
            <a:ext cx="1479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que o usuário precisa</a:t>
            </a:r>
            <a:endParaRPr/>
          </a:p>
        </p:txBody>
      </p:sp>
      <p:sp>
        <p:nvSpPr>
          <p:cNvPr id="604" name="Google Shape;604;p28"/>
          <p:cNvSpPr/>
          <p:nvPr/>
        </p:nvSpPr>
        <p:spPr>
          <a:xfrm>
            <a:off x="2032162" y="1965960"/>
            <a:ext cx="1772400" cy="567000"/>
          </a:xfrm>
          <a:prstGeom prst="chevron">
            <a:avLst>
              <a:gd fmla="val 28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8"/>
          <p:cNvSpPr txBox="1"/>
          <p:nvPr/>
        </p:nvSpPr>
        <p:spPr>
          <a:xfrm>
            <a:off x="2215042" y="196596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/>
          </a:p>
        </p:txBody>
      </p:sp>
      <p:sp>
        <p:nvSpPr>
          <p:cNvPr id="606" name="Google Shape;606;p28"/>
          <p:cNvSpPr/>
          <p:nvPr/>
        </p:nvSpPr>
        <p:spPr>
          <a:xfrm>
            <a:off x="2607503" y="1298448"/>
            <a:ext cx="512100" cy="5121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Text_C71D81.png" id="607" name="Google Shape;60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5277" y="141622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8"/>
          <p:cNvSpPr txBox="1"/>
          <p:nvPr/>
        </p:nvSpPr>
        <p:spPr>
          <a:xfrm>
            <a:off x="2105314" y="269748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Requisitos</a:t>
            </a:r>
            <a:endParaRPr/>
          </a:p>
        </p:txBody>
      </p:sp>
      <p:sp>
        <p:nvSpPr>
          <p:cNvPr id="609" name="Google Shape;609;p28"/>
          <p:cNvSpPr txBox="1"/>
          <p:nvPr/>
        </p:nvSpPr>
        <p:spPr>
          <a:xfrm>
            <a:off x="2123602" y="2990088"/>
            <a:ext cx="1479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Critérios de aceite</a:t>
            </a:r>
            <a:endParaRPr/>
          </a:p>
        </p:txBody>
      </p:sp>
      <p:sp>
        <p:nvSpPr>
          <p:cNvPr id="610" name="Google Shape;610;p28"/>
          <p:cNvSpPr/>
          <p:nvPr/>
        </p:nvSpPr>
        <p:spPr>
          <a:xfrm>
            <a:off x="3740627" y="1965960"/>
            <a:ext cx="1772400" cy="567000"/>
          </a:xfrm>
          <a:prstGeom prst="chevron">
            <a:avLst>
              <a:gd fmla="val 28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8"/>
          <p:cNvSpPr txBox="1"/>
          <p:nvPr/>
        </p:nvSpPr>
        <p:spPr>
          <a:xfrm>
            <a:off x="3923507" y="196596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/>
          </a:p>
        </p:txBody>
      </p:sp>
      <p:sp>
        <p:nvSpPr>
          <p:cNvPr id="612" name="Google Shape;612;p28"/>
          <p:cNvSpPr/>
          <p:nvPr/>
        </p:nvSpPr>
        <p:spPr>
          <a:xfrm>
            <a:off x="4315968" y="1298448"/>
            <a:ext cx="512100" cy="5121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_85228B.png" id="613" name="Google Shape;61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3742" y="141622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8"/>
          <p:cNvSpPr txBox="1"/>
          <p:nvPr/>
        </p:nvSpPr>
        <p:spPr>
          <a:xfrm>
            <a:off x="3813779" y="269748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Design</a:t>
            </a:r>
            <a:endParaRPr/>
          </a:p>
        </p:txBody>
      </p:sp>
      <p:sp>
        <p:nvSpPr>
          <p:cNvPr id="615" name="Google Shape;615;p28"/>
          <p:cNvSpPr txBox="1"/>
          <p:nvPr/>
        </p:nvSpPr>
        <p:spPr>
          <a:xfrm>
            <a:off x="3832067" y="2990088"/>
            <a:ext cx="1479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Arquitetura e interfaces</a:t>
            </a:r>
            <a:endParaRPr/>
          </a:p>
        </p:txBody>
      </p:sp>
      <p:sp>
        <p:nvSpPr>
          <p:cNvPr id="616" name="Google Shape;616;p28"/>
          <p:cNvSpPr/>
          <p:nvPr/>
        </p:nvSpPr>
        <p:spPr>
          <a:xfrm>
            <a:off x="5449092" y="1965960"/>
            <a:ext cx="1772400" cy="567000"/>
          </a:xfrm>
          <a:prstGeom prst="chevron">
            <a:avLst>
              <a:gd fmla="val 28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8"/>
          <p:cNvSpPr txBox="1"/>
          <p:nvPr/>
        </p:nvSpPr>
        <p:spPr>
          <a:xfrm>
            <a:off x="5631972" y="196596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/>
          </a:p>
        </p:txBody>
      </p:sp>
      <p:sp>
        <p:nvSpPr>
          <p:cNvPr id="618" name="Google Shape;618;p28"/>
          <p:cNvSpPr/>
          <p:nvPr/>
        </p:nvSpPr>
        <p:spPr>
          <a:xfrm>
            <a:off x="6024432" y="1298448"/>
            <a:ext cx="512100" cy="5121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0E1D8E.png" id="619" name="Google Shape;61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2207" y="141622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8"/>
          <p:cNvSpPr txBox="1"/>
          <p:nvPr/>
        </p:nvSpPr>
        <p:spPr>
          <a:xfrm>
            <a:off x="5522244" y="269748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Tarefas</a:t>
            </a:r>
            <a:endParaRPr/>
          </a:p>
        </p:txBody>
      </p:sp>
      <p:sp>
        <p:nvSpPr>
          <p:cNvPr id="621" name="Google Shape;621;p28"/>
          <p:cNvSpPr txBox="1"/>
          <p:nvPr/>
        </p:nvSpPr>
        <p:spPr>
          <a:xfrm>
            <a:off x="5540532" y="2990088"/>
            <a:ext cx="1479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Passos pequenos e testáveis</a:t>
            </a:r>
            <a:endParaRPr/>
          </a:p>
        </p:txBody>
      </p:sp>
      <p:sp>
        <p:nvSpPr>
          <p:cNvPr id="622" name="Google Shape;622;p28"/>
          <p:cNvSpPr/>
          <p:nvPr/>
        </p:nvSpPr>
        <p:spPr>
          <a:xfrm>
            <a:off x="7157557" y="1965960"/>
            <a:ext cx="1662600" cy="567000"/>
          </a:xfrm>
          <a:prstGeom prst="chevron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8"/>
          <p:cNvSpPr txBox="1"/>
          <p:nvPr/>
        </p:nvSpPr>
        <p:spPr>
          <a:xfrm>
            <a:off x="7340437" y="1965960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/>
          </a:p>
        </p:txBody>
      </p:sp>
      <p:sp>
        <p:nvSpPr>
          <p:cNvPr id="624" name="Google Shape;624;p28"/>
          <p:cNvSpPr/>
          <p:nvPr/>
        </p:nvSpPr>
        <p:spPr>
          <a:xfrm>
            <a:off x="7732897" y="129844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de_C96A00.png" id="625" name="Google Shape;62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0672" y="141622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8"/>
          <p:cNvSpPr txBox="1"/>
          <p:nvPr/>
        </p:nvSpPr>
        <p:spPr>
          <a:xfrm>
            <a:off x="7230709" y="269748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Código</a:t>
            </a:r>
            <a:endParaRPr/>
          </a:p>
        </p:txBody>
      </p:sp>
      <p:sp>
        <p:nvSpPr>
          <p:cNvPr id="627" name="Google Shape;627;p28"/>
          <p:cNvSpPr txBox="1"/>
          <p:nvPr/>
        </p:nvSpPr>
        <p:spPr>
          <a:xfrm>
            <a:off x="7248997" y="2990088"/>
            <a:ext cx="1479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Implementação com testes</a:t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323697" y="3794760"/>
            <a:ext cx="8496600" cy="868800"/>
          </a:xfrm>
          <a:prstGeom prst="roundRect">
            <a:avLst>
              <a:gd fmla="val 16842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506577" y="400050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Round_FFFFFF.png" id="630" name="Google Shape;630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1733" y="41056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28"/>
          <p:cNvSpPr txBox="1"/>
          <p:nvPr/>
        </p:nvSpPr>
        <p:spPr>
          <a:xfrm>
            <a:off x="1192377" y="3794760"/>
            <a:ext cx="7399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Regra do jogo: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no ciclo AI-DLC da AWS, a IA propõe cada fase e o humano aprova antes de seguir.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9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 HISTÓRIA DO KIRO</a:t>
            </a:r>
            <a:endParaRPr/>
          </a:p>
        </p:txBody>
      </p:sp>
      <p:sp>
        <p:nvSpPr>
          <p:cNvPr id="637" name="Google Shape;637;p29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 preview em 2025 a família de produtos em 2026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0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KIRO EM UM SLIDE</a:t>
            </a:r>
            <a:endParaRPr/>
          </a:p>
        </p:txBody>
      </p:sp>
      <p:sp>
        <p:nvSpPr>
          <p:cNvPr id="643" name="Google Shape;643;p3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644" name="Google Shape;644;p30"/>
          <p:cNvSpPr/>
          <p:nvPr/>
        </p:nvSpPr>
        <p:spPr>
          <a:xfrm>
            <a:off x="323697" y="1188720"/>
            <a:ext cx="3291900" cy="3520500"/>
          </a:xfrm>
          <a:prstGeom prst="roundRect">
            <a:avLst>
              <a:gd fmla="val 4444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iro-02.png" id="645" name="Google Shape;645;p30"/>
          <p:cNvPicPr preferRelativeResize="0"/>
          <p:nvPr/>
        </p:nvPicPr>
        <p:blipFill rotWithShape="1">
          <a:blip r:embed="rId3">
            <a:alphaModFix/>
          </a:blip>
          <a:srcRect b="0" l="8284" r="9371" t="0"/>
          <a:stretch/>
        </p:blipFill>
        <p:spPr>
          <a:xfrm>
            <a:off x="1466697" y="1554480"/>
            <a:ext cx="978837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0"/>
          <p:cNvSpPr txBox="1"/>
          <p:nvPr/>
        </p:nvSpPr>
        <p:spPr>
          <a:xfrm>
            <a:off x="323697" y="2926080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Kiro</a:t>
            </a:r>
            <a:endParaRPr/>
          </a:p>
        </p:txBody>
      </p:sp>
      <p:sp>
        <p:nvSpPr>
          <p:cNvPr id="647" name="Google Shape;647;p30"/>
          <p:cNvSpPr txBox="1"/>
          <p:nvPr/>
        </p:nvSpPr>
        <p:spPr>
          <a:xfrm>
            <a:off x="598017" y="3383280"/>
            <a:ext cx="2743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D9D9DE"/>
                </a:solidFill>
                <a:latin typeface="Lexend"/>
                <a:ea typeface="Lexend"/>
                <a:cs typeface="Lexend"/>
                <a:sym typeface="Lexend"/>
              </a:rPr>
              <a:t>IDE agêntica da AWS, sobre Code OSS e Amazon Bedrock</a:t>
            </a:r>
            <a:endParaRPr/>
          </a:p>
        </p:txBody>
      </p:sp>
      <p:sp>
        <p:nvSpPr>
          <p:cNvPr id="648" name="Google Shape;648;p30"/>
          <p:cNvSpPr/>
          <p:nvPr/>
        </p:nvSpPr>
        <p:spPr>
          <a:xfrm>
            <a:off x="3931920" y="120700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Text_85228B.png" id="649" name="Google Shape;64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8107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30"/>
          <p:cNvSpPr txBox="1"/>
          <p:nvPr/>
        </p:nvSpPr>
        <p:spPr>
          <a:xfrm>
            <a:off x="4645152" y="1207008"/>
            <a:ext cx="415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SPECS</a:t>
            </a:r>
            <a:endParaRPr/>
          </a:p>
        </p:txBody>
      </p:sp>
      <p:sp>
        <p:nvSpPr>
          <p:cNvPr id="651" name="Google Shape;651;p30"/>
          <p:cNvSpPr txBox="1"/>
          <p:nvPr/>
        </p:nvSpPr>
        <p:spPr>
          <a:xfrm>
            <a:off x="4645152" y="1444752"/>
            <a:ext cx="415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Requisitos, design e tarefas antes do código</a:t>
            </a:r>
            <a:endParaRPr/>
          </a:p>
        </p:txBody>
      </p:sp>
      <p:sp>
        <p:nvSpPr>
          <p:cNvPr id="652" name="Google Shape;652;p30"/>
          <p:cNvSpPr/>
          <p:nvPr/>
        </p:nvSpPr>
        <p:spPr>
          <a:xfrm>
            <a:off x="3931920" y="207568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85228B.png" id="653" name="Google Shape;65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8107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0"/>
          <p:cNvSpPr txBox="1"/>
          <p:nvPr/>
        </p:nvSpPr>
        <p:spPr>
          <a:xfrm>
            <a:off x="4645152" y="2075688"/>
            <a:ext cx="415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STEERING</a:t>
            </a:r>
            <a:endParaRPr/>
          </a:p>
        </p:txBody>
      </p:sp>
      <p:sp>
        <p:nvSpPr>
          <p:cNvPr id="655" name="Google Shape;655;p30"/>
          <p:cNvSpPr txBox="1"/>
          <p:nvPr/>
        </p:nvSpPr>
        <p:spPr>
          <a:xfrm>
            <a:off x="4645152" y="2313432"/>
            <a:ext cx="415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Contexto permanente sobre o projeto</a:t>
            </a:r>
            <a:endParaRPr/>
          </a:p>
        </p:txBody>
      </p:sp>
      <p:sp>
        <p:nvSpPr>
          <p:cNvPr id="656" name="Google Shape;656;p30"/>
          <p:cNvSpPr/>
          <p:nvPr/>
        </p:nvSpPr>
        <p:spPr>
          <a:xfrm>
            <a:off x="3931920" y="294436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ap_85228B.png" id="657" name="Google Shape;65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8107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0"/>
          <p:cNvSpPr txBox="1"/>
          <p:nvPr/>
        </p:nvSpPr>
        <p:spPr>
          <a:xfrm>
            <a:off x="4645152" y="2944368"/>
            <a:ext cx="415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HOOKS</a:t>
            </a:r>
            <a:endParaRPr/>
          </a:p>
        </p:txBody>
      </p:sp>
      <p:sp>
        <p:nvSpPr>
          <p:cNvPr id="659" name="Google Shape;659;p30"/>
          <p:cNvSpPr txBox="1"/>
          <p:nvPr/>
        </p:nvSpPr>
        <p:spPr>
          <a:xfrm>
            <a:off x="4645152" y="3182112"/>
            <a:ext cx="415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Automação disparada por eventos</a:t>
            </a:r>
            <a:endParaRPr/>
          </a:p>
        </p:txBody>
      </p:sp>
      <p:sp>
        <p:nvSpPr>
          <p:cNvPr id="660" name="Google Shape;660;p30"/>
          <p:cNvSpPr/>
          <p:nvPr/>
        </p:nvSpPr>
        <p:spPr>
          <a:xfrm>
            <a:off x="3931920" y="381304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lug_85228B.png" id="661" name="Google Shape;66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8107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0"/>
          <p:cNvSpPr txBox="1"/>
          <p:nvPr/>
        </p:nvSpPr>
        <p:spPr>
          <a:xfrm>
            <a:off x="4645152" y="3813047"/>
            <a:ext cx="415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MCP E SKILLS</a:t>
            </a:r>
            <a:endParaRPr/>
          </a:p>
        </p:txBody>
      </p:sp>
      <p:sp>
        <p:nvSpPr>
          <p:cNvPr id="663" name="Google Shape;663;p30"/>
          <p:cNvSpPr txBox="1"/>
          <p:nvPr/>
        </p:nvSpPr>
        <p:spPr>
          <a:xfrm>
            <a:off x="4645152" y="4050791"/>
            <a:ext cx="415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Ferramentas e fluxos carregados sob demanda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1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POR QUE O KIRO EXISTE</a:t>
            </a:r>
            <a:endParaRPr/>
          </a:p>
        </p:txBody>
      </p:sp>
      <p:sp>
        <p:nvSpPr>
          <p:cNvPr id="669" name="Google Shape;669;p31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670" name="Google Shape;670;p31"/>
          <p:cNvSpPr/>
          <p:nvPr/>
        </p:nvSpPr>
        <p:spPr>
          <a:xfrm>
            <a:off x="323697" y="1188720"/>
            <a:ext cx="8496600" cy="960000"/>
          </a:xfrm>
          <a:prstGeom prst="roundRect">
            <a:avLst>
              <a:gd fmla="val 13333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323697" y="1188720"/>
            <a:ext cx="822900" cy="960000"/>
          </a:xfrm>
          <a:prstGeom prst="roundRect">
            <a:avLst>
              <a:gd fmla="val 15555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1"/>
          <p:cNvSpPr/>
          <p:nvPr/>
        </p:nvSpPr>
        <p:spPr>
          <a:xfrm>
            <a:off x="872337" y="1188720"/>
            <a:ext cx="274200" cy="960000"/>
          </a:xfrm>
          <a:prstGeom prst="roundRect">
            <a:avLst>
              <a:gd fmla="val 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1"/>
          <p:cNvSpPr txBox="1"/>
          <p:nvPr/>
        </p:nvSpPr>
        <p:spPr>
          <a:xfrm>
            <a:off x="323697" y="1188720"/>
            <a:ext cx="822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endParaRPr/>
          </a:p>
        </p:txBody>
      </p:sp>
      <p:sp>
        <p:nvSpPr>
          <p:cNvPr id="674" name="Google Shape;674;p31"/>
          <p:cNvSpPr txBox="1"/>
          <p:nvPr/>
        </p:nvSpPr>
        <p:spPr>
          <a:xfrm>
            <a:off x="1375257" y="1325880"/>
            <a:ext cx="7216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Como saber se o código faz de fato o que você especificou?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Anúncio do GA do Kiro, 17/11/2025 (tradução livre)</a:t>
            </a:r>
            <a:endParaRPr/>
          </a:p>
        </p:txBody>
      </p:sp>
      <p:sp>
        <p:nvSpPr>
          <p:cNvPr id="675" name="Google Shape;675;p31"/>
          <p:cNvSpPr/>
          <p:nvPr/>
        </p:nvSpPr>
        <p:spPr>
          <a:xfrm>
            <a:off x="323697" y="2377440"/>
            <a:ext cx="2649300" cy="2331600"/>
          </a:xfrm>
          <a:prstGeom prst="roundRect">
            <a:avLst>
              <a:gd fmla="val 6274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588873" y="2624328"/>
            <a:ext cx="603600" cy="6036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FFFFFF.png" id="677" name="Google Shape;67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679" y="276313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31"/>
          <p:cNvSpPr txBox="1"/>
          <p:nvPr/>
        </p:nvSpPr>
        <p:spPr>
          <a:xfrm>
            <a:off x="598017" y="3355848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SUPOSIÇÕES</a:t>
            </a:r>
            <a:endParaRPr/>
          </a:p>
        </p:txBody>
      </p:sp>
      <p:sp>
        <p:nvSpPr>
          <p:cNvPr id="679" name="Google Shape;679;p31"/>
          <p:cNvSpPr txBox="1"/>
          <p:nvPr/>
        </p:nvSpPr>
        <p:spPr>
          <a:xfrm>
            <a:off x="598017" y="3566160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Steering</a:t>
            </a:r>
            <a:endParaRPr/>
          </a:p>
        </p:txBody>
      </p:sp>
      <p:sp>
        <p:nvSpPr>
          <p:cNvPr id="680" name="Google Shape;680;p31"/>
          <p:cNvSpPr txBox="1"/>
          <p:nvPr/>
        </p:nvSpPr>
        <p:spPr>
          <a:xfrm>
            <a:off x="598017" y="3913632"/>
            <a:ext cx="2146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que o time dá por certo vira arquivo que o agente sempre lê.</a:t>
            </a:r>
            <a:endParaRPr/>
          </a:p>
        </p:txBody>
      </p:sp>
      <p:sp>
        <p:nvSpPr>
          <p:cNvPr id="681" name="Google Shape;681;p31"/>
          <p:cNvSpPr/>
          <p:nvPr/>
        </p:nvSpPr>
        <p:spPr>
          <a:xfrm>
            <a:off x="3247339" y="2377440"/>
            <a:ext cx="2649300" cy="2331600"/>
          </a:xfrm>
          <a:prstGeom prst="roundRect">
            <a:avLst>
              <a:gd fmla="val 6274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3512515" y="2624328"/>
            <a:ext cx="603600" cy="6036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Text_FFFFFF.png" id="683" name="Google Shape;68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321" y="276313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1"/>
          <p:cNvSpPr txBox="1"/>
          <p:nvPr/>
        </p:nvSpPr>
        <p:spPr>
          <a:xfrm>
            <a:off x="3521659" y="3355848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REQUISITOS VAGOS</a:t>
            </a:r>
            <a:endParaRPr/>
          </a:p>
        </p:txBody>
      </p:sp>
      <p:sp>
        <p:nvSpPr>
          <p:cNvPr id="685" name="Google Shape;685;p31"/>
          <p:cNvSpPr txBox="1"/>
          <p:nvPr/>
        </p:nvSpPr>
        <p:spPr>
          <a:xfrm>
            <a:off x="3521659" y="3566160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requirements.md</a:t>
            </a:r>
            <a:endParaRPr/>
          </a:p>
        </p:txBody>
      </p:sp>
      <p:sp>
        <p:nvSpPr>
          <p:cNvPr id="686" name="Google Shape;686;p31"/>
          <p:cNvSpPr txBox="1"/>
          <p:nvPr/>
        </p:nvSpPr>
        <p:spPr>
          <a:xfrm>
            <a:off x="3521659" y="3913632"/>
            <a:ext cx="2146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Critérios de aceite escritos e aprovados antes do código.</a:t>
            </a:r>
            <a:endParaRPr/>
          </a:p>
        </p:txBody>
      </p:sp>
      <p:sp>
        <p:nvSpPr>
          <p:cNvPr id="687" name="Google Shape;687;p31"/>
          <p:cNvSpPr/>
          <p:nvPr/>
        </p:nvSpPr>
        <p:spPr>
          <a:xfrm>
            <a:off x="6170980" y="2377440"/>
            <a:ext cx="2649300" cy="2331600"/>
          </a:xfrm>
          <a:prstGeom prst="roundRect">
            <a:avLst>
              <a:gd fmla="val 6274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1"/>
          <p:cNvSpPr/>
          <p:nvPr/>
        </p:nvSpPr>
        <p:spPr>
          <a:xfrm>
            <a:off x="6436156" y="2624328"/>
            <a:ext cx="603600" cy="6036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_FFFFFF.png" id="689" name="Google Shape;68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962" y="276313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31"/>
          <p:cNvSpPr txBox="1"/>
          <p:nvPr/>
        </p:nvSpPr>
        <p:spPr>
          <a:xfrm>
            <a:off x="6445300" y="3355848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DECISÕES SOLTAS</a:t>
            </a:r>
            <a:endParaRPr/>
          </a:p>
        </p:txBody>
      </p:sp>
      <p:sp>
        <p:nvSpPr>
          <p:cNvPr id="691" name="Google Shape;691;p31"/>
          <p:cNvSpPr txBox="1"/>
          <p:nvPr/>
        </p:nvSpPr>
        <p:spPr>
          <a:xfrm>
            <a:off x="6445300" y="3566160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design.md</a:t>
            </a:r>
            <a:endParaRPr/>
          </a:p>
        </p:txBody>
      </p:sp>
      <p:sp>
        <p:nvSpPr>
          <p:cNvPr id="692" name="Google Shape;692;p31"/>
          <p:cNvSpPr txBox="1"/>
          <p:nvPr/>
        </p:nvSpPr>
        <p:spPr>
          <a:xfrm>
            <a:off x="6445300" y="3913632"/>
            <a:ext cx="2146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Arquitetura registrada e versionada junto com o código.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2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KIRO EM 2025</a:t>
            </a:r>
            <a:endParaRPr/>
          </a:p>
        </p:txBody>
      </p:sp>
      <p:sp>
        <p:nvSpPr>
          <p:cNvPr id="698" name="Google Shape;698;p32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cxnSp>
        <p:nvCxnSpPr>
          <p:cNvPr id="699" name="Google Shape;699;p32"/>
          <p:cNvCxnSpPr/>
          <p:nvPr/>
        </p:nvCxnSpPr>
        <p:spPr>
          <a:xfrm>
            <a:off x="460857" y="2944368"/>
            <a:ext cx="8222400" cy="0"/>
          </a:xfrm>
          <a:prstGeom prst="straightConnector1">
            <a:avLst/>
          </a:prstGeom>
          <a:noFill/>
          <a:ln cap="flat" cmpd="sng" w="19050">
            <a:solidFill>
              <a:srgbClr val="C9CAD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p32"/>
          <p:cNvSpPr/>
          <p:nvPr/>
        </p:nvSpPr>
        <p:spPr>
          <a:xfrm>
            <a:off x="460857" y="2761488"/>
            <a:ext cx="365700" cy="3657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2"/>
          <p:cNvSpPr/>
          <p:nvPr/>
        </p:nvSpPr>
        <p:spPr>
          <a:xfrm>
            <a:off x="552297" y="2852928"/>
            <a:ext cx="183000" cy="1830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2"/>
          <p:cNvSpPr txBox="1"/>
          <p:nvPr/>
        </p:nvSpPr>
        <p:spPr>
          <a:xfrm>
            <a:off x="-87782" y="32004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14 jul</a:t>
            </a:r>
            <a:endParaRPr/>
          </a:p>
        </p:txBody>
      </p:sp>
      <p:cxnSp>
        <p:nvCxnSpPr>
          <p:cNvPr id="703" name="Google Shape;703;p32"/>
          <p:cNvCxnSpPr/>
          <p:nvPr/>
        </p:nvCxnSpPr>
        <p:spPr>
          <a:xfrm rot="10800000">
            <a:off x="643737" y="237748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32"/>
          <p:cNvSpPr/>
          <p:nvPr/>
        </p:nvSpPr>
        <p:spPr>
          <a:xfrm>
            <a:off x="602589" y="2336292"/>
            <a:ext cx="82200" cy="82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2"/>
          <p:cNvSpPr txBox="1"/>
          <p:nvPr/>
        </p:nvSpPr>
        <p:spPr>
          <a:xfrm>
            <a:off x="323697" y="1481328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Preview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Specs, hooks, steering e MCP</a:t>
            </a:r>
            <a:endParaRPr/>
          </a:p>
        </p:txBody>
      </p:sp>
      <p:sp>
        <p:nvSpPr>
          <p:cNvPr id="706" name="Google Shape;706;p32"/>
          <p:cNvSpPr/>
          <p:nvPr/>
        </p:nvSpPr>
        <p:spPr>
          <a:xfrm>
            <a:off x="2424988" y="2761488"/>
            <a:ext cx="365700" cy="3657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2"/>
          <p:cNvSpPr/>
          <p:nvPr/>
        </p:nvSpPr>
        <p:spPr>
          <a:xfrm>
            <a:off x="2516428" y="2852928"/>
            <a:ext cx="183000" cy="1830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2"/>
          <p:cNvSpPr txBox="1"/>
          <p:nvPr/>
        </p:nvSpPr>
        <p:spPr>
          <a:xfrm>
            <a:off x="1876348" y="22860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1 out</a:t>
            </a:r>
            <a:endParaRPr/>
          </a:p>
        </p:txBody>
      </p:sp>
      <p:cxnSp>
        <p:nvCxnSpPr>
          <p:cNvPr id="709" name="Google Shape;709;p32"/>
          <p:cNvCxnSpPr/>
          <p:nvPr/>
        </p:nvCxnSpPr>
        <p:spPr>
          <a:xfrm>
            <a:off x="2607868" y="312724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p32"/>
          <p:cNvSpPr/>
          <p:nvPr/>
        </p:nvSpPr>
        <p:spPr>
          <a:xfrm>
            <a:off x="2566720" y="3470148"/>
            <a:ext cx="82200" cy="82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2"/>
          <p:cNvSpPr txBox="1"/>
          <p:nvPr/>
        </p:nvSpPr>
        <p:spPr>
          <a:xfrm>
            <a:off x="1784908" y="3602736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Planos e Auto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Créditos unificados e agente Auto</a:t>
            </a:r>
            <a:endParaRPr/>
          </a:p>
        </p:txBody>
      </p:sp>
      <p:sp>
        <p:nvSpPr>
          <p:cNvPr id="712" name="Google Shape;712;p32"/>
          <p:cNvSpPr/>
          <p:nvPr/>
        </p:nvSpPr>
        <p:spPr>
          <a:xfrm>
            <a:off x="4389120" y="2761488"/>
            <a:ext cx="365700" cy="365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2"/>
          <p:cNvSpPr/>
          <p:nvPr/>
        </p:nvSpPr>
        <p:spPr>
          <a:xfrm>
            <a:off x="4480560" y="2852928"/>
            <a:ext cx="183000" cy="1830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2"/>
          <p:cNvSpPr txBox="1"/>
          <p:nvPr/>
        </p:nvSpPr>
        <p:spPr>
          <a:xfrm>
            <a:off x="3840480" y="32004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17 nov</a:t>
            </a:r>
            <a:endParaRPr/>
          </a:p>
        </p:txBody>
      </p:sp>
      <p:cxnSp>
        <p:nvCxnSpPr>
          <p:cNvPr id="715" name="Google Shape;715;p32"/>
          <p:cNvCxnSpPr/>
          <p:nvPr/>
        </p:nvCxnSpPr>
        <p:spPr>
          <a:xfrm rot="10800000">
            <a:off x="4572000" y="237748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p32"/>
          <p:cNvSpPr/>
          <p:nvPr/>
        </p:nvSpPr>
        <p:spPr>
          <a:xfrm>
            <a:off x="4530852" y="2336292"/>
            <a:ext cx="82200" cy="82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2"/>
          <p:cNvSpPr txBox="1"/>
          <p:nvPr/>
        </p:nvSpPr>
        <p:spPr>
          <a:xfrm>
            <a:off x="3749039" y="1481328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CLI, testes por propriedade e times</a:t>
            </a:r>
            <a:endParaRPr/>
          </a:p>
        </p:txBody>
      </p:sp>
      <p:sp>
        <p:nvSpPr>
          <p:cNvPr id="718" name="Google Shape;718;p32"/>
          <p:cNvSpPr/>
          <p:nvPr/>
        </p:nvSpPr>
        <p:spPr>
          <a:xfrm>
            <a:off x="6353251" y="2761488"/>
            <a:ext cx="365700" cy="365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2"/>
          <p:cNvSpPr/>
          <p:nvPr/>
        </p:nvSpPr>
        <p:spPr>
          <a:xfrm>
            <a:off x="6444691" y="2852928"/>
            <a:ext cx="183000" cy="1830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2"/>
          <p:cNvSpPr txBox="1"/>
          <p:nvPr/>
        </p:nvSpPr>
        <p:spPr>
          <a:xfrm>
            <a:off x="5804611" y="22860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2 dez</a:t>
            </a:r>
            <a:endParaRPr/>
          </a:p>
        </p:txBody>
      </p:sp>
      <p:cxnSp>
        <p:nvCxnSpPr>
          <p:cNvPr id="721" name="Google Shape;721;p32"/>
          <p:cNvCxnSpPr/>
          <p:nvPr/>
        </p:nvCxnSpPr>
        <p:spPr>
          <a:xfrm>
            <a:off x="6536131" y="312724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2" name="Google Shape;722;p32"/>
          <p:cNvSpPr/>
          <p:nvPr/>
        </p:nvSpPr>
        <p:spPr>
          <a:xfrm>
            <a:off x="6494983" y="3470148"/>
            <a:ext cx="82200" cy="82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2"/>
          <p:cNvSpPr txBox="1"/>
          <p:nvPr/>
        </p:nvSpPr>
        <p:spPr>
          <a:xfrm>
            <a:off x="5713171" y="3602736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Autonomous agent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Agente com contexto persistente</a:t>
            </a:r>
            <a:endParaRPr/>
          </a:p>
        </p:txBody>
      </p:sp>
      <p:sp>
        <p:nvSpPr>
          <p:cNvPr id="724" name="Google Shape;724;p32"/>
          <p:cNvSpPr/>
          <p:nvPr/>
        </p:nvSpPr>
        <p:spPr>
          <a:xfrm>
            <a:off x="8317382" y="2761488"/>
            <a:ext cx="365700" cy="3657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2"/>
          <p:cNvSpPr/>
          <p:nvPr/>
        </p:nvSpPr>
        <p:spPr>
          <a:xfrm>
            <a:off x="8408822" y="2852928"/>
            <a:ext cx="183000" cy="1830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2"/>
          <p:cNvSpPr txBox="1"/>
          <p:nvPr/>
        </p:nvSpPr>
        <p:spPr>
          <a:xfrm>
            <a:off x="7768742" y="3200400"/>
            <a:ext cx="1463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3 dez</a:t>
            </a:r>
            <a:endParaRPr/>
          </a:p>
        </p:txBody>
      </p:sp>
      <p:cxnSp>
        <p:nvCxnSpPr>
          <p:cNvPr id="727" name="Google Shape;727;p32"/>
          <p:cNvCxnSpPr/>
          <p:nvPr/>
        </p:nvCxnSpPr>
        <p:spPr>
          <a:xfrm rot="10800000">
            <a:off x="8500262" y="2377488"/>
            <a:ext cx="0" cy="384000"/>
          </a:xfrm>
          <a:prstGeom prst="straightConnector1">
            <a:avLst/>
          </a:prstGeom>
          <a:noFill/>
          <a:ln cap="flat" cmpd="sng" w="15875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8" name="Google Shape;728;p32"/>
          <p:cNvSpPr/>
          <p:nvPr/>
        </p:nvSpPr>
        <p:spPr>
          <a:xfrm>
            <a:off x="8459114" y="2336292"/>
            <a:ext cx="82200" cy="82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2"/>
          <p:cNvSpPr txBox="1"/>
          <p:nvPr/>
        </p:nvSpPr>
        <p:spPr>
          <a:xfrm>
            <a:off x="7174382" y="1481328"/>
            <a:ext cx="164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Powers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MCP e steering sob demanda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3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QUE CHEGOU NO GA</a:t>
            </a:r>
            <a:endParaRPr/>
          </a:p>
        </p:txBody>
      </p:sp>
      <p:sp>
        <p:nvSpPr>
          <p:cNvPr id="735" name="Google Shape;735;p33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736" name="Google Shape;736;p33"/>
          <p:cNvSpPr/>
          <p:nvPr/>
        </p:nvSpPr>
        <p:spPr>
          <a:xfrm>
            <a:off x="323697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3"/>
          <p:cNvSpPr/>
          <p:nvPr/>
        </p:nvSpPr>
        <p:spPr>
          <a:xfrm>
            <a:off x="534009" y="1399032"/>
            <a:ext cx="585300" cy="5853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rminal_FFFFFF.png" id="738" name="Google Shape;73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609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33"/>
          <p:cNvSpPr txBox="1"/>
          <p:nvPr/>
        </p:nvSpPr>
        <p:spPr>
          <a:xfrm>
            <a:off x="1283817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TERMINAL</a:t>
            </a:r>
            <a:endParaRPr/>
          </a:p>
        </p:txBody>
      </p:sp>
      <p:sp>
        <p:nvSpPr>
          <p:cNvPr id="740" name="Google Shape;740;p33"/>
          <p:cNvSpPr txBox="1"/>
          <p:nvPr/>
        </p:nvSpPr>
        <p:spPr>
          <a:xfrm>
            <a:off x="1283817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Kiro CLI</a:t>
            </a:r>
            <a:endParaRPr/>
          </a:p>
        </p:txBody>
      </p:sp>
      <p:sp>
        <p:nvSpPr>
          <p:cNvPr id="741" name="Google Shape;741;p33"/>
          <p:cNvSpPr txBox="1"/>
          <p:nvPr/>
        </p:nvSpPr>
        <p:spPr>
          <a:xfrm>
            <a:off x="643737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PARA QUE SERVE</a:t>
            </a:r>
            <a:endParaRPr/>
          </a:p>
        </p:txBody>
      </p:sp>
      <p:sp>
        <p:nvSpPr>
          <p:cNvPr id="742" name="Google Shape;742;p33"/>
          <p:cNvSpPr txBox="1"/>
          <p:nvPr/>
        </p:nvSpPr>
        <p:spPr>
          <a:xfrm>
            <a:off x="643737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agente no terminal, com steering, MCP e custom agents.</a:t>
            </a:r>
            <a:endParaRPr/>
          </a:p>
        </p:txBody>
      </p:sp>
      <p:sp>
        <p:nvSpPr>
          <p:cNvPr id="743" name="Google Shape;743;p33"/>
          <p:cNvSpPr/>
          <p:nvPr/>
        </p:nvSpPr>
        <p:spPr>
          <a:xfrm>
            <a:off x="4768596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3"/>
          <p:cNvSpPr/>
          <p:nvPr/>
        </p:nvSpPr>
        <p:spPr>
          <a:xfrm>
            <a:off x="4978908" y="1399032"/>
            <a:ext cx="585300" cy="5853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laskConical_FFFFFF.png" id="745" name="Google Shape;74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3507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33"/>
          <p:cNvSpPr txBox="1"/>
          <p:nvPr/>
        </p:nvSpPr>
        <p:spPr>
          <a:xfrm>
            <a:off x="5728716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QUALIDADE</a:t>
            </a:r>
            <a:endParaRPr/>
          </a:p>
        </p:txBody>
      </p:sp>
      <p:sp>
        <p:nvSpPr>
          <p:cNvPr id="747" name="Google Shape;747;p33"/>
          <p:cNvSpPr txBox="1"/>
          <p:nvPr/>
        </p:nvSpPr>
        <p:spPr>
          <a:xfrm>
            <a:off x="5728716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Property-based testing</a:t>
            </a:r>
            <a:endParaRPr/>
          </a:p>
        </p:txBody>
      </p:sp>
      <p:sp>
        <p:nvSpPr>
          <p:cNvPr id="748" name="Google Shape;748;p33"/>
          <p:cNvSpPr txBox="1"/>
          <p:nvPr/>
        </p:nvSpPr>
        <p:spPr>
          <a:xfrm>
            <a:off x="5088636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PARA QUE SERVE</a:t>
            </a:r>
            <a:endParaRPr/>
          </a:p>
        </p:txBody>
      </p:sp>
      <p:sp>
        <p:nvSpPr>
          <p:cNvPr id="749" name="Google Shape;749;p33"/>
          <p:cNvSpPr txBox="1"/>
          <p:nvPr/>
        </p:nvSpPr>
        <p:spPr>
          <a:xfrm>
            <a:off x="5088636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Centenas de casos gerados a partir dos requisitos.</a:t>
            </a:r>
            <a:endParaRPr/>
          </a:p>
        </p:txBody>
      </p:sp>
      <p:sp>
        <p:nvSpPr>
          <p:cNvPr id="750" name="Google Shape;750;p33"/>
          <p:cNvSpPr/>
          <p:nvPr/>
        </p:nvSpPr>
        <p:spPr>
          <a:xfrm>
            <a:off x="323697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3"/>
          <p:cNvSpPr/>
          <p:nvPr/>
        </p:nvSpPr>
        <p:spPr>
          <a:xfrm>
            <a:off x="534009" y="3250692"/>
            <a:ext cx="585300" cy="5853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istory_FFFFFF.png" id="752" name="Google Shape;75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609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33"/>
          <p:cNvSpPr txBox="1"/>
          <p:nvPr/>
        </p:nvSpPr>
        <p:spPr>
          <a:xfrm>
            <a:off x="1283817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CONTROLE</a:t>
            </a:r>
            <a:endParaRPr/>
          </a:p>
        </p:txBody>
      </p:sp>
      <p:sp>
        <p:nvSpPr>
          <p:cNvPr id="754" name="Google Shape;754;p33"/>
          <p:cNvSpPr txBox="1"/>
          <p:nvPr/>
        </p:nvSpPr>
        <p:spPr>
          <a:xfrm>
            <a:off x="1283817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Checkpoints</a:t>
            </a:r>
            <a:endParaRPr/>
          </a:p>
        </p:txBody>
      </p:sp>
      <p:sp>
        <p:nvSpPr>
          <p:cNvPr id="755" name="Google Shape;755;p33"/>
          <p:cNvSpPr txBox="1"/>
          <p:nvPr/>
        </p:nvSpPr>
        <p:spPr>
          <a:xfrm>
            <a:off x="643737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PARA QUE SERVE</a:t>
            </a:r>
            <a:endParaRPr/>
          </a:p>
        </p:txBody>
      </p:sp>
      <p:sp>
        <p:nvSpPr>
          <p:cNvPr id="756" name="Google Shape;756;p33"/>
          <p:cNvSpPr txBox="1"/>
          <p:nvPr/>
        </p:nvSpPr>
        <p:spPr>
          <a:xfrm>
            <a:off x="643737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Voltar a execução do agente para um passo anterior.</a:t>
            </a:r>
            <a:endParaRPr/>
          </a:p>
        </p:txBody>
      </p:sp>
      <p:sp>
        <p:nvSpPr>
          <p:cNvPr id="757" name="Google Shape;757;p33"/>
          <p:cNvSpPr/>
          <p:nvPr/>
        </p:nvSpPr>
        <p:spPr>
          <a:xfrm>
            <a:off x="4768596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3"/>
          <p:cNvSpPr/>
          <p:nvPr/>
        </p:nvSpPr>
        <p:spPr>
          <a:xfrm>
            <a:off x="4978908" y="3250692"/>
            <a:ext cx="585300" cy="5853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uilding2_FFFFFF.png" id="759" name="Google Shape;75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13507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33"/>
          <p:cNvSpPr txBox="1"/>
          <p:nvPr/>
        </p:nvSpPr>
        <p:spPr>
          <a:xfrm>
            <a:off x="5728716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EMPRESAS</a:t>
            </a:r>
            <a:endParaRPr/>
          </a:p>
        </p:txBody>
      </p:sp>
      <p:sp>
        <p:nvSpPr>
          <p:cNvPr id="761" name="Google Shape;761;p33"/>
          <p:cNvSpPr txBox="1"/>
          <p:nvPr/>
        </p:nvSpPr>
        <p:spPr>
          <a:xfrm>
            <a:off x="5728716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Times e Identity Center</a:t>
            </a:r>
            <a:endParaRPr/>
          </a:p>
        </p:txBody>
      </p:sp>
      <p:sp>
        <p:nvSpPr>
          <p:cNvPr id="762" name="Google Shape;762;p33"/>
          <p:cNvSpPr txBox="1"/>
          <p:nvPr/>
        </p:nvSpPr>
        <p:spPr>
          <a:xfrm>
            <a:off x="5088636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PARA QUE SERVE</a:t>
            </a:r>
            <a:endParaRPr/>
          </a:p>
        </p:txBody>
      </p:sp>
      <p:sp>
        <p:nvSpPr>
          <p:cNvPr id="763" name="Google Shape;763;p33"/>
          <p:cNvSpPr txBox="1"/>
          <p:nvPr/>
        </p:nvSpPr>
        <p:spPr>
          <a:xfrm>
            <a:off x="5088636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Gestão central de acesso, cobrança e MCP.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4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KIRO EM 2026</a:t>
            </a:r>
            <a:endParaRPr/>
          </a:p>
        </p:txBody>
      </p:sp>
      <p:sp>
        <p:nvSpPr>
          <p:cNvPr id="769" name="Google Shape;769;p34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770" name="Google Shape;770;p34"/>
          <p:cNvSpPr/>
          <p:nvPr/>
        </p:nvSpPr>
        <p:spPr>
          <a:xfrm>
            <a:off x="6250838" y="1737360"/>
            <a:ext cx="2569500" cy="2569500"/>
          </a:xfrm>
          <a:prstGeom prst="blockArc">
            <a:avLst>
              <a:gd fmla="val 16200000" name="adj1"/>
              <a:gd fmla="val 5400000" name="adj2"/>
              <a:gd fmla="val 16370" name="adj3"/>
            </a:avLst>
          </a:prstGeom>
          <a:solidFill>
            <a:srgbClr val="E3E4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4"/>
          <p:cNvSpPr/>
          <p:nvPr/>
        </p:nvSpPr>
        <p:spPr>
          <a:xfrm>
            <a:off x="442569" y="1737360"/>
            <a:ext cx="2318700" cy="420600"/>
          </a:xfrm>
          <a:prstGeom prst="roundRect">
            <a:avLst>
              <a:gd fmla="val 17391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34"/>
          <p:cNvSpPr txBox="1"/>
          <p:nvPr/>
        </p:nvSpPr>
        <p:spPr>
          <a:xfrm>
            <a:off x="415137" y="1737360"/>
            <a:ext cx="2373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Jun 2026</a:t>
            </a:r>
            <a:endParaRPr/>
          </a:p>
        </p:txBody>
      </p:sp>
      <p:sp>
        <p:nvSpPr>
          <p:cNvPr id="773" name="Google Shape;773;p34"/>
          <p:cNvSpPr txBox="1"/>
          <p:nvPr/>
        </p:nvSpPr>
        <p:spPr>
          <a:xfrm>
            <a:off x="506577" y="2267712"/>
            <a:ext cx="21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IDE 1.0: permissões e custom agents</a:t>
            </a:r>
            <a:endParaRPr/>
          </a:p>
        </p:txBody>
      </p:sp>
      <p:sp>
        <p:nvSpPr>
          <p:cNvPr id="774" name="Google Shape;774;p34"/>
          <p:cNvSpPr/>
          <p:nvPr/>
        </p:nvSpPr>
        <p:spPr>
          <a:xfrm>
            <a:off x="1574444" y="2194560"/>
            <a:ext cx="54900" cy="549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4"/>
          <p:cNvSpPr/>
          <p:nvPr/>
        </p:nvSpPr>
        <p:spPr>
          <a:xfrm>
            <a:off x="2816047" y="1737360"/>
            <a:ext cx="2318700" cy="420600"/>
          </a:xfrm>
          <a:prstGeom prst="roundRect">
            <a:avLst>
              <a:gd fmla="val 17391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4"/>
          <p:cNvSpPr txBox="1"/>
          <p:nvPr/>
        </p:nvSpPr>
        <p:spPr>
          <a:xfrm>
            <a:off x="2788615" y="1737360"/>
            <a:ext cx="2373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Jun 2026</a:t>
            </a:r>
            <a:endParaRPr/>
          </a:p>
        </p:txBody>
      </p:sp>
      <p:sp>
        <p:nvSpPr>
          <p:cNvPr id="777" name="Google Shape;777;p34"/>
          <p:cNvSpPr txBox="1"/>
          <p:nvPr/>
        </p:nvSpPr>
        <p:spPr>
          <a:xfrm>
            <a:off x="2880055" y="2267712"/>
            <a:ext cx="21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Agent Focus: agentes em paralelo</a:t>
            </a:r>
            <a:endParaRPr/>
          </a:p>
        </p:txBody>
      </p:sp>
      <p:sp>
        <p:nvSpPr>
          <p:cNvPr id="778" name="Google Shape;778;p34"/>
          <p:cNvSpPr/>
          <p:nvPr/>
        </p:nvSpPr>
        <p:spPr>
          <a:xfrm>
            <a:off x="3947922" y="2194560"/>
            <a:ext cx="54900" cy="549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4"/>
          <p:cNvSpPr/>
          <p:nvPr/>
        </p:nvSpPr>
        <p:spPr>
          <a:xfrm>
            <a:off x="5189524" y="1737360"/>
            <a:ext cx="2318700" cy="420600"/>
          </a:xfrm>
          <a:prstGeom prst="roundRect">
            <a:avLst>
              <a:gd fmla="val 17391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4"/>
          <p:cNvSpPr txBox="1"/>
          <p:nvPr/>
        </p:nvSpPr>
        <p:spPr>
          <a:xfrm>
            <a:off x="5162092" y="1737360"/>
            <a:ext cx="2373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Ago 2026</a:t>
            </a:r>
            <a:endParaRPr/>
          </a:p>
        </p:txBody>
      </p:sp>
      <p:sp>
        <p:nvSpPr>
          <p:cNvPr id="781" name="Google Shape;781;p34"/>
          <p:cNvSpPr txBox="1"/>
          <p:nvPr/>
        </p:nvSpPr>
        <p:spPr>
          <a:xfrm>
            <a:off x="5253532" y="2267712"/>
            <a:ext cx="21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Kiro Crew open source</a:t>
            </a:r>
            <a:endParaRPr/>
          </a:p>
        </p:txBody>
      </p:sp>
      <p:sp>
        <p:nvSpPr>
          <p:cNvPr id="782" name="Google Shape;782;p34"/>
          <p:cNvSpPr/>
          <p:nvPr/>
        </p:nvSpPr>
        <p:spPr>
          <a:xfrm>
            <a:off x="6321399" y="2194560"/>
            <a:ext cx="54900" cy="549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4"/>
          <p:cNvSpPr/>
          <p:nvPr/>
        </p:nvSpPr>
        <p:spPr>
          <a:xfrm>
            <a:off x="5189524" y="3886200"/>
            <a:ext cx="2318700" cy="420600"/>
          </a:xfrm>
          <a:prstGeom prst="roundRect">
            <a:avLst>
              <a:gd fmla="val 17391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4"/>
          <p:cNvSpPr txBox="1"/>
          <p:nvPr/>
        </p:nvSpPr>
        <p:spPr>
          <a:xfrm>
            <a:off x="5162092" y="3886200"/>
            <a:ext cx="2373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Set 2026</a:t>
            </a:r>
            <a:endParaRPr/>
          </a:p>
        </p:txBody>
      </p:sp>
      <p:sp>
        <p:nvSpPr>
          <p:cNvPr id="785" name="Google Shape;785;p34"/>
          <p:cNvSpPr txBox="1"/>
          <p:nvPr/>
        </p:nvSpPr>
        <p:spPr>
          <a:xfrm>
            <a:off x="5253532" y="3319272"/>
            <a:ext cx="21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Kiro Web disponível para todos</a:t>
            </a:r>
            <a:endParaRPr/>
          </a:p>
        </p:txBody>
      </p:sp>
      <p:sp>
        <p:nvSpPr>
          <p:cNvPr id="786" name="Google Shape;786;p34"/>
          <p:cNvSpPr/>
          <p:nvPr/>
        </p:nvSpPr>
        <p:spPr>
          <a:xfrm>
            <a:off x="6321399" y="3794760"/>
            <a:ext cx="54900" cy="549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4"/>
          <p:cNvSpPr/>
          <p:nvPr/>
        </p:nvSpPr>
        <p:spPr>
          <a:xfrm>
            <a:off x="2816047" y="3886200"/>
            <a:ext cx="2318700" cy="420600"/>
          </a:xfrm>
          <a:prstGeom prst="roundRect">
            <a:avLst>
              <a:gd fmla="val 17391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4"/>
          <p:cNvSpPr txBox="1"/>
          <p:nvPr/>
        </p:nvSpPr>
        <p:spPr>
          <a:xfrm>
            <a:off x="2788615" y="3886200"/>
            <a:ext cx="2373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Set 2026</a:t>
            </a:r>
            <a:endParaRPr/>
          </a:p>
        </p:txBody>
      </p:sp>
      <p:sp>
        <p:nvSpPr>
          <p:cNvPr id="789" name="Google Shape;789;p34"/>
          <p:cNvSpPr txBox="1"/>
          <p:nvPr/>
        </p:nvSpPr>
        <p:spPr>
          <a:xfrm>
            <a:off x="2880055" y="3319272"/>
            <a:ext cx="21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Certificação ISO 27001</a:t>
            </a:r>
            <a:endParaRPr/>
          </a:p>
        </p:txBody>
      </p:sp>
      <p:sp>
        <p:nvSpPr>
          <p:cNvPr id="790" name="Google Shape;790;p34"/>
          <p:cNvSpPr/>
          <p:nvPr/>
        </p:nvSpPr>
        <p:spPr>
          <a:xfrm>
            <a:off x="3947922" y="3794760"/>
            <a:ext cx="54900" cy="549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4"/>
          <p:cNvSpPr/>
          <p:nvPr/>
        </p:nvSpPr>
        <p:spPr>
          <a:xfrm>
            <a:off x="442569" y="3886200"/>
            <a:ext cx="2318700" cy="420600"/>
          </a:xfrm>
          <a:prstGeom prst="roundRect">
            <a:avLst>
              <a:gd fmla="val 17391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4"/>
          <p:cNvSpPr txBox="1"/>
          <p:nvPr/>
        </p:nvSpPr>
        <p:spPr>
          <a:xfrm>
            <a:off x="415137" y="3886200"/>
            <a:ext cx="2373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Set 2026</a:t>
            </a:r>
            <a:endParaRPr/>
          </a:p>
        </p:txBody>
      </p:sp>
      <p:sp>
        <p:nvSpPr>
          <p:cNvPr id="793" name="Google Shape;793;p34"/>
          <p:cNvSpPr txBox="1"/>
          <p:nvPr/>
        </p:nvSpPr>
        <p:spPr>
          <a:xfrm>
            <a:off x="506577" y="3319272"/>
            <a:ext cx="21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IDE 1.1: artefatos do agente</a:t>
            </a:r>
            <a:endParaRPr/>
          </a:p>
        </p:txBody>
      </p:sp>
      <p:sp>
        <p:nvSpPr>
          <p:cNvPr id="794" name="Google Shape;794;p34"/>
          <p:cNvSpPr/>
          <p:nvPr/>
        </p:nvSpPr>
        <p:spPr>
          <a:xfrm>
            <a:off x="1574444" y="3794760"/>
            <a:ext cx="54900" cy="549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 FAMÍLIA KIRO HOJE</a:t>
            </a:r>
            <a:endParaRPr/>
          </a:p>
        </p:txBody>
      </p:sp>
      <p:sp>
        <p:nvSpPr>
          <p:cNvPr id="800" name="Google Shape;800;p3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801" name="Google Shape;801;p35"/>
          <p:cNvSpPr/>
          <p:nvPr/>
        </p:nvSpPr>
        <p:spPr>
          <a:xfrm>
            <a:off x="3680460" y="2052828"/>
            <a:ext cx="1783200" cy="17832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35"/>
          <p:cNvSpPr/>
          <p:nvPr/>
        </p:nvSpPr>
        <p:spPr>
          <a:xfrm>
            <a:off x="3771900" y="2144268"/>
            <a:ext cx="1600200" cy="1600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35"/>
          <p:cNvSpPr txBox="1"/>
          <p:nvPr/>
        </p:nvSpPr>
        <p:spPr>
          <a:xfrm>
            <a:off x="3881628" y="2144268"/>
            <a:ext cx="1380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KIRO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specs no centro</a:t>
            </a:r>
            <a:endParaRPr/>
          </a:p>
        </p:txBody>
      </p:sp>
      <p:cxnSp>
        <p:nvCxnSpPr>
          <p:cNvPr id="804" name="Google Shape;804;p35"/>
          <p:cNvCxnSpPr/>
          <p:nvPr/>
        </p:nvCxnSpPr>
        <p:spPr>
          <a:xfrm rot="10800000">
            <a:off x="3249907" y="1344233"/>
            <a:ext cx="692400" cy="969000"/>
          </a:xfrm>
          <a:prstGeom prst="straightConnector1">
            <a:avLst/>
          </a:prstGeom>
          <a:noFill/>
          <a:ln cap="flat" cmpd="sng" w="15875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5" name="Google Shape;805;p35"/>
          <p:cNvSpPr/>
          <p:nvPr/>
        </p:nvSpPr>
        <p:spPr>
          <a:xfrm>
            <a:off x="2719425" y="1088136"/>
            <a:ext cx="512100" cy="5121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nitor_FFFFFF.png" id="806" name="Google Shape;80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7200" y="1205910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35"/>
          <p:cNvSpPr txBox="1"/>
          <p:nvPr/>
        </p:nvSpPr>
        <p:spPr>
          <a:xfrm>
            <a:off x="323697" y="1014984"/>
            <a:ext cx="2331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IDE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Onde faremos o workshop</a:t>
            </a:r>
            <a:endParaRPr/>
          </a:p>
        </p:txBody>
      </p:sp>
      <p:cxnSp>
        <p:nvCxnSpPr>
          <p:cNvPr id="808" name="Google Shape;808;p35"/>
          <p:cNvCxnSpPr/>
          <p:nvPr/>
        </p:nvCxnSpPr>
        <p:spPr>
          <a:xfrm rot="10800000">
            <a:off x="3249660" y="2944368"/>
            <a:ext cx="430800" cy="0"/>
          </a:xfrm>
          <a:prstGeom prst="straightConnector1">
            <a:avLst/>
          </a:prstGeom>
          <a:noFill/>
          <a:ln cap="flat" cmpd="sng" w="15875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p35"/>
          <p:cNvSpPr/>
          <p:nvPr/>
        </p:nvSpPr>
        <p:spPr>
          <a:xfrm>
            <a:off x="2719425" y="2688336"/>
            <a:ext cx="512100" cy="5121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rminal_FFFFFF.png" id="810" name="Google Shape;81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7200" y="2806110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35"/>
          <p:cNvSpPr txBox="1"/>
          <p:nvPr/>
        </p:nvSpPr>
        <p:spPr>
          <a:xfrm>
            <a:off x="323697" y="2615184"/>
            <a:ext cx="2331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CLI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kiro-cli no terminal e no CI</a:t>
            </a:r>
            <a:endParaRPr/>
          </a:p>
        </p:txBody>
      </p:sp>
      <p:cxnSp>
        <p:nvCxnSpPr>
          <p:cNvPr id="812" name="Google Shape;812;p35"/>
          <p:cNvCxnSpPr/>
          <p:nvPr/>
        </p:nvCxnSpPr>
        <p:spPr>
          <a:xfrm flipH="1">
            <a:off x="3249907" y="3575502"/>
            <a:ext cx="692400" cy="969000"/>
          </a:xfrm>
          <a:prstGeom prst="straightConnector1">
            <a:avLst/>
          </a:prstGeom>
          <a:noFill/>
          <a:ln cap="flat" cmpd="sng" w="15875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3" name="Google Shape;813;p35"/>
          <p:cNvSpPr/>
          <p:nvPr/>
        </p:nvSpPr>
        <p:spPr>
          <a:xfrm>
            <a:off x="2719425" y="4288536"/>
            <a:ext cx="512100" cy="5121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lobe_FFFFFF.png" id="814" name="Google Shape;81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7200" y="4406310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35"/>
          <p:cNvSpPr txBox="1"/>
          <p:nvPr/>
        </p:nvSpPr>
        <p:spPr>
          <a:xfrm>
            <a:off x="323697" y="4215384"/>
            <a:ext cx="2331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Web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Delegar tarefas no navegador</a:t>
            </a:r>
            <a:endParaRPr/>
          </a:p>
        </p:txBody>
      </p:sp>
      <p:cxnSp>
        <p:nvCxnSpPr>
          <p:cNvPr id="816" name="Google Shape;816;p35"/>
          <p:cNvCxnSpPr/>
          <p:nvPr/>
        </p:nvCxnSpPr>
        <p:spPr>
          <a:xfrm flipH="1" rot="10800000">
            <a:off x="5201692" y="1344233"/>
            <a:ext cx="692400" cy="969000"/>
          </a:xfrm>
          <a:prstGeom prst="straightConnector1">
            <a:avLst/>
          </a:prstGeom>
          <a:noFill/>
          <a:ln cap="flat" cmpd="sng" w="15875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7" name="Google Shape;817;p35"/>
          <p:cNvSpPr/>
          <p:nvPr/>
        </p:nvSpPr>
        <p:spPr>
          <a:xfrm>
            <a:off x="5912510" y="1088136"/>
            <a:ext cx="512100" cy="5121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_FFFFFF.png" id="818" name="Google Shape;81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0285" y="1205910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35"/>
          <p:cNvSpPr txBox="1"/>
          <p:nvPr/>
        </p:nvSpPr>
        <p:spPr>
          <a:xfrm>
            <a:off x="6488582" y="1014984"/>
            <a:ext cx="2331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Crew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Workspace de agentes open source</a:t>
            </a:r>
            <a:endParaRPr/>
          </a:p>
        </p:txBody>
      </p:sp>
      <p:cxnSp>
        <p:nvCxnSpPr>
          <p:cNvPr id="820" name="Google Shape;820;p35"/>
          <p:cNvCxnSpPr/>
          <p:nvPr/>
        </p:nvCxnSpPr>
        <p:spPr>
          <a:xfrm>
            <a:off x="5463540" y="2944368"/>
            <a:ext cx="430800" cy="0"/>
          </a:xfrm>
          <a:prstGeom prst="straightConnector1">
            <a:avLst/>
          </a:prstGeom>
          <a:noFill/>
          <a:ln cap="flat" cmpd="sng" w="15875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1" name="Google Shape;821;p35"/>
          <p:cNvSpPr/>
          <p:nvPr/>
        </p:nvSpPr>
        <p:spPr>
          <a:xfrm>
            <a:off x="5912510" y="2688336"/>
            <a:ext cx="512100" cy="5121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lug_FFFFFF.png" id="822" name="Google Shape;822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30285" y="2806110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35"/>
          <p:cNvSpPr txBox="1"/>
          <p:nvPr/>
        </p:nvSpPr>
        <p:spPr>
          <a:xfrm>
            <a:off x="6488582" y="2615184"/>
            <a:ext cx="2331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Powers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Pacotes de MCP e steering</a:t>
            </a:r>
            <a:endParaRPr/>
          </a:p>
        </p:txBody>
      </p:sp>
      <p:cxnSp>
        <p:nvCxnSpPr>
          <p:cNvPr id="824" name="Google Shape;824;p35"/>
          <p:cNvCxnSpPr/>
          <p:nvPr/>
        </p:nvCxnSpPr>
        <p:spPr>
          <a:xfrm>
            <a:off x="5201692" y="3575502"/>
            <a:ext cx="692400" cy="969000"/>
          </a:xfrm>
          <a:prstGeom prst="straightConnector1">
            <a:avLst/>
          </a:prstGeom>
          <a:noFill/>
          <a:ln cap="flat" cmpd="sng" w="15875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p35"/>
          <p:cNvSpPr/>
          <p:nvPr/>
        </p:nvSpPr>
        <p:spPr>
          <a:xfrm>
            <a:off x="5912510" y="4288536"/>
            <a:ext cx="512100" cy="5121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FFFFFF.png" id="826" name="Google Shape;826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0285" y="4406310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35"/>
          <p:cNvSpPr txBox="1"/>
          <p:nvPr/>
        </p:nvSpPr>
        <p:spPr>
          <a:xfrm>
            <a:off x="6488582" y="4215384"/>
            <a:ext cx="2331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Skills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Instruções e scripts reutilizáveis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6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HANDS-ON 1: STEERING E MCP</a:t>
            </a:r>
            <a:endParaRPr/>
          </a:p>
        </p:txBody>
      </p:sp>
      <p:sp>
        <p:nvSpPr>
          <p:cNvPr id="833" name="Google Shape;833;p36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Kiro por dentro, contexto do projeto e documentação oficial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7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ANATOMIA DO REPOSITÓRIO</a:t>
            </a:r>
            <a:endParaRPr/>
          </a:p>
        </p:txBody>
      </p:sp>
      <p:sp>
        <p:nvSpPr>
          <p:cNvPr id="839" name="Google Shape;839;p37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840" name="Google Shape;840;p37"/>
          <p:cNvSpPr txBox="1"/>
          <p:nvPr/>
        </p:nvSpPr>
        <p:spPr>
          <a:xfrm>
            <a:off x="323697" y="1188720"/>
            <a:ext cx="406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TEMPLATE </a:t>
            </a:r>
            <a:r>
              <a:rPr b="1" lang="pt-BR" sz="800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RECOMENDADO PARA O</a:t>
            </a:r>
            <a:r>
              <a:rPr b="1" i="0" lang="pt-BR" sz="8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 WORKSHOP</a:t>
            </a:r>
            <a:endParaRPr/>
          </a:p>
        </p:txBody>
      </p:sp>
      <p:sp>
        <p:nvSpPr>
          <p:cNvPr id="841" name="Google Shape;841;p37"/>
          <p:cNvSpPr/>
          <p:nvPr/>
        </p:nvSpPr>
        <p:spPr>
          <a:xfrm>
            <a:off x="323697" y="1417320"/>
            <a:ext cx="4069200" cy="3291900"/>
          </a:xfrm>
          <a:prstGeom prst="roundRect">
            <a:avLst>
              <a:gd fmla="val 3333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7"/>
          <p:cNvSpPr txBox="1"/>
          <p:nvPr/>
        </p:nvSpPr>
        <p:spPr>
          <a:xfrm>
            <a:off x="506577" y="1563624"/>
            <a:ext cx="37032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workshop-arquiteturas-kiro/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.kiro/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steering/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│   │   └── guia-visual-aws.md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skills/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│   │   ├── gerador-arquitetura/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│   │   └── gerador-slides/ (tarde)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specs/validador-arquitetura/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hooks/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settings/mcp.json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renderizador/   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icones/        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arquitetura/    validador.py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arquiteturas/   caso.yaml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└── casos/ slides/ tests/ saida/</a:t>
            </a:r>
            <a:endParaRPr b="1"/>
          </a:p>
        </p:txBody>
      </p:sp>
      <p:sp>
        <p:nvSpPr>
          <p:cNvPr id="843" name="Google Shape;843;p37"/>
          <p:cNvSpPr/>
          <p:nvPr/>
        </p:nvSpPr>
        <p:spPr>
          <a:xfrm>
            <a:off x="4709160" y="120700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0E1D8E.png" id="844" name="Google Shape;84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5347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37"/>
          <p:cNvSpPr txBox="1"/>
          <p:nvPr/>
        </p:nvSpPr>
        <p:spPr>
          <a:xfrm>
            <a:off x="5422392" y="1207008"/>
            <a:ext cx="337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STEERING/</a:t>
            </a:r>
            <a:endParaRPr/>
          </a:p>
        </p:txBody>
      </p:sp>
      <p:sp>
        <p:nvSpPr>
          <p:cNvPr id="846" name="Google Shape;846;p37"/>
          <p:cNvSpPr txBox="1"/>
          <p:nvPr/>
        </p:nvSpPr>
        <p:spPr>
          <a:xfrm>
            <a:off x="5422392" y="1444752"/>
            <a:ext cx="337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Contexto que o agente sempre lê</a:t>
            </a:r>
            <a:endParaRPr/>
          </a:p>
        </p:txBody>
      </p:sp>
      <p:sp>
        <p:nvSpPr>
          <p:cNvPr id="847" name="Google Shape;847;p37"/>
          <p:cNvSpPr/>
          <p:nvPr/>
        </p:nvSpPr>
        <p:spPr>
          <a:xfrm>
            <a:off x="4709160" y="207568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0E1D8E.png" id="848" name="Google Shape;84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347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37"/>
          <p:cNvSpPr txBox="1"/>
          <p:nvPr/>
        </p:nvSpPr>
        <p:spPr>
          <a:xfrm>
            <a:off x="5422392" y="2075688"/>
            <a:ext cx="337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SKILLS/</a:t>
            </a:r>
            <a:endParaRPr/>
          </a:p>
        </p:txBody>
      </p:sp>
      <p:sp>
        <p:nvSpPr>
          <p:cNvPr id="850" name="Google Shape;850;p37"/>
          <p:cNvSpPr txBox="1"/>
          <p:nvPr/>
        </p:nvSpPr>
        <p:spPr>
          <a:xfrm>
            <a:off x="5422392" y="2313432"/>
            <a:ext cx="337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Fluxos reutilizáveis com scripts</a:t>
            </a:r>
            <a:endParaRPr/>
          </a:p>
        </p:txBody>
      </p:sp>
      <p:sp>
        <p:nvSpPr>
          <p:cNvPr id="851" name="Google Shape;851;p37"/>
          <p:cNvSpPr/>
          <p:nvPr/>
        </p:nvSpPr>
        <p:spPr>
          <a:xfrm>
            <a:off x="4709160" y="294436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ap_0E1D8E.png" id="852" name="Google Shape;85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5347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37"/>
          <p:cNvSpPr txBox="1"/>
          <p:nvPr/>
        </p:nvSpPr>
        <p:spPr>
          <a:xfrm>
            <a:off x="5422392" y="2944368"/>
            <a:ext cx="337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HOOKS/</a:t>
            </a:r>
            <a:endParaRPr/>
          </a:p>
        </p:txBody>
      </p:sp>
      <p:sp>
        <p:nvSpPr>
          <p:cNvPr id="854" name="Google Shape;854;p37"/>
          <p:cNvSpPr txBox="1"/>
          <p:nvPr/>
        </p:nvSpPr>
        <p:spPr>
          <a:xfrm>
            <a:off x="5422392" y="3182112"/>
            <a:ext cx="337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Automações em JSON por evento</a:t>
            </a:r>
            <a:endParaRPr/>
          </a:p>
        </p:txBody>
      </p:sp>
      <p:sp>
        <p:nvSpPr>
          <p:cNvPr id="855" name="Google Shape;855;p37"/>
          <p:cNvSpPr/>
          <p:nvPr/>
        </p:nvSpPr>
        <p:spPr>
          <a:xfrm>
            <a:off x="4709160" y="381304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lug_0E1D8E.png" id="856" name="Google Shape;85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5347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37"/>
          <p:cNvSpPr txBox="1"/>
          <p:nvPr/>
        </p:nvSpPr>
        <p:spPr>
          <a:xfrm>
            <a:off x="5422392" y="3813047"/>
            <a:ext cx="337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SETTINGS/MCP.JSON</a:t>
            </a:r>
            <a:endParaRPr/>
          </a:p>
        </p:txBody>
      </p:sp>
      <p:sp>
        <p:nvSpPr>
          <p:cNvPr id="858" name="Google Shape;858;p37"/>
          <p:cNvSpPr txBox="1"/>
          <p:nvPr/>
        </p:nvSpPr>
        <p:spPr>
          <a:xfrm>
            <a:off x="5422392" y="4050791"/>
            <a:ext cx="3379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Documentação oficial da AWS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8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ONDE O KIRO SE ENCAIXA</a:t>
            </a:r>
            <a:endParaRPr/>
          </a:p>
        </p:txBody>
      </p:sp>
      <p:sp>
        <p:nvSpPr>
          <p:cNvPr id="864" name="Google Shape;864;p38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pic>
        <p:nvPicPr>
          <p:cNvPr descr="gerador-no-lab-crop.png" id="865" name="Google Shape;86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697" y="1024128"/>
            <a:ext cx="8496602" cy="33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38"/>
          <p:cNvSpPr/>
          <p:nvPr/>
        </p:nvSpPr>
        <p:spPr>
          <a:xfrm>
            <a:off x="323697" y="4434840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8"/>
          <p:cNvSpPr txBox="1"/>
          <p:nvPr/>
        </p:nvSpPr>
        <p:spPr>
          <a:xfrm>
            <a:off x="323697" y="443484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868" name="Google Shape;868;p38"/>
          <p:cNvSpPr txBox="1"/>
          <p:nvPr/>
        </p:nvSpPr>
        <p:spPr>
          <a:xfrm>
            <a:off x="634593" y="4434840"/>
            <a:ext cx="105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Pedido</a:t>
            </a:r>
            <a:endParaRPr/>
          </a:p>
        </p:txBody>
      </p:sp>
      <p:sp>
        <p:nvSpPr>
          <p:cNvPr id="869" name="Google Shape;869;p38"/>
          <p:cNvSpPr/>
          <p:nvPr/>
        </p:nvSpPr>
        <p:spPr>
          <a:xfrm>
            <a:off x="1739798" y="4434840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8"/>
          <p:cNvSpPr txBox="1"/>
          <p:nvPr/>
        </p:nvSpPr>
        <p:spPr>
          <a:xfrm>
            <a:off x="1739798" y="443484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871" name="Google Shape;871;p38"/>
          <p:cNvSpPr txBox="1"/>
          <p:nvPr/>
        </p:nvSpPr>
        <p:spPr>
          <a:xfrm>
            <a:off x="2050694" y="4434840"/>
            <a:ext cx="105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Contexto</a:t>
            </a:r>
            <a:endParaRPr/>
          </a:p>
        </p:txBody>
      </p:sp>
      <p:sp>
        <p:nvSpPr>
          <p:cNvPr id="872" name="Google Shape;872;p38"/>
          <p:cNvSpPr/>
          <p:nvPr/>
        </p:nvSpPr>
        <p:spPr>
          <a:xfrm>
            <a:off x="3155899" y="4434840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8"/>
          <p:cNvSpPr txBox="1"/>
          <p:nvPr/>
        </p:nvSpPr>
        <p:spPr>
          <a:xfrm>
            <a:off x="3155899" y="443484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874" name="Google Shape;874;p38"/>
          <p:cNvSpPr txBox="1"/>
          <p:nvPr/>
        </p:nvSpPr>
        <p:spPr>
          <a:xfrm>
            <a:off x="3466795" y="4434840"/>
            <a:ext cx="105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Consulta docs</a:t>
            </a:r>
            <a:endParaRPr/>
          </a:p>
        </p:txBody>
      </p:sp>
      <p:sp>
        <p:nvSpPr>
          <p:cNvPr id="875" name="Google Shape;875;p38"/>
          <p:cNvSpPr/>
          <p:nvPr/>
        </p:nvSpPr>
        <p:spPr>
          <a:xfrm>
            <a:off x="4572000" y="4434840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8"/>
          <p:cNvSpPr txBox="1"/>
          <p:nvPr/>
        </p:nvSpPr>
        <p:spPr>
          <a:xfrm>
            <a:off x="4572000" y="443484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877" name="Google Shape;877;p38"/>
          <p:cNvSpPr txBox="1"/>
          <p:nvPr/>
        </p:nvSpPr>
        <p:spPr>
          <a:xfrm>
            <a:off x="4882896" y="4434840"/>
            <a:ext cx="105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Escreve YAML</a:t>
            </a:r>
            <a:endParaRPr/>
          </a:p>
        </p:txBody>
      </p:sp>
      <p:sp>
        <p:nvSpPr>
          <p:cNvPr id="878" name="Google Shape;878;p38"/>
          <p:cNvSpPr/>
          <p:nvPr/>
        </p:nvSpPr>
        <p:spPr>
          <a:xfrm>
            <a:off x="5988100" y="4434840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8"/>
          <p:cNvSpPr txBox="1"/>
          <p:nvPr/>
        </p:nvSpPr>
        <p:spPr>
          <a:xfrm>
            <a:off x="5988100" y="443484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880" name="Google Shape;880;p38"/>
          <p:cNvSpPr txBox="1"/>
          <p:nvPr/>
        </p:nvSpPr>
        <p:spPr>
          <a:xfrm>
            <a:off x="6298996" y="4434840"/>
            <a:ext cx="105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Hook valida</a:t>
            </a:r>
            <a:endParaRPr/>
          </a:p>
        </p:txBody>
      </p:sp>
      <p:sp>
        <p:nvSpPr>
          <p:cNvPr id="881" name="Google Shape;881;p38"/>
          <p:cNvSpPr/>
          <p:nvPr/>
        </p:nvSpPr>
        <p:spPr>
          <a:xfrm>
            <a:off x="7404201" y="4434840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8"/>
          <p:cNvSpPr txBox="1"/>
          <p:nvPr/>
        </p:nvSpPr>
        <p:spPr>
          <a:xfrm>
            <a:off x="7404201" y="443484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/>
          </a:p>
        </p:txBody>
      </p:sp>
      <p:sp>
        <p:nvSpPr>
          <p:cNvPr id="883" name="Google Shape;883;p38"/>
          <p:cNvSpPr txBox="1"/>
          <p:nvPr/>
        </p:nvSpPr>
        <p:spPr>
          <a:xfrm>
            <a:off x="7715097" y="4434840"/>
            <a:ext cx="105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Push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9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STEERING</a:t>
            </a:r>
            <a:endParaRPr/>
          </a:p>
        </p:txBody>
      </p:sp>
      <p:sp>
        <p:nvSpPr>
          <p:cNvPr id="889" name="Google Shape;889;p39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890" name="Google Shape;890;p39"/>
          <p:cNvSpPr/>
          <p:nvPr/>
        </p:nvSpPr>
        <p:spPr>
          <a:xfrm>
            <a:off x="323697" y="1188720"/>
            <a:ext cx="2649300" cy="2514600"/>
          </a:xfrm>
          <a:prstGeom prst="roundRect">
            <a:avLst>
              <a:gd fmla="val 5818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9"/>
          <p:cNvSpPr/>
          <p:nvPr/>
        </p:nvSpPr>
        <p:spPr>
          <a:xfrm>
            <a:off x="588873" y="1435607"/>
            <a:ext cx="603600" cy="6036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_FFFFFF.png" id="892" name="Google Shape;8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679" y="157441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39"/>
          <p:cNvSpPr txBox="1"/>
          <p:nvPr/>
        </p:nvSpPr>
        <p:spPr>
          <a:xfrm>
            <a:off x="598017" y="2167128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PRODUCT.MD</a:t>
            </a:r>
            <a:endParaRPr/>
          </a:p>
        </p:txBody>
      </p:sp>
      <p:sp>
        <p:nvSpPr>
          <p:cNvPr id="894" name="Google Shape;894;p39"/>
          <p:cNvSpPr txBox="1"/>
          <p:nvPr/>
        </p:nvSpPr>
        <p:spPr>
          <a:xfrm>
            <a:off x="598017" y="2377440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O quê e para quem</a:t>
            </a:r>
            <a:endParaRPr/>
          </a:p>
        </p:txBody>
      </p:sp>
      <p:sp>
        <p:nvSpPr>
          <p:cNvPr id="895" name="Google Shape;895;p39"/>
          <p:cNvSpPr txBox="1"/>
          <p:nvPr/>
        </p:nvSpPr>
        <p:spPr>
          <a:xfrm>
            <a:off x="598017" y="2724912"/>
            <a:ext cx="2146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Gerador de diagramas AWS para montar aulas.</a:t>
            </a:r>
            <a:endParaRPr/>
          </a:p>
        </p:txBody>
      </p:sp>
      <p:sp>
        <p:nvSpPr>
          <p:cNvPr id="896" name="Google Shape;896;p39"/>
          <p:cNvSpPr/>
          <p:nvPr/>
        </p:nvSpPr>
        <p:spPr>
          <a:xfrm>
            <a:off x="3247339" y="1188720"/>
            <a:ext cx="2649300" cy="2514600"/>
          </a:xfrm>
          <a:prstGeom prst="roundRect">
            <a:avLst>
              <a:gd fmla="val 5818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9"/>
          <p:cNvSpPr/>
          <p:nvPr/>
        </p:nvSpPr>
        <p:spPr>
          <a:xfrm>
            <a:off x="3512515" y="1435607"/>
            <a:ext cx="603600" cy="6036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pu_FFFFFF.png" id="898" name="Google Shape;89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321" y="157441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39"/>
          <p:cNvSpPr txBox="1"/>
          <p:nvPr/>
        </p:nvSpPr>
        <p:spPr>
          <a:xfrm>
            <a:off x="3521659" y="2167128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TECH.MD</a:t>
            </a:r>
            <a:endParaRPr/>
          </a:p>
        </p:txBody>
      </p:sp>
      <p:sp>
        <p:nvSpPr>
          <p:cNvPr id="900" name="Google Shape;900;p39"/>
          <p:cNvSpPr txBox="1"/>
          <p:nvPr/>
        </p:nvSpPr>
        <p:spPr>
          <a:xfrm>
            <a:off x="3521659" y="2377440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Com o quê</a:t>
            </a:r>
            <a:endParaRPr/>
          </a:p>
        </p:txBody>
      </p:sp>
      <p:sp>
        <p:nvSpPr>
          <p:cNvPr id="901" name="Google Shape;901;p39"/>
          <p:cNvSpPr txBox="1"/>
          <p:nvPr/>
        </p:nvSpPr>
        <p:spPr>
          <a:xfrm>
            <a:off x="3521659" y="2724912"/>
            <a:ext cx="2146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Python 3.11, pytest, Node.js só no renderizador.</a:t>
            </a:r>
            <a:endParaRPr/>
          </a:p>
        </p:txBody>
      </p:sp>
      <p:sp>
        <p:nvSpPr>
          <p:cNvPr id="902" name="Google Shape;902;p39"/>
          <p:cNvSpPr/>
          <p:nvPr/>
        </p:nvSpPr>
        <p:spPr>
          <a:xfrm>
            <a:off x="6170980" y="1188720"/>
            <a:ext cx="2649300" cy="2514600"/>
          </a:xfrm>
          <a:prstGeom prst="roundRect">
            <a:avLst>
              <a:gd fmla="val 5818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9"/>
          <p:cNvSpPr/>
          <p:nvPr/>
        </p:nvSpPr>
        <p:spPr>
          <a:xfrm>
            <a:off x="6436156" y="1435607"/>
            <a:ext cx="603600" cy="6036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uler_FFFFFF.png" id="904" name="Google Shape;90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962" y="157441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39"/>
          <p:cNvSpPr txBox="1"/>
          <p:nvPr/>
        </p:nvSpPr>
        <p:spPr>
          <a:xfrm>
            <a:off x="6445300" y="2167128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GUIA-VISUAL-AWS.MD</a:t>
            </a:r>
            <a:endParaRPr/>
          </a:p>
        </p:txBody>
      </p:sp>
      <p:sp>
        <p:nvSpPr>
          <p:cNvPr id="906" name="Google Shape;906;p39"/>
          <p:cNvSpPr txBox="1"/>
          <p:nvPr/>
        </p:nvSpPr>
        <p:spPr>
          <a:xfrm>
            <a:off x="6445300" y="2377440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Regras do desenho</a:t>
            </a:r>
            <a:endParaRPr/>
          </a:p>
        </p:txBody>
      </p:sp>
      <p:sp>
        <p:nvSpPr>
          <p:cNvPr id="907" name="Google Shape;907;p39"/>
          <p:cNvSpPr txBox="1"/>
          <p:nvPr/>
        </p:nvSpPr>
        <p:spPr>
          <a:xfrm>
            <a:off x="6445300" y="2724912"/>
            <a:ext cx="2146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Ícones oficiais, grupos, setas e rótulos.</a:t>
            </a:r>
            <a:endParaRPr/>
          </a:p>
        </p:txBody>
      </p:sp>
      <p:sp>
        <p:nvSpPr>
          <p:cNvPr id="908" name="Google Shape;908;p39"/>
          <p:cNvSpPr/>
          <p:nvPr/>
        </p:nvSpPr>
        <p:spPr>
          <a:xfrm>
            <a:off x="323697" y="3886200"/>
            <a:ext cx="8496600" cy="822900"/>
          </a:xfrm>
          <a:prstGeom prst="roundRect">
            <a:avLst>
              <a:gd fmla="val 17777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9"/>
          <p:cNvSpPr/>
          <p:nvPr/>
        </p:nvSpPr>
        <p:spPr>
          <a:xfrm>
            <a:off x="506577" y="4069080"/>
            <a:ext cx="457200" cy="457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Alert_FFFFFF.png" id="910" name="Google Shape;91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733" y="41742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39"/>
          <p:cNvSpPr txBox="1"/>
          <p:nvPr/>
        </p:nvSpPr>
        <p:spPr>
          <a:xfrm>
            <a:off x="1192377" y="3886200"/>
            <a:ext cx="7399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Onde fica: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.kiro/steering/ no projeto ou ~/.kiro/steering/ para todos os projetos. Nunca coloque segredos.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0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MCP: DOCUMENTAÇÃO AWS</a:t>
            </a:r>
            <a:endParaRPr/>
          </a:p>
        </p:txBody>
      </p:sp>
      <p:sp>
        <p:nvSpPr>
          <p:cNvPr id="917" name="Google Shape;917;p4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918" name="Google Shape;918;p40"/>
          <p:cNvSpPr txBox="1"/>
          <p:nvPr/>
        </p:nvSpPr>
        <p:spPr>
          <a:xfrm>
            <a:off x="323697" y="1188720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.kiro/settings/mcp.json</a:t>
            </a:r>
            <a:endParaRPr/>
          </a:p>
        </p:txBody>
      </p:sp>
      <p:sp>
        <p:nvSpPr>
          <p:cNvPr id="919" name="Google Shape;919;p40"/>
          <p:cNvSpPr/>
          <p:nvPr/>
        </p:nvSpPr>
        <p:spPr>
          <a:xfrm>
            <a:off x="323697" y="1417320"/>
            <a:ext cx="4206300" cy="2240400"/>
          </a:xfrm>
          <a:prstGeom prst="roundRect">
            <a:avLst>
              <a:gd fmla="val 4897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40"/>
          <p:cNvSpPr txBox="1"/>
          <p:nvPr/>
        </p:nvSpPr>
        <p:spPr>
          <a:xfrm>
            <a:off x="506577" y="1563624"/>
            <a:ext cx="38406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"mcpServers": {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"aws-knowledge-mcp-server": {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"url": "https://knowledge-mcp.global.api.aws",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"type": "http",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"disabled": false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/>
          </a:p>
        </p:txBody>
      </p:sp>
      <p:sp>
        <p:nvSpPr>
          <p:cNvPr id="921" name="Google Shape;921;p40"/>
          <p:cNvSpPr/>
          <p:nvPr/>
        </p:nvSpPr>
        <p:spPr>
          <a:xfrm>
            <a:off x="323697" y="3840480"/>
            <a:ext cx="4206300" cy="868800"/>
          </a:xfrm>
          <a:prstGeom prst="roundRect">
            <a:avLst>
              <a:gd fmla="val 16842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40"/>
          <p:cNvSpPr/>
          <p:nvPr/>
        </p:nvSpPr>
        <p:spPr>
          <a:xfrm>
            <a:off x="506577" y="4046220"/>
            <a:ext cx="457200" cy="457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Check_FFFFFF.png" id="923" name="Google Shape;9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733" y="415137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40"/>
          <p:cNvSpPr txBox="1"/>
          <p:nvPr/>
        </p:nvSpPr>
        <p:spPr>
          <a:xfrm>
            <a:off x="1192377" y="3840480"/>
            <a:ext cx="3108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Sem conta AWS: </a:t>
            </a: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remoto, só leitura e com limite de uso. Plano B: servidor local via uvx.</a:t>
            </a:r>
            <a:endParaRPr/>
          </a:p>
        </p:txBody>
      </p:sp>
      <p:sp>
        <p:nvSpPr>
          <p:cNvPr id="925" name="Google Shape;925;p40"/>
          <p:cNvSpPr/>
          <p:nvPr/>
        </p:nvSpPr>
        <p:spPr>
          <a:xfrm>
            <a:off x="4846320" y="1207008"/>
            <a:ext cx="548700" cy="5487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_C71D81.png" id="926" name="Google Shape;92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507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40"/>
          <p:cNvSpPr txBox="1"/>
          <p:nvPr/>
        </p:nvSpPr>
        <p:spPr>
          <a:xfrm>
            <a:off x="5559552" y="1207008"/>
            <a:ext cx="324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SEARCH_DOCUMENTATION</a:t>
            </a:r>
            <a:endParaRPr/>
          </a:p>
        </p:txBody>
      </p:sp>
      <p:sp>
        <p:nvSpPr>
          <p:cNvPr id="928" name="Google Shape;928;p40"/>
          <p:cNvSpPr txBox="1"/>
          <p:nvPr/>
        </p:nvSpPr>
        <p:spPr>
          <a:xfrm>
            <a:off x="5559552" y="1444752"/>
            <a:ext cx="324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Busca na documentação oficial</a:t>
            </a:r>
            <a:endParaRPr/>
          </a:p>
        </p:txBody>
      </p:sp>
      <p:sp>
        <p:nvSpPr>
          <p:cNvPr id="929" name="Google Shape;929;p40"/>
          <p:cNvSpPr/>
          <p:nvPr/>
        </p:nvSpPr>
        <p:spPr>
          <a:xfrm>
            <a:off x="4846320" y="2075688"/>
            <a:ext cx="548700" cy="5487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okOpen_C71D81.png" id="930" name="Google Shape;930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507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40"/>
          <p:cNvSpPr txBox="1"/>
          <p:nvPr/>
        </p:nvSpPr>
        <p:spPr>
          <a:xfrm>
            <a:off x="5559552" y="2075688"/>
            <a:ext cx="324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READ_DOCUMENTATION</a:t>
            </a:r>
            <a:endParaRPr/>
          </a:p>
        </p:txBody>
      </p:sp>
      <p:sp>
        <p:nvSpPr>
          <p:cNvPr id="932" name="Google Shape;932;p40"/>
          <p:cNvSpPr txBox="1"/>
          <p:nvPr/>
        </p:nvSpPr>
        <p:spPr>
          <a:xfrm>
            <a:off x="5559552" y="2313432"/>
            <a:ext cx="324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Lê a página em Markdown</a:t>
            </a:r>
            <a:endParaRPr/>
          </a:p>
        </p:txBody>
      </p:sp>
      <p:sp>
        <p:nvSpPr>
          <p:cNvPr id="933" name="Google Shape;933;p40"/>
          <p:cNvSpPr/>
          <p:nvPr/>
        </p:nvSpPr>
        <p:spPr>
          <a:xfrm>
            <a:off x="4846320" y="2944368"/>
            <a:ext cx="548700" cy="5487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pPin_C71D81.png" id="934" name="Google Shape;93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2507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40"/>
          <p:cNvSpPr txBox="1"/>
          <p:nvPr/>
        </p:nvSpPr>
        <p:spPr>
          <a:xfrm>
            <a:off x="5559552" y="2944368"/>
            <a:ext cx="324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GET_REGIONAL_AVAILABILITY</a:t>
            </a:r>
            <a:endParaRPr/>
          </a:p>
        </p:txBody>
      </p:sp>
      <p:sp>
        <p:nvSpPr>
          <p:cNvPr id="936" name="Google Shape;936;p40"/>
          <p:cNvSpPr txBox="1"/>
          <p:nvPr/>
        </p:nvSpPr>
        <p:spPr>
          <a:xfrm>
            <a:off x="5559552" y="3182112"/>
            <a:ext cx="324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serviço existe na região?</a:t>
            </a:r>
            <a:endParaRPr/>
          </a:p>
        </p:txBody>
      </p:sp>
      <p:sp>
        <p:nvSpPr>
          <p:cNvPr id="937" name="Google Shape;937;p40"/>
          <p:cNvSpPr/>
          <p:nvPr/>
        </p:nvSpPr>
        <p:spPr>
          <a:xfrm>
            <a:off x="4846320" y="3813048"/>
            <a:ext cx="548700" cy="5487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k_C71D81.png" id="938" name="Google Shape;938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2507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40"/>
          <p:cNvSpPr txBox="1"/>
          <p:nvPr/>
        </p:nvSpPr>
        <p:spPr>
          <a:xfrm>
            <a:off x="5559552" y="3813047"/>
            <a:ext cx="324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NA REVISÃO</a:t>
            </a:r>
            <a:endParaRPr/>
          </a:p>
        </p:txBody>
      </p:sp>
      <p:sp>
        <p:nvSpPr>
          <p:cNvPr id="940" name="Google Shape;940;p40"/>
          <p:cNvSpPr txBox="1"/>
          <p:nvPr/>
        </p:nvSpPr>
        <p:spPr>
          <a:xfrm>
            <a:off x="5559552" y="4050791"/>
            <a:ext cx="324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Toda afirmação com URL da fonte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1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HANDS-ON 1: ROTEIRO</a:t>
            </a:r>
            <a:endParaRPr/>
          </a:p>
        </p:txBody>
      </p:sp>
      <p:sp>
        <p:nvSpPr>
          <p:cNvPr id="946" name="Google Shape;946;p41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947" name="Google Shape;947;p41"/>
          <p:cNvSpPr/>
          <p:nvPr/>
        </p:nvSpPr>
        <p:spPr>
          <a:xfrm>
            <a:off x="323697" y="1188720"/>
            <a:ext cx="2263200" cy="255900"/>
          </a:xfrm>
          <a:prstGeom prst="roundRect">
            <a:avLst>
              <a:gd fmla="val 5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41"/>
          <p:cNvSpPr txBox="1"/>
          <p:nvPr/>
        </p:nvSpPr>
        <p:spPr>
          <a:xfrm>
            <a:off x="323697" y="1188720"/>
            <a:ext cx="226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09H59 ÀS 10H20  ·  EM GRUPO</a:t>
            </a:r>
            <a:endParaRPr/>
          </a:p>
        </p:txBody>
      </p:sp>
      <p:sp>
        <p:nvSpPr>
          <p:cNvPr id="949" name="Google Shape;949;p41"/>
          <p:cNvSpPr/>
          <p:nvPr/>
        </p:nvSpPr>
        <p:spPr>
          <a:xfrm>
            <a:off x="323697" y="1536192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41"/>
          <p:cNvSpPr/>
          <p:nvPr/>
        </p:nvSpPr>
        <p:spPr>
          <a:xfrm>
            <a:off x="460857" y="1673352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41"/>
          <p:cNvSpPr txBox="1"/>
          <p:nvPr/>
        </p:nvSpPr>
        <p:spPr>
          <a:xfrm>
            <a:off x="460857" y="1673352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RELATOR</a:t>
            </a:r>
            <a:endParaRPr/>
          </a:p>
        </p:txBody>
      </p:sp>
      <p:sp>
        <p:nvSpPr>
          <p:cNvPr id="952" name="Google Shape;952;p41"/>
          <p:cNvSpPr txBox="1"/>
          <p:nvPr/>
        </p:nvSpPr>
        <p:spPr>
          <a:xfrm>
            <a:off x="2061057" y="1536192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Cria o repo do grupo pelo template e escreve o rascunho do caso em YAML</a:t>
            </a:r>
            <a:endParaRPr/>
          </a:p>
        </p:txBody>
      </p:sp>
      <p:sp>
        <p:nvSpPr>
          <p:cNvPr id="953" name="Google Shape;953;p41"/>
          <p:cNvSpPr/>
          <p:nvPr/>
        </p:nvSpPr>
        <p:spPr>
          <a:xfrm>
            <a:off x="323697" y="2167128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41"/>
          <p:cNvSpPr/>
          <p:nvPr/>
        </p:nvSpPr>
        <p:spPr>
          <a:xfrm>
            <a:off x="460857" y="2304288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41"/>
          <p:cNvSpPr txBox="1"/>
          <p:nvPr/>
        </p:nvSpPr>
        <p:spPr>
          <a:xfrm>
            <a:off x="460857" y="2304288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GUARDIÃO</a:t>
            </a:r>
            <a:endParaRPr/>
          </a:p>
        </p:txBody>
      </p:sp>
      <p:sp>
        <p:nvSpPr>
          <p:cNvPr id="956" name="Google Shape;956;p41"/>
          <p:cNvSpPr txBox="1"/>
          <p:nvPr/>
        </p:nvSpPr>
        <p:spPr>
          <a:xfrm>
            <a:off x="2061057" y="2167128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Preenche product, tech e structure e cria o guia-visual-aws.md</a:t>
            </a:r>
            <a:endParaRPr/>
          </a:p>
        </p:txBody>
      </p:sp>
      <p:sp>
        <p:nvSpPr>
          <p:cNvPr id="957" name="Google Shape;957;p41"/>
          <p:cNvSpPr/>
          <p:nvPr/>
        </p:nvSpPr>
        <p:spPr>
          <a:xfrm>
            <a:off x="323697" y="2798063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1"/>
          <p:cNvSpPr/>
          <p:nvPr/>
        </p:nvSpPr>
        <p:spPr>
          <a:xfrm>
            <a:off x="460857" y="2935223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1"/>
          <p:cNvSpPr txBox="1"/>
          <p:nvPr/>
        </p:nvSpPr>
        <p:spPr>
          <a:xfrm>
            <a:off x="460857" y="2935223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PESQUISADOR</a:t>
            </a:r>
            <a:endParaRPr/>
          </a:p>
        </p:txBody>
      </p:sp>
      <p:sp>
        <p:nvSpPr>
          <p:cNvPr id="960" name="Google Shape;960;p41"/>
          <p:cNvSpPr txBox="1"/>
          <p:nvPr/>
        </p:nvSpPr>
        <p:spPr>
          <a:xfrm>
            <a:off x="2061057" y="2798063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Configura o mcp.json e confere se os serviços existem em us-east-1</a:t>
            </a:r>
            <a:endParaRPr/>
          </a:p>
        </p:txBody>
      </p:sp>
      <p:sp>
        <p:nvSpPr>
          <p:cNvPr id="961" name="Google Shape;961;p41"/>
          <p:cNvSpPr/>
          <p:nvPr/>
        </p:nvSpPr>
        <p:spPr>
          <a:xfrm>
            <a:off x="323697" y="3429000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41"/>
          <p:cNvSpPr/>
          <p:nvPr/>
        </p:nvSpPr>
        <p:spPr>
          <a:xfrm>
            <a:off x="460857" y="3566160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1"/>
          <p:cNvSpPr txBox="1"/>
          <p:nvPr/>
        </p:nvSpPr>
        <p:spPr>
          <a:xfrm>
            <a:off x="460857" y="3566160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DEV VALIDADOR</a:t>
            </a:r>
            <a:endParaRPr/>
          </a:p>
        </p:txBody>
      </p:sp>
      <p:sp>
        <p:nvSpPr>
          <p:cNvPr id="964" name="Google Shape;964;p41"/>
          <p:cNvSpPr txBox="1"/>
          <p:nvPr/>
        </p:nvSpPr>
        <p:spPr>
          <a:xfrm>
            <a:off x="2061057" y="3429000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Chat (vibe): função que confere se os ícones do YAML existem</a:t>
            </a:r>
            <a:endParaRPr/>
          </a:p>
        </p:txBody>
      </p:sp>
      <p:sp>
        <p:nvSpPr>
          <p:cNvPr id="965" name="Google Shape;965;p41"/>
          <p:cNvSpPr/>
          <p:nvPr/>
        </p:nvSpPr>
        <p:spPr>
          <a:xfrm>
            <a:off x="323697" y="4059935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41"/>
          <p:cNvSpPr/>
          <p:nvPr/>
        </p:nvSpPr>
        <p:spPr>
          <a:xfrm>
            <a:off x="460857" y="4197095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41"/>
          <p:cNvSpPr txBox="1"/>
          <p:nvPr/>
        </p:nvSpPr>
        <p:spPr>
          <a:xfrm>
            <a:off x="460857" y="4197095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DEV GERADOR</a:t>
            </a:r>
            <a:endParaRPr/>
          </a:p>
        </p:txBody>
      </p:sp>
      <p:sp>
        <p:nvSpPr>
          <p:cNvPr id="968" name="Google Shape;968;p41"/>
          <p:cNvSpPr txBox="1"/>
          <p:nvPr/>
        </p:nvSpPr>
        <p:spPr>
          <a:xfrm>
            <a:off x="2061057" y="4059935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Roda o renderizador com exemplo.yaml e revisa o código do colega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2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REVISÃO EM DUPLA</a:t>
            </a:r>
            <a:endParaRPr/>
          </a:p>
        </p:txBody>
      </p:sp>
      <p:sp>
        <p:nvSpPr>
          <p:cNvPr id="974" name="Google Shape;974;p42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975" name="Google Shape;975;p42"/>
          <p:cNvSpPr/>
          <p:nvPr/>
        </p:nvSpPr>
        <p:spPr>
          <a:xfrm>
            <a:off x="323697" y="118872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42"/>
          <p:cNvSpPr/>
          <p:nvPr/>
        </p:nvSpPr>
        <p:spPr>
          <a:xfrm>
            <a:off x="598017" y="173964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42"/>
          <p:cNvSpPr txBox="1"/>
          <p:nvPr/>
        </p:nvSpPr>
        <p:spPr>
          <a:xfrm>
            <a:off x="598017" y="173964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978" name="Google Shape;978;p42"/>
          <p:cNvSpPr txBox="1"/>
          <p:nvPr/>
        </p:nvSpPr>
        <p:spPr>
          <a:xfrm>
            <a:off x="1375257" y="118872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Acha o ícone certo?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"Bedrock" não pode casar com "Bedrock AgentCore".</a:t>
            </a:r>
            <a:endParaRPr/>
          </a:p>
        </p:txBody>
      </p:sp>
      <p:sp>
        <p:nvSpPr>
          <p:cNvPr id="979" name="Google Shape;979;p42"/>
          <p:cNvSpPr/>
          <p:nvPr/>
        </p:nvSpPr>
        <p:spPr>
          <a:xfrm>
            <a:off x="4709160" y="118872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42"/>
          <p:cNvSpPr/>
          <p:nvPr/>
        </p:nvSpPr>
        <p:spPr>
          <a:xfrm>
            <a:off x="4983480" y="173964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42"/>
          <p:cNvSpPr txBox="1"/>
          <p:nvPr/>
        </p:nvSpPr>
        <p:spPr>
          <a:xfrm>
            <a:off x="4983480" y="173964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982" name="Google Shape;982;p42"/>
          <p:cNvSpPr txBox="1"/>
          <p:nvPr/>
        </p:nvSpPr>
        <p:spPr>
          <a:xfrm>
            <a:off x="5760720" y="118872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 serviço inventado?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Retorna erro claro ou passa em silêncio?</a:t>
            </a:r>
            <a:endParaRPr/>
          </a:p>
        </p:txBody>
      </p:sp>
      <p:sp>
        <p:nvSpPr>
          <p:cNvPr id="983" name="Google Shape;983;p42"/>
          <p:cNvSpPr/>
          <p:nvPr/>
        </p:nvSpPr>
        <p:spPr>
          <a:xfrm>
            <a:off x="323697" y="304038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42"/>
          <p:cNvSpPr/>
          <p:nvPr/>
        </p:nvSpPr>
        <p:spPr>
          <a:xfrm>
            <a:off x="598017" y="359130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42"/>
          <p:cNvSpPr txBox="1"/>
          <p:nvPr/>
        </p:nvSpPr>
        <p:spPr>
          <a:xfrm>
            <a:off x="598017" y="359130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986" name="Google Shape;986;p42"/>
          <p:cNvSpPr txBox="1"/>
          <p:nvPr/>
        </p:nvSpPr>
        <p:spPr>
          <a:xfrm>
            <a:off x="1375257" y="304038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Lê só dentro de icones/?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Teste com "../README.md".</a:t>
            </a:r>
            <a:endParaRPr/>
          </a:p>
        </p:txBody>
      </p:sp>
      <p:sp>
        <p:nvSpPr>
          <p:cNvPr id="987" name="Google Shape;987;p42"/>
          <p:cNvSpPr/>
          <p:nvPr/>
        </p:nvSpPr>
        <p:spPr>
          <a:xfrm>
            <a:off x="4709160" y="304038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42"/>
          <p:cNvSpPr/>
          <p:nvPr/>
        </p:nvSpPr>
        <p:spPr>
          <a:xfrm>
            <a:off x="4983480" y="359130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42"/>
          <p:cNvSpPr txBox="1"/>
          <p:nvPr/>
        </p:nvSpPr>
        <p:spPr>
          <a:xfrm>
            <a:off x="4983480" y="359130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990" name="Google Shape;990;p42"/>
          <p:cNvSpPr txBox="1"/>
          <p:nvPr/>
        </p:nvSpPr>
        <p:spPr>
          <a:xfrm>
            <a:off x="5760720" y="304038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Importou algo estranho?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Todo import existe e é necessário?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3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INTERVALO</a:t>
            </a:r>
            <a:endParaRPr/>
          </a:p>
        </p:txBody>
      </p:sp>
      <p:sp>
        <p:nvSpPr>
          <p:cNvPr id="996" name="Google Shape;996;p43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Pausa para descanso</a:t>
            </a:r>
            <a:endParaRPr/>
          </a:p>
        </p:txBody>
      </p:sp>
      <p:sp>
        <p:nvSpPr>
          <p:cNvPr id="997" name="Google Shape;997;p43"/>
          <p:cNvSpPr/>
          <p:nvPr/>
        </p:nvSpPr>
        <p:spPr>
          <a:xfrm>
            <a:off x="4137660" y="754380"/>
            <a:ext cx="868800" cy="86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ffee_85228B.png" id="998" name="Google Shape;99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7456" y="954176"/>
            <a:ext cx="469087" cy="469087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43"/>
          <p:cNvSpPr/>
          <p:nvPr/>
        </p:nvSpPr>
        <p:spPr>
          <a:xfrm>
            <a:off x="3707891" y="3127248"/>
            <a:ext cx="1728300" cy="3291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43"/>
          <p:cNvSpPr txBox="1"/>
          <p:nvPr/>
        </p:nvSpPr>
        <p:spPr>
          <a:xfrm>
            <a:off x="3707891" y="3127248"/>
            <a:ext cx="1728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10H20 ÀS 10H40</a:t>
            </a:r>
            <a:endParaRPr/>
          </a:p>
        </p:txBody>
      </p:sp>
      <p:sp>
        <p:nvSpPr>
          <p:cNvPr id="1001" name="Google Shape;1001;p43"/>
          <p:cNvSpPr txBox="1"/>
          <p:nvPr/>
        </p:nvSpPr>
        <p:spPr>
          <a:xfrm>
            <a:off x="1371600" y="3657600"/>
            <a:ext cx="6400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Anote os problemas que a revisão em dupla encontrou antes de sair.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4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ESTUDO AWS ACADEMY 1</a:t>
            </a:r>
            <a:endParaRPr/>
          </a:p>
        </p:txBody>
      </p:sp>
      <p:sp>
        <p:nvSpPr>
          <p:cNvPr id="1007" name="Google Shape;1007;p44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AWS Cloud Quest: Generative AI Practitioner</a:t>
            </a:r>
            <a:endParaRPr/>
          </a:p>
        </p:txBody>
      </p:sp>
      <p:sp>
        <p:nvSpPr>
          <p:cNvPr id="1008" name="Google Shape;1008;p44"/>
          <p:cNvSpPr/>
          <p:nvPr/>
        </p:nvSpPr>
        <p:spPr>
          <a:xfrm>
            <a:off x="4137660" y="754380"/>
            <a:ext cx="868800" cy="86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duationCap_85228B.png" id="1009" name="Google Shape;10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7456" y="954176"/>
            <a:ext cx="469087" cy="469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44"/>
          <p:cNvSpPr/>
          <p:nvPr/>
        </p:nvSpPr>
        <p:spPr>
          <a:xfrm>
            <a:off x="3707891" y="3127248"/>
            <a:ext cx="1728300" cy="3291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44"/>
          <p:cNvSpPr txBox="1"/>
          <p:nvPr/>
        </p:nvSpPr>
        <p:spPr>
          <a:xfrm>
            <a:off x="3707891" y="3127248"/>
            <a:ext cx="1728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10H40 ÀS 11H10</a:t>
            </a:r>
            <a:endParaRPr/>
          </a:p>
        </p:txBody>
      </p:sp>
      <p:sp>
        <p:nvSpPr>
          <p:cNvPr id="1012" name="Google Shape;1012;p44"/>
          <p:cNvSpPr txBox="1"/>
          <p:nvPr/>
        </p:nvSpPr>
        <p:spPr>
          <a:xfrm>
            <a:off x="1371600" y="3657600"/>
            <a:ext cx="6400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Fones de ouvido, uma aba só: o LMS do AWS Academy.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QUE ESTUDAR AGORA</a:t>
            </a:r>
            <a:endParaRPr/>
          </a:p>
        </p:txBody>
      </p:sp>
      <p:sp>
        <p:nvSpPr>
          <p:cNvPr id="1018" name="Google Shape;1018;p4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019" name="Google Shape;1019;p45"/>
          <p:cNvSpPr/>
          <p:nvPr/>
        </p:nvSpPr>
        <p:spPr>
          <a:xfrm>
            <a:off x="323697" y="1188720"/>
            <a:ext cx="2880300" cy="255900"/>
          </a:xfrm>
          <a:prstGeom prst="roundRect">
            <a:avLst>
              <a:gd fmla="val 5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5"/>
          <p:cNvSpPr txBox="1"/>
          <p:nvPr/>
        </p:nvSpPr>
        <p:spPr>
          <a:xfrm>
            <a:off x="323697" y="118872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10H40 ÀS 11H10  ·  ESTUDO INDIVIDUAL</a:t>
            </a:r>
            <a:endParaRPr/>
          </a:p>
        </p:txBody>
      </p:sp>
      <p:sp>
        <p:nvSpPr>
          <p:cNvPr id="1021" name="Google Shape;1021;p45"/>
          <p:cNvSpPr/>
          <p:nvPr/>
        </p:nvSpPr>
        <p:spPr>
          <a:xfrm>
            <a:off x="323697" y="1572768"/>
            <a:ext cx="1890900" cy="2148900"/>
          </a:xfrm>
          <a:prstGeom prst="roundRect">
            <a:avLst>
              <a:gd fmla="val 7736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45"/>
          <p:cNvSpPr/>
          <p:nvPr/>
        </p:nvSpPr>
        <p:spPr>
          <a:xfrm>
            <a:off x="940003" y="1810512"/>
            <a:ext cx="658500" cy="6585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In_FFFFFF.png" id="1023" name="Google Shape;102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427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45"/>
          <p:cNvSpPr txBox="1"/>
          <p:nvPr/>
        </p:nvSpPr>
        <p:spPr>
          <a:xfrm>
            <a:off x="460857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/>
          </a:p>
        </p:txBody>
      </p:sp>
      <p:sp>
        <p:nvSpPr>
          <p:cNvPr id="1025" name="Google Shape;1025;p45"/>
          <p:cNvSpPr txBox="1"/>
          <p:nvPr/>
        </p:nvSpPr>
        <p:spPr>
          <a:xfrm>
            <a:off x="460857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Entrar</a:t>
            </a:r>
            <a:endParaRPr/>
          </a:p>
        </p:txBody>
      </p:sp>
      <p:sp>
        <p:nvSpPr>
          <p:cNvPr id="1026" name="Google Shape;1026;p45"/>
          <p:cNvSpPr txBox="1"/>
          <p:nvPr/>
        </p:nvSpPr>
        <p:spPr>
          <a:xfrm>
            <a:off x="506577" y="3127248"/>
            <a:ext cx="152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LMS do AWS Academy com a conta do SENAI</a:t>
            </a:r>
            <a:endParaRPr/>
          </a:p>
        </p:txBody>
      </p:sp>
      <p:cxnSp>
        <p:nvCxnSpPr>
          <p:cNvPr id="1027" name="Google Shape;1027;p45"/>
          <p:cNvCxnSpPr/>
          <p:nvPr/>
        </p:nvCxnSpPr>
        <p:spPr>
          <a:xfrm>
            <a:off x="2260396" y="2139696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8" name="Google Shape;1028;p45"/>
          <p:cNvSpPr/>
          <p:nvPr/>
        </p:nvSpPr>
        <p:spPr>
          <a:xfrm>
            <a:off x="2525572" y="1572768"/>
            <a:ext cx="1890900" cy="2148900"/>
          </a:xfrm>
          <a:prstGeom prst="roundRect">
            <a:avLst>
              <a:gd fmla="val 7736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45"/>
          <p:cNvSpPr/>
          <p:nvPr/>
        </p:nvSpPr>
        <p:spPr>
          <a:xfrm>
            <a:off x="3141878" y="1810512"/>
            <a:ext cx="658500" cy="6585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okOpen_FFFFFF.png" id="1030" name="Google Shape;103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3303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45"/>
          <p:cNvSpPr txBox="1"/>
          <p:nvPr/>
        </p:nvSpPr>
        <p:spPr>
          <a:xfrm>
            <a:off x="2662732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/>
          </a:p>
        </p:txBody>
      </p:sp>
      <p:sp>
        <p:nvSpPr>
          <p:cNvPr id="1032" name="Google Shape;1032;p45"/>
          <p:cNvSpPr txBox="1"/>
          <p:nvPr/>
        </p:nvSpPr>
        <p:spPr>
          <a:xfrm>
            <a:off x="2662732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Curso</a:t>
            </a:r>
            <a:endParaRPr/>
          </a:p>
        </p:txBody>
      </p:sp>
      <p:sp>
        <p:nvSpPr>
          <p:cNvPr id="1033" name="Google Shape;1033;p45"/>
          <p:cNvSpPr txBox="1"/>
          <p:nvPr/>
        </p:nvSpPr>
        <p:spPr>
          <a:xfrm>
            <a:off x="2708452" y="3127248"/>
            <a:ext cx="152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Generative AI Foundations</a:t>
            </a:r>
            <a:endParaRPr/>
          </a:p>
        </p:txBody>
      </p:sp>
      <p:cxnSp>
        <p:nvCxnSpPr>
          <p:cNvPr id="1034" name="Google Shape;1034;p45"/>
          <p:cNvCxnSpPr/>
          <p:nvPr/>
        </p:nvCxnSpPr>
        <p:spPr>
          <a:xfrm>
            <a:off x="4462272" y="2139696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5" name="Google Shape;1035;p45"/>
          <p:cNvSpPr/>
          <p:nvPr/>
        </p:nvSpPr>
        <p:spPr>
          <a:xfrm>
            <a:off x="4727448" y="1572768"/>
            <a:ext cx="1890900" cy="2148900"/>
          </a:xfrm>
          <a:prstGeom prst="roundRect">
            <a:avLst>
              <a:gd fmla="val 7736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45"/>
          <p:cNvSpPr/>
          <p:nvPr/>
        </p:nvSpPr>
        <p:spPr>
          <a:xfrm>
            <a:off x="5343753" y="1810512"/>
            <a:ext cx="658500" cy="6585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in_FFFFFF.png" id="1037" name="Google Shape;103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5178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45"/>
          <p:cNvSpPr txBox="1"/>
          <p:nvPr/>
        </p:nvSpPr>
        <p:spPr>
          <a:xfrm>
            <a:off x="4864608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/>
          </a:p>
        </p:txBody>
      </p:sp>
      <p:sp>
        <p:nvSpPr>
          <p:cNvPr id="1039" name="Google Shape;1039;p45"/>
          <p:cNvSpPr txBox="1"/>
          <p:nvPr/>
        </p:nvSpPr>
        <p:spPr>
          <a:xfrm>
            <a:off x="4864608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Tópicos</a:t>
            </a:r>
            <a:endParaRPr/>
          </a:p>
        </p:txBody>
      </p:sp>
      <p:sp>
        <p:nvSpPr>
          <p:cNvPr id="1040" name="Google Shape;1040;p45"/>
          <p:cNvSpPr txBox="1"/>
          <p:nvPr/>
        </p:nvSpPr>
        <p:spPr>
          <a:xfrm>
            <a:off x="4910328" y="3127248"/>
            <a:ext cx="152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Conceitos de IA generativa e prompt engineering</a:t>
            </a:r>
            <a:endParaRPr/>
          </a:p>
        </p:txBody>
      </p:sp>
      <p:cxnSp>
        <p:nvCxnSpPr>
          <p:cNvPr id="1041" name="Google Shape;1041;p45"/>
          <p:cNvCxnSpPr/>
          <p:nvPr/>
        </p:nvCxnSpPr>
        <p:spPr>
          <a:xfrm>
            <a:off x="6664147" y="2139696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2" name="Google Shape;1042;p45"/>
          <p:cNvSpPr/>
          <p:nvPr/>
        </p:nvSpPr>
        <p:spPr>
          <a:xfrm>
            <a:off x="6929323" y="1572768"/>
            <a:ext cx="1890900" cy="2148900"/>
          </a:xfrm>
          <a:prstGeom prst="roundRect">
            <a:avLst>
              <a:gd fmla="val 7736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45"/>
          <p:cNvSpPr/>
          <p:nvPr/>
        </p:nvSpPr>
        <p:spPr>
          <a:xfrm>
            <a:off x="7545628" y="1810512"/>
            <a:ext cx="658500" cy="6585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enLine_FFFFFF.png" id="1044" name="Google Shape;1044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97053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45"/>
          <p:cNvSpPr txBox="1"/>
          <p:nvPr/>
        </p:nvSpPr>
        <p:spPr>
          <a:xfrm>
            <a:off x="7066483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PASSO 4</a:t>
            </a:r>
            <a:endParaRPr/>
          </a:p>
        </p:txBody>
      </p:sp>
      <p:sp>
        <p:nvSpPr>
          <p:cNvPr id="1046" name="Google Shape;1046;p45"/>
          <p:cNvSpPr txBox="1"/>
          <p:nvPr/>
        </p:nvSpPr>
        <p:spPr>
          <a:xfrm>
            <a:off x="7066483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Anotar</a:t>
            </a:r>
            <a:endParaRPr/>
          </a:p>
        </p:txBody>
      </p:sp>
      <p:sp>
        <p:nvSpPr>
          <p:cNvPr id="1047" name="Google Shape;1047;p45"/>
          <p:cNvSpPr txBox="1"/>
          <p:nvPr/>
        </p:nvSpPr>
        <p:spPr>
          <a:xfrm>
            <a:off x="7112203" y="3127248"/>
            <a:ext cx="152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Uma técnica de prompt para usar na skill</a:t>
            </a:r>
            <a:endParaRPr/>
          </a:p>
        </p:txBody>
      </p:sp>
      <p:sp>
        <p:nvSpPr>
          <p:cNvPr id="1048" name="Google Shape;1048;p45"/>
          <p:cNvSpPr/>
          <p:nvPr/>
        </p:nvSpPr>
        <p:spPr>
          <a:xfrm>
            <a:off x="323697" y="3931920"/>
            <a:ext cx="8496600" cy="777300"/>
          </a:xfrm>
          <a:prstGeom prst="roundRect">
            <a:avLst>
              <a:gd fmla="val 1882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45"/>
          <p:cNvSpPr/>
          <p:nvPr/>
        </p:nvSpPr>
        <p:spPr>
          <a:xfrm>
            <a:off x="506577" y="4091939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ssageSquare_FFFFFF.png" id="1050" name="Google Shape;1050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733" y="41970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45"/>
          <p:cNvSpPr txBox="1"/>
          <p:nvPr/>
        </p:nvSpPr>
        <p:spPr>
          <a:xfrm>
            <a:off x="1192377" y="3931920"/>
            <a:ext cx="7399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Na volta: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grupo junta as técnicas anotadas e usa na skill do gerador.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6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HANDS-ON 2: SPEC, SKILL E HOOKS</a:t>
            </a:r>
            <a:endParaRPr/>
          </a:p>
        </p:txBody>
      </p:sp>
      <p:sp>
        <p:nvSpPr>
          <p:cNvPr id="1057" name="Google Shape;1057;p46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Do requisito ao primeiro diagrama no GitHub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47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ANATOMIA DE UMA SPEC</a:t>
            </a:r>
            <a:endParaRPr/>
          </a:p>
        </p:txBody>
      </p:sp>
      <p:sp>
        <p:nvSpPr>
          <p:cNvPr id="1063" name="Google Shape;1063;p47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064" name="Google Shape;1064;p47"/>
          <p:cNvSpPr/>
          <p:nvPr/>
        </p:nvSpPr>
        <p:spPr>
          <a:xfrm>
            <a:off x="323697" y="1325880"/>
            <a:ext cx="2625000" cy="2331600"/>
          </a:xfrm>
          <a:prstGeom prst="roundRect">
            <a:avLst>
              <a:gd fmla="val 6274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47"/>
          <p:cNvSpPr/>
          <p:nvPr/>
        </p:nvSpPr>
        <p:spPr>
          <a:xfrm>
            <a:off x="1306982" y="1563624"/>
            <a:ext cx="658500" cy="6585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Text_FFFFFF.png" id="1066" name="Google Shape;106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8407" y="171504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47"/>
          <p:cNvSpPr txBox="1"/>
          <p:nvPr/>
        </p:nvSpPr>
        <p:spPr>
          <a:xfrm>
            <a:off x="460857" y="2331720"/>
            <a:ext cx="235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/>
          </a:p>
        </p:txBody>
      </p:sp>
      <p:sp>
        <p:nvSpPr>
          <p:cNvPr id="1068" name="Google Shape;1068;p47"/>
          <p:cNvSpPr txBox="1"/>
          <p:nvPr/>
        </p:nvSpPr>
        <p:spPr>
          <a:xfrm>
            <a:off x="460857" y="2551176"/>
            <a:ext cx="235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requirements.md</a:t>
            </a:r>
            <a:endParaRPr/>
          </a:p>
        </p:txBody>
      </p:sp>
      <p:sp>
        <p:nvSpPr>
          <p:cNvPr id="1069" name="Google Shape;1069;p47"/>
          <p:cNvSpPr txBox="1"/>
          <p:nvPr/>
        </p:nvSpPr>
        <p:spPr>
          <a:xfrm>
            <a:off x="506577" y="2880360"/>
            <a:ext cx="2259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quê: histórias e critérios de aceite em EARS</a:t>
            </a:r>
            <a:endParaRPr/>
          </a:p>
        </p:txBody>
      </p:sp>
      <p:cxnSp>
        <p:nvCxnSpPr>
          <p:cNvPr id="1070" name="Google Shape;1070;p47"/>
          <p:cNvCxnSpPr/>
          <p:nvPr/>
        </p:nvCxnSpPr>
        <p:spPr>
          <a:xfrm>
            <a:off x="2994355" y="1892807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1" name="Google Shape;1071;p47"/>
          <p:cNvSpPr/>
          <p:nvPr/>
        </p:nvSpPr>
        <p:spPr>
          <a:xfrm>
            <a:off x="3259531" y="1325880"/>
            <a:ext cx="2625000" cy="2331600"/>
          </a:xfrm>
          <a:prstGeom prst="roundRect">
            <a:avLst>
              <a:gd fmla="val 6274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47"/>
          <p:cNvSpPr/>
          <p:nvPr/>
        </p:nvSpPr>
        <p:spPr>
          <a:xfrm>
            <a:off x="4242816" y="1563624"/>
            <a:ext cx="658500" cy="6585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_FFFFFF.png" id="1073" name="Google Shape;107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4240" y="171504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47"/>
          <p:cNvSpPr txBox="1"/>
          <p:nvPr/>
        </p:nvSpPr>
        <p:spPr>
          <a:xfrm>
            <a:off x="3396691" y="2331720"/>
            <a:ext cx="235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/>
          </a:p>
        </p:txBody>
      </p:sp>
      <p:sp>
        <p:nvSpPr>
          <p:cNvPr id="1075" name="Google Shape;1075;p47"/>
          <p:cNvSpPr txBox="1"/>
          <p:nvPr/>
        </p:nvSpPr>
        <p:spPr>
          <a:xfrm>
            <a:off x="3396691" y="2551176"/>
            <a:ext cx="235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design.md</a:t>
            </a:r>
            <a:endParaRPr/>
          </a:p>
        </p:txBody>
      </p:sp>
      <p:sp>
        <p:nvSpPr>
          <p:cNvPr id="1076" name="Google Shape;1076;p47"/>
          <p:cNvSpPr txBox="1"/>
          <p:nvPr/>
        </p:nvSpPr>
        <p:spPr>
          <a:xfrm>
            <a:off x="3442411" y="2880360"/>
            <a:ext cx="2259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Como: arquitetura, interfaces e diagramas</a:t>
            </a:r>
            <a:endParaRPr/>
          </a:p>
        </p:txBody>
      </p:sp>
      <p:cxnSp>
        <p:nvCxnSpPr>
          <p:cNvPr id="1077" name="Google Shape;1077;p47"/>
          <p:cNvCxnSpPr/>
          <p:nvPr/>
        </p:nvCxnSpPr>
        <p:spPr>
          <a:xfrm>
            <a:off x="5930188" y="1892807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8" name="Google Shape;1078;p47"/>
          <p:cNvSpPr/>
          <p:nvPr/>
        </p:nvSpPr>
        <p:spPr>
          <a:xfrm>
            <a:off x="6195364" y="1325880"/>
            <a:ext cx="2625000" cy="2331600"/>
          </a:xfrm>
          <a:prstGeom prst="roundRect">
            <a:avLst>
              <a:gd fmla="val 6274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47"/>
          <p:cNvSpPr/>
          <p:nvPr/>
        </p:nvSpPr>
        <p:spPr>
          <a:xfrm>
            <a:off x="7178649" y="1563624"/>
            <a:ext cx="658500" cy="6585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FFFFFF.png" id="1080" name="Google Shape;1080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0074" y="171504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47"/>
          <p:cNvSpPr txBox="1"/>
          <p:nvPr/>
        </p:nvSpPr>
        <p:spPr>
          <a:xfrm>
            <a:off x="6332524" y="2331720"/>
            <a:ext cx="235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/>
          </a:p>
        </p:txBody>
      </p:sp>
      <p:sp>
        <p:nvSpPr>
          <p:cNvPr id="1082" name="Google Shape;1082;p47"/>
          <p:cNvSpPr txBox="1"/>
          <p:nvPr/>
        </p:nvSpPr>
        <p:spPr>
          <a:xfrm>
            <a:off x="6332524" y="2551176"/>
            <a:ext cx="235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tasks.md</a:t>
            </a:r>
            <a:endParaRPr/>
          </a:p>
        </p:txBody>
      </p:sp>
      <p:sp>
        <p:nvSpPr>
          <p:cNvPr id="1083" name="Google Shape;1083;p47"/>
          <p:cNvSpPr txBox="1"/>
          <p:nvPr/>
        </p:nvSpPr>
        <p:spPr>
          <a:xfrm>
            <a:off x="6378244" y="2880360"/>
            <a:ext cx="2259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Passo a passo em tarefas rastreáveis</a:t>
            </a:r>
            <a:endParaRPr/>
          </a:p>
        </p:txBody>
      </p:sp>
      <p:sp>
        <p:nvSpPr>
          <p:cNvPr id="1084" name="Google Shape;1084;p47"/>
          <p:cNvSpPr/>
          <p:nvPr/>
        </p:nvSpPr>
        <p:spPr>
          <a:xfrm>
            <a:off x="323697" y="3886200"/>
            <a:ext cx="8496600" cy="822900"/>
          </a:xfrm>
          <a:prstGeom prst="roundRect">
            <a:avLst>
              <a:gd fmla="val 17777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47"/>
          <p:cNvSpPr/>
          <p:nvPr/>
        </p:nvSpPr>
        <p:spPr>
          <a:xfrm>
            <a:off x="506577" y="4069080"/>
            <a:ext cx="457200" cy="457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lderTree_FFFFFF.png" id="1086" name="Google Shape;108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733" y="41742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47"/>
          <p:cNvSpPr txBox="1"/>
          <p:nvPr/>
        </p:nvSpPr>
        <p:spPr>
          <a:xfrm>
            <a:off x="1192377" y="3886200"/>
            <a:ext cx="7399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Onde mora: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.kiro/specs/validador-arquitetura/, versionado com o código. Cada fase pede aprovação.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48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TASKS EM ONDAS</a:t>
            </a:r>
            <a:endParaRPr/>
          </a:p>
        </p:txBody>
      </p:sp>
      <p:sp>
        <p:nvSpPr>
          <p:cNvPr id="1093" name="Google Shape;1093;p48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094" name="Google Shape;1094;p48"/>
          <p:cNvSpPr/>
          <p:nvPr/>
        </p:nvSpPr>
        <p:spPr>
          <a:xfrm>
            <a:off x="986637" y="1188720"/>
            <a:ext cx="10059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48"/>
          <p:cNvSpPr txBox="1"/>
          <p:nvPr/>
        </p:nvSpPr>
        <p:spPr>
          <a:xfrm>
            <a:off x="986637" y="1188720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ONDA 1</a:t>
            </a:r>
            <a:endParaRPr/>
          </a:p>
        </p:txBody>
      </p:sp>
      <p:sp>
        <p:nvSpPr>
          <p:cNvPr id="1096" name="Google Shape;1096;p48"/>
          <p:cNvSpPr/>
          <p:nvPr/>
        </p:nvSpPr>
        <p:spPr>
          <a:xfrm>
            <a:off x="323697" y="1600200"/>
            <a:ext cx="2331600" cy="2331600"/>
          </a:xfrm>
          <a:prstGeom prst="roundRect">
            <a:avLst>
              <a:gd fmla="val 6274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48"/>
          <p:cNvSpPr/>
          <p:nvPr/>
        </p:nvSpPr>
        <p:spPr>
          <a:xfrm>
            <a:off x="488289" y="2482596"/>
            <a:ext cx="2002500" cy="567000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C96A00.png" id="1098" name="Google Shape;109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305" y="26563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48"/>
          <p:cNvSpPr txBox="1"/>
          <p:nvPr/>
        </p:nvSpPr>
        <p:spPr>
          <a:xfrm>
            <a:off x="945489" y="2482596"/>
            <a:ext cx="146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1. Ler e checar o YAML</a:t>
            </a:r>
            <a:endParaRPr/>
          </a:p>
        </p:txBody>
      </p:sp>
      <p:sp>
        <p:nvSpPr>
          <p:cNvPr id="1100" name="Google Shape;1100;p48"/>
          <p:cNvSpPr/>
          <p:nvPr/>
        </p:nvSpPr>
        <p:spPr>
          <a:xfrm>
            <a:off x="2746858" y="2624785"/>
            <a:ext cx="567842" cy="273406"/>
          </a:xfrm>
          <a:custGeom>
            <a:rect b="b" l="l" r="r" t="t"/>
            <a:pathLst>
              <a:path extrusionOk="0" h="273406" w="567842">
                <a:moveTo>
                  <a:pt x="0" y="196139"/>
                </a:moveTo>
                <a:lnTo>
                  <a:pt x="365760" y="196139"/>
                </a:lnTo>
                <a:lnTo>
                  <a:pt x="365760" y="273406"/>
                </a:lnTo>
                <a:lnTo>
                  <a:pt x="567842" y="136703"/>
                </a:lnTo>
                <a:lnTo>
                  <a:pt x="365760" y="0"/>
                </a:lnTo>
                <a:lnTo>
                  <a:pt x="365760" y="77267"/>
                </a:lnTo>
                <a:lnTo>
                  <a:pt x="0" y="77267"/>
                </a:lnTo>
                <a:close/>
              </a:path>
            </a:pathLst>
          </a:cu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48"/>
          <p:cNvSpPr/>
          <p:nvPr/>
        </p:nvSpPr>
        <p:spPr>
          <a:xfrm>
            <a:off x="4069080" y="1188720"/>
            <a:ext cx="1005900" cy="274200"/>
          </a:xfrm>
          <a:prstGeom prst="roundRect">
            <a:avLst>
              <a:gd fmla="val 50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48"/>
          <p:cNvSpPr txBox="1"/>
          <p:nvPr/>
        </p:nvSpPr>
        <p:spPr>
          <a:xfrm>
            <a:off x="4069080" y="1188720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ONDA 2</a:t>
            </a:r>
            <a:endParaRPr/>
          </a:p>
        </p:txBody>
      </p:sp>
      <p:sp>
        <p:nvSpPr>
          <p:cNvPr id="1103" name="Google Shape;1103;p48"/>
          <p:cNvSpPr/>
          <p:nvPr/>
        </p:nvSpPr>
        <p:spPr>
          <a:xfrm>
            <a:off x="3406140" y="1600200"/>
            <a:ext cx="2331600" cy="2331600"/>
          </a:xfrm>
          <a:prstGeom prst="roundRect">
            <a:avLst>
              <a:gd fmla="val 6274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48"/>
          <p:cNvSpPr/>
          <p:nvPr/>
        </p:nvSpPr>
        <p:spPr>
          <a:xfrm>
            <a:off x="3570732" y="1787652"/>
            <a:ext cx="2002500" cy="567000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C71D81.png" id="1105" name="Google Shape;110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8748" y="19613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48"/>
          <p:cNvSpPr txBox="1"/>
          <p:nvPr/>
        </p:nvSpPr>
        <p:spPr>
          <a:xfrm>
            <a:off x="4027932" y="1787652"/>
            <a:ext cx="146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2. Ícones no pacote</a:t>
            </a:r>
            <a:endParaRPr/>
          </a:p>
        </p:txBody>
      </p:sp>
      <p:sp>
        <p:nvSpPr>
          <p:cNvPr id="1107" name="Google Shape;1107;p48"/>
          <p:cNvSpPr/>
          <p:nvPr/>
        </p:nvSpPr>
        <p:spPr>
          <a:xfrm>
            <a:off x="3570732" y="2482596"/>
            <a:ext cx="2002500" cy="567000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C71D81.png" id="1108" name="Google Shape;110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8748" y="26563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48"/>
          <p:cNvSpPr txBox="1"/>
          <p:nvPr/>
        </p:nvSpPr>
        <p:spPr>
          <a:xfrm>
            <a:off x="4027932" y="2482596"/>
            <a:ext cx="146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3. Grupos oficiais</a:t>
            </a:r>
            <a:endParaRPr/>
          </a:p>
        </p:txBody>
      </p:sp>
      <p:sp>
        <p:nvSpPr>
          <p:cNvPr id="1110" name="Google Shape;1110;p48"/>
          <p:cNvSpPr/>
          <p:nvPr/>
        </p:nvSpPr>
        <p:spPr>
          <a:xfrm>
            <a:off x="3570732" y="3177540"/>
            <a:ext cx="2002500" cy="567000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C71D81.png" id="1111" name="Google Shape;111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8748" y="33512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48"/>
          <p:cNvSpPr txBox="1"/>
          <p:nvPr/>
        </p:nvSpPr>
        <p:spPr>
          <a:xfrm>
            <a:off x="4027932" y="3177540"/>
            <a:ext cx="146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4. Limite de 20 ícones</a:t>
            </a:r>
            <a:endParaRPr/>
          </a:p>
        </p:txBody>
      </p:sp>
      <p:sp>
        <p:nvSpPr>
          <p:cNvPr id="1113" name="Google Shape;1113;p48"/>
          <p:cNvSpPr/>
          <p:nvPr/>
        </p:nvSpPr>
        <p:spPr>
          <a:xfrm>
            <a:off x="5829300" y="2624785"/>
            <a:ext cx="567842" cy="273406"/>
          </a:xfrm>
          <a:custGeom>
            <a:rect b="b" l="l" r="r" t="t"/>
            <a:pathLst>
              <a:path extrusionOk="0" h="273406" w="567842">
                <a:moveTo>
                  <a:pt x="0" y="196139"/>
                </a:moveTo>
                <a:lnTo>
                  <a:pt x="365760" y="196139"/>
                </a:lnTo>
                <a:lnTo>
                  <a:pt x="365760" y="273406"/>
                </a:lnTo>
                <a:lnTo>
                  <a:pt x="567842" y="136703"/>
                </a:lnTo>
                <a:lnTo>
                  <a:pt x="365760" y="0"/>
                </a:lnTo>
                <a:lnTo>
                  <a:pt x="365760" y="77267"/>
                </a:lnTo>
                <a:lnTo>
                  <a:pt x="0" y="77267"/>
                </a:lnTo>
                <a:close/>
              </a:path>
            </a:pathLst>
          </a:cu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48"/>
          <p:cNvSpPr/>
          <p:nvPr/>
        </p:nvSpPr>
        <p:spPr>
          <a:xfrm>
            <a:off x="7151522" y="1188720"/>
            <a:ext cx="1005900" cy="274200"/>
          </a:xfrm>
          <a:prstGeom prst="roundRect">
            <a:avLst>
              <a:gd fmla="val 50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48"/>
          <p:cNvSpPr txBox="1"/>
          <p:nvPr/>
        </p:nvSpPr>
        <p:spPr>
          <a:xfrm>
            <a:off x="7151522" y="1188720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ONDA 3</a:t>
            </a:r>
            <a:endParaRPr/>
          </a:p>
        </p:txBody>
      </p:sp>
      <p:sp>
        <p:nvSpPr>
          <p:cNvPr id="1116" name="Google Shape;1116;p48"/>
          <p:cNvSpPr/>
          <p:nvPr/>
        </p:nvSpPr>
        <p:spPr>
          <a:xfrm>
            <a:off x="6488582" y="1600200"/>
            <a:ext cx="2331600" cy="2331600"/>
          </a:xfrm>
          <a:prstGeom prst="roundRect">
            <a:avLst>
              <a:gd fmla="val 6274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48"/>
          <p:cNvSpPr/>
          <p:nvPr/>
        </p:nvSpPr>
        <p:spPr>
          <a:xfrm>
            <a:off x="6653174" y="2482596"/>
            <a:ext cx="2002500" cy="567000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85228B.png" id="1118" name="Google Shape;1118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1190" y="26563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48"/>
          <p:cNvSpPr txBox="1"/>
          <p:nvPr/>
        </p:nvSpPr>
        <p:spPr>
          <a:xfrm>
            <a:off x="7110374" y="2482596"/>
            <a:ext cx="146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5. Avisos e testes</a:t>
            </a:r>
            <a:endParaRPr/>
          </a:p>
        </p:txBody>
      </p:sp>
      <p:sp>
        <p:nvSpPr>
          <p:cNvPr id="1120" name="Google Shape;1120;p48"/>
          <p:cNvSpPr/>
          <p:nvPr/>
        </p:nvSpPr>
        <p:spPr>
          <a:xfrm>
            <a:off x="323697" y="4069080"/>
            <a:ext cx="8496600" cy="640200"/>
          </a:xfrm>
          <a:prstGeom prst="roundRect">
            <a:avLst>
              <a:gd fmla="val 22857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48"/>
          <p:cNvSpPr/>
          <p:nvPr/>
        </p:nvSpPr>
        <p:spPr>
          <a:xfrm>
            <a:off x="506577" y="4160520"/>
            <a:ext cx="457200" cy="457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lay_FFFFFF.png" id="1122" name="Google Shape;1122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733" y="4265676"/>
            <a:ext cx="246887" cy="246887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48"/>
          <p:cNvSpPr txBox="1"/>
          <p:nvPr/>
        </p:nvSpPr>
        <p:spPr>
          <a:xfrm>
            <a:off x="1192377" y="4069080"/>
            <a:ext cx="739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Run all Tasks: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Kiro analisa dependências e roda em paralelo as tarefas independentes.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49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SKILLS NO KIRO</a:t>
            </a:r>
            <a:endParaRPr/>
          </a:p>
        </p:txBody>
      </p:sp>
      <p:sp>
        <p:nvSpPr>
          <p:cNvPr id="1129" name="Google Shape;1129;p49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130" name="Google Shape;1130;p49"/>
          <p:cNvSpPr txBox="1"/>
          <p:nvPr/>
        </p:nvSpPr>
        <p:spPr>
          <a:xfrm>
            <a:off x="323697" y="118872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ESTRUTURA DE UMA SKILL</a:t>
            </a:r>
            <a:endParaRPr/>
          </a:p>
        </p:txBody>
      </p:sp>
      <p:sp>
        <p:nvSpPr>
          <p:cNvPr id="1131" name="Google Shape;1131;p49"/>
          <p:cNvSpPr/>
          <p:nvPr/>
        </p:nvSpPr>
        <p:spPr>
          <a:xfrm>
            <a:off x="323697" y="1417320"/>
            <a:ext cx="3749100" cy="3291900"/>
          </a:xfrm>
          <a:prstGeom prst="roundRect">
            <a:avLst>
              <a:gd fmla="val 3333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49"/>
          <p:cNvSpPr txBox="1"/>
          <p:nvPr/>
        </p:nvSpPr>
        <p:spPr>
          <a:xfrm>
            <a:off x="506577" y="1563624"/>
            <a:ext cx="3383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gerador-slides/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SKILL.md       (obrigatório)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scripts/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gerar_slides.py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references/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└── assets/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tokens.json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name: gerador-slides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Gera o deck no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padrão do grupo. Use quando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pedirem slides ou apresentação.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b="1"/>
          </a:p>
        </p:txBody>
      </p:sp>
      <p:sp>
        <p:nvSpPr>
          <p:cNvPr id="1133" name="Google Shape;1133;p49"/>
          <p:cNvSpPr/>
          <p:nvPr/>
        </p:nvSpPr>
        <p:spPr>
          <a:xfrm>
            <a:off x="4389120" y="120700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lderOpen_0E1D8E.png" id="1134" name="Google Shape;113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5307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49"/>
          <p:cNvSpPr txBox="1"/>
          <p:nvPr/>
        </p:nvSpPr>
        <p:spPr>
          <a:xfrm>
            <a:off x="5102352" y="1207008"/>
            <a:ext cx="36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ONDE FICA</a:t>
            </a:r>
            <a:endParaRPr/>
          </a:p>
        </p:txBody>
      </p:sp>
      <p:sp>
        <p:nvSpPr>
          <p:cNvPr id="1136" name="Google Shape;1136;p49"/>
          <p:cNvSpPr txBox="1"/>
          <p:nvPr/>
        </p:nvSpPr>
        <p:spPr>
          <a:xfrm>
            <a:off x="5102352" y="1444752"/>
            <a:ext cx="369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.kiro/skills/ no projeto ou ~/.kiro/skills/</a:t>
            </a:r>
            <a:endParaRPr/>
          </a:p>
        </p:txBody>
      </p:sp>
      <p:sp>
        <p:nvSpPr>
          <p:cNvPr id="1137" name="Google Shape;1137;p49"/>
          <p:cNvSpPr/>
          <p:nvPr/>
        </p:nvSpPr>
        <p:spPr>
          <a:xfrm>
            <a:off x="4389120" y="207568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0E1D8E.png" id="1138" name="Google Shape;113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5307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49"/>
          <p:cNvSpPr txBox="1"/>
          <p:nvPr/>
        </p:nvSpPr>
        <p:spPr>
          <a:xfrm>
            <a:off x="5102352" y="2075688"/>
            <a:ext cx="36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COMO ATIVA</a:t>
            </a:r>
            <a:endParaRPr/>
          </a:p>
        </p:txBody>
      </p:sp>
      <p:sp>
        <p:nvSpPr>
          <p:cNvPr id="1140" name="Google Shape;1140;p49"/>
          <p:cNvSpPr txBox="1"/>
          <p:nvPr/>
        </p:nvSpPr>
        <p:spPr>
          <a:xfrm>
            <a:off x="5102352" y="2313432"/>
            <a:ext cx="369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Sozinha pela description ou com / no chat</a:t>
            </a:r>
            <a:endParaRPr/>
          </a:p>
        </p:txBody>
      </p:sp>
      <p:sp>
        <p:nvSpPr>
          <p:cNvPr id="1141" name="Google Shape;1141;p49"/>
          <p:cNvSpPr/>
          <p:nvPr/>
        </p:nvSpPr>
        <p:spPr>
          <a:xfrm>
            <a:off x="4389120" y="294436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Text_0E1D8E.png" id="1142" name="Google Shape;114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5307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49"/>
          <p:cNvSpPr txBox="1"/>
          <p:nvPr/>
        </p:nvSpPr>
        <p:spPr>
          <a:xfrm>
            <a:off x="5102352" y="2944368"/>
            <a:ext cx="36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SKILL.MD</a:t>
            </a:r>
            <a:endParaRPr/>
          </a:p>
        </p:txBody>
      </p:sp>
      <p:sp>
        <p:nvSpPr>
          <p:cNvPr id="1144" name="Google Shape;1144;p49"/>
          <p:cNvSpPr txBox="1"/>
          <p:nvPr/>
        </p:nvSpPr>
        <p:spPr>
          <a:xfrm>
            <a:off x="5102352" y="3182112"/>
            <a:ext cx="369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name e description são obrigatórios</a:t>
            </a:r>
            <a:endParaRPr/>
          </a:p>
        </p:txBody>
      </p:sp>
      <p:sp>
        <p:nvSpPr>
          <p:cNvPr id="1145" name="Google Shape;1145;p49"/>
          <p:cNvSpPr/>
          <p:nvPr/>
        </p:nvSpPr>
        <p:spPr>
          <a:xfrm>
            <a:off x="4389120" y="381304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Alert_0E1D8E.png" id="1146" name="Google Shape;1146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5307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49"/>
          <p:cNvSpPr txBox="1"/>
          <p:nvPr/>
        </p:nvSpPr>
        <p:spPr>
          <a:xfrm>
            <a:off x="5102352" y="3813047"/>
            <a:ext cx="36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CUIDADO</a:t>
            </a:r>
            <a:endParaRPr/>
          </a:p>
        </p:txBody>
      </p:sp>
      <p:sp>
        <p:nvSpPr>
          <p:cNvPr id="1148" name="Google Shape;1148;p49"/>
          <p:cNvSpPr txBox="1"/>
          <p:nvPr/>
        </p:nvSpPr>
        <p:spPr>
          <a:xfrm>
            <a:off x="5102352" y="4050791"/>
            <a:ext cx="369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Leia o SKILL.md antes de usar skill de terceiros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0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 SKILL DO GERADOR</a:t>
            </a:r>
            <a:endParaRPr/>
          </a:p>
        </p:txBody>
      </p:sp>
      <p:sp>
        <p:nvSpPr>
          <p:cNvPr id="1154" name="Google Shape;1154;p5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155" name="Google Shape;1155;p50"/>
          <p:cNvSpPr txBox="1"/>
          <p:nvPr/>
        </p:nvSpPr>
        <p:spPr>
          <a:xfrm>
            <a:off x="323697" y="1188720"/>
            <a:ext cx="8496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.kiro/skills/gerador-arquitetura/SKILL.md</a:t>
            </a:r>
            <a:endParaRPr/>
          </a:p>
        </p:txBody>
      </p:sp>
      <p:sp>
        <p:nvSpPr>
          <p:cNvPr id="1156" name="Google Shape;1156;p50"/>
          <p:cNvSpPr/>
          <p:nvPr/>
        </p:nvSpPr>
        <p:spPr>
          <a:xfrm>
            <a:off x="323697" y="1417320"/>
            <a:ext cx="8496600" cy="2423100"/>
          </a:xfrm>
          <a:prstGeom prst="roundRect">
            <a:avLst>
              <a:gd fmla="val 4528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50"/>
          <p:cNvSpPr txBox="1"/>
          <p:nvPr/>
        </p:nvSpPr>
        <p:spPr>
          <a:xfrm>
            <a:off x="506577" y="1563624"/>
            <a:ext cx="81309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name: gerador-arquitetura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Gera diagrama de arquitetura AWS com ícones oficiais e revisão Well-Architected.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Use quando pedirem arquitetura, diagrama ou desenho de solução na AWS.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1. Consulte o AWS Knowledge MCP para confirmar serviços e boas práticas.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2. Escreva arquiteturas/&lt;nome&gt;.yaml seguindo o guia-visual-aws.md.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3. Rode python -m arquitetura.validador arquiteturas/&lt;nome&gt;.yaml e corrija os erros.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4. Rode node renderizador/render.mjs arquiteturas/&lt;nome&gt;.yaml saida/&lt;nome&gt;.png --icons icones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5. Escreva a revisão pelos 6 pilares, citando a documentação consultada.</a:t>
            </a:r>
            <a:endParaRPr/>
          </a:p>
        </p:txBody>
      </p:sp>
      <p:sp>
        <p:nvSpPr>
          <p:cNvPr id="1158" name="Google Shape;1158;p50"/>
          <p:cNvSpPr/>
          <p:nvPr/>
        </p:nvSpPr>
        <p:spPr>
          <a:xfrm>
            <a:off x="323697" y="3931920"/>
            <a:ext cx="8496600" cy="777300"/>
          </a:xfrm>
          <a:prstGeom prst="roundRect">
            <a:avLst>
              <a:gd fmla="val 1882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50"/>
          <p:cNvSpPr/>
          <p:nvPr/>
        </p:nvSpPr>
        <p:spPr>
          <a:xfrm>
            <a:off x="506577" y="4091939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FFFFFF.png" id="1160" name="Google Shape;116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733" y="41970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50"/>
          <p:cNvSpPr txBox="1"/>
          <p:nvPr/>
        </p:nvSpPr>
        <p:spPr>
          <a:xfrm>
            <a:off x="1192377" y="3931920"/>
            <a:ext cx="7399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A description manda: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é ela que faz a skill ativar sozinha quando o pedido combina.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51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HANDS-ON 2A: ROTEIRO</a:t>
            </a:r>
            <a:endParaRPr/>
          </a:p>
        </p:txBody>
      </p:sp>
      <p:sp>
        <p:nvSpPr>
          <p:cNvPr id="1167" name="Google Shape;1167;p51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168" name="Google Shape;1168;p51"/>
          <p:cNvSpPr/>
          <p:nvPr/>
        </p:nvSpPr>
        <p:spPr>
          <a:xfrm>
            <a:off x="323697" y="1874519"/>
            <a:ext cx="2199600" cy="567000"/>
          </a:xfrm>
          <a:prstGeom prst="homePlate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51"/>
          <p:cNvSpPr txBox="1"/>
          <p:nvPr/>
        </p:nvSpPr>
        <p:spPr>
          <a:xfrm>
            <a:off x="506577" y="1874519"/>
            <a:ext cx="181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/>
          </a:p>
        </p:txBody>
      </p:sp>
      <p:sp>
        <p:nvSpPr>
          <p:cNvPr id="1170" name="Google Shape;1170;p51"/>
          <p:cNvSpPr/>
          <p:nvPr/>
        </p:nvSpPr>
        <p:spPr>
          <a:xfrm>
            <a:off x="1112596" y="120700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Plus_C96A00.png" id="1171" name="Google Shape;117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370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51"/>
          <p:cNvSpPr txBox="1"/>
          <p:nvPr/>
        </p:nvSpPr>
        <p:spPr>
          <a:xfrm>
            <a:off x="396849" y="2606040"/>
            <a:ext cx="194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Dev validador</a:t>
            </a:r>
            <a:endParaRPr/>
          </a:p>
        </p:txBody>
      </p:sp>
      <p:sp>
        <p:nvSpPr>
          <p:cNvPr id="1173" name="Google Shape;1173;p51"/>
          <p:cNvSpPr txBox="1"/>
          <p:nvPr/>
        </p:nvSpPr>
        <p:spPr>
          <a:xfrm>
            <a:off x="415137" y="2898648"/>
            <a:ext cx="190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Cria a spec com o prompt</a:t>
            </a:r>
            <a:endParaRPr/>
          </a:p>
        </p:txBody>
      </p:sp>
      <p:sp>
        <p:nvSpPr>
          <p:cNvPr id="1174" name="Google Shape;1174;p51"/>
          <p:cNvSpPr/>
          <p:nvPr/>
        </p:nvSpPr>
        <p:spPr>
          <a:xfrm>
            <a:off x="2459278" y="1874519"/>
            <a:ext cx="2199600" cy="567000"/>
          </a:xfrm>
          <a:prstGeom prst="chevron">
            <a:avLst>
              <a:gd fmla="val 28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51"/>
          <p:cNvSpPr txBox="1"/>
          <p:nvPr/>
        </p:nvSpPr>
        <p:spPr>
          <a:xfrm>
            <a:off x="2642158" y="1874519"/>
            <a:ext cx="181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/>
          </a:p>
        </p:txBody>
      </p:sp>
      <p:sp>
        <p:nvSpPr>
          <p:cNvPr id="1176" name="Google Shape;1176;p51"/>
          <p:cNvSpPr/>
          <p:nvPr/>
        </p:nvSpPr>
        <p:spPr>
          <a:xfrm>
            <a:off x="3248177" y="1207008"/>
            <a:ext cx="512100" cy="5121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C71D81.png" id="1177" name="Google Shape;117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5952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51"/>
          <p:cNvSpPr txBox="1"/>
          <p:nvPr/>
        </p:nvSpPr>
        <p:spPr>
          <a:xfrm>
            <a:off x="2532430" y="2606040"/>
            <a:ext cx="194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Guardião</a:t>
            </a:r>
            <a:endParaRPr/>
          </a:p>
        </p:txBody>
      </p:sp>
      <p:sp>
        <p:nvSpPr>
          <p:cNvPr id="1179" name="Google Shape;1179;p51"/>
          <p:cNvSpPr txBox="1"/>
          <p:nvPr/>
        </p:nvSpPr>
        <p:spPr>
          <a:xfrm>
            <a:off x="2550718" y="2898648"/>
            <a:ext cx="190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Escreve a skill do gerador</a:t>
            </a:r>
            <a:endParaRPr/>
          </a:p>
        </p:txBody>
      </p:sp>
      <p:sp>
        <p:nvSpPr>
          <p:cNvPr id="1180" name="Google Shape;1180;p51"/>
          <p:cNvSpPr/>
          <p:nvPr/>
        </p:nvSpPr>
        <p:spPr>
          <a:xfrm>
            <a:off x="4594860" y="1874519"/>
            <a:ext cx="2199600" cy="567000"/>
          </a:xfrm>
          <a:prstGeom prst="chevron">
            <a:avLst>
              <a:gd fmla="val 28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51"/>
          <p:cNvSpPr txBox="1"/>
          <p:nvPr/>
        </p:nvSpPr>
        <p:spPr>
          <a:xfrm>
            <a:off x="4777740" y="1874519"/>
            <a:ext cx="181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/>
          </a:p>
        </p:txBody>
      </p:sp>
      <p:sp>
        <p:nvSpPr>
          <p:cNvPr id="1182" name="Google Shape;1182;p51"/>
          <p:cNvSpPr/>
          <p:nvPr/>
        </p:nvSpPr>
        <p:spPr>
          <a:xfrm>
            <a:off x="5383758" y="1207008"/>
            <a:ext cx="512100" cy="5121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_85228B.png" id="1183" name="Google Shape;1183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1533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51"/>
          <p:cNvSpPr txBox="1"/>
          <p:nvPr/>
        </p:nvSpPr>
        <p:spPr>
          <a:xfrm>
            <a:off x="4668012" y="2606040"/>
            <a:ext cx="194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Pesquisador</a:t>
            </a:r>
            <a:endParaRPr/>
          </a:p>
        </p:txBody>
      </p:sp>
      <p:sp>
        <p:nvSpPr>
          <p:cNvPr id="1185" name="Google Shape;1185;p51"/>
          <p:cNvSpPr txBox="1"/>
          <p:nvPr/>
        </p:nvSpPr>
        <p:spPr>
          <a:xfrm>
            <a:off x="4686300" y="2898648"/>
            <a:ext cx="190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Confere serviços no MCP</a:t>
            </a:r>
            <a:endParaRPr/>
          </a:p>
        </p:txBody>
      </p:sp>
      <p:sp>
        <p:nvSpPr>
          <p:cNvPr id="1186" name="Google Shape;1186;p51"/>
          <p:cNvSpPr/>
          <p:nvPr/>
        </p:nvSpPr>
        <p:spPr>
          <a:xfrm>
            <a:off x="6730441" y="1874519"/>
            <a:ext cx="2089800" cy="567000"/>
          </a:xfrm>
          <a:prstGeom prst="chevron">
            <a:avLst>
              <a:gd fmla="val 28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51"/>
          <p:cNvSpPr txBox="1"/>
          <p:nvPr/>
        </p:nvSpPr>
        <p:spPr>
          <a:xfrm>
            <a:off x="6913321" y="1874519"/>
            <a:ext cx="181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/>
          </a:p>
        </p:txBody>
      </p:sp>
      <p:sp>
        <p:nvSpPr>
          <p:cNvPr id="1188" name="Google Shape;1188;p51"/>
          <p:cNvSpPr/>
          <p:nvPr/>
        </p:nvSpPr>
        <p:spPr>
          <a:xfrm>
            <a:off x="7519339" y="1207008"/>
            <a:ext cx="512100" cy="5121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lay_0E1D8E.png" id="1189" name="Google Shape;118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7114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51"/>
          <p:cNvSpPr txBox="1"/>
          <p:nvPr/>
        </p:nvSpPr>
        <p:spPr>
          <a:xfrm>
            <a:off x="6803593" y="2606040"/>
            <a:ext cx="194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e relator</a:t>
            </a:r>
            <a:endParaRPr/>
          </a:p>
        </p:txBody>
      </p:sp>
      <p:sp>
        <p:nvSpPr>
          <p:cNvPr id="1191" name="Google Shape;1191;p51"/>
          <p:cNvSpPr txBox="1"/>
          <p:nvPr/>
        </p:nvSpPr>
        <p:spPr>
          <a:xfrm>
            <a:off x="6821881" y="2898648"/>
            <a:ext cx="190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Aprovam design e rodam tasks</a:t>
            </a:r>
            <a:endParaRPr/>
          </a:p>
        </p:txBody>
      </p:sp>
      <p:sp>
        <p:nvSpPr>
          <p:cNvPr id="1192" name="Google Shape;1192;p51"/>
          <p:cNvSpPr txBox="1"/>
          <p:nvPr/>
        </p:nvSpPr>
        <p:spPr>
          <a:xfrm>
            <a:off x="323697" y="3383280"/>
            <a:ext cx="8496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PROMPT DA SPEC</a:t>
            </a:r>
            <a:endParaRPr/>
          </a:p>
        </p:txBody>
      </p:sp>
      <p:sp>
        <p:nvSpPr>
          <p:cNvPr id="1193" name="Google Shape;1193;p51"/>
          <p:cNvSpPr/>
          <p:nvPr/>
        </p:nvSpPr>
        <p:spPr>
          <a:xfrm>
            <a:off x="323697" y="3611880"/>
            <a:ext cx="8496600" cy="1097400"/>
          </a:xfrm>
          <a:prstGeom prst="roundRect">
            <a:avLst>
              <a:gd fmla="val 10000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51"/>
          <p:cNvSpPr txBox="1"/>
          <p:nvPr/>
        </p:nvSpPr>
        <p:spPr>
          <a:xfrm>
            <a:off x="506577" y="3758184"/>
            <a:ext cx="8130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Crie uma spec para arquitetura/validador.py: ler um YAML de arquitetura, conferir se cada ícone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existe em icones/, se os grupos são oficiais, se há no máximo 20 ícones e emitir avisos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Well-Architected. Opção --renderizar chama o renderizador. Só biblioteca padrão, PyYAML e pytest.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52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HOOKS: 12 GATILHOS</a:t>
            </a:r>
            <a:endParaRPr/>
          </a:p>
        </p:txBody>
      </p:sp>
      <p:sp>
        <p:nvSpPr>
          <p:cNvPr id="1200" name="Google Shape;1200;p52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201" name="Google Shape;1201;p52"/>
          <p:cNvSpPr/>
          <p:nvPr/>
        </p:nvSpPr>
        <p:spPr>
          <a:xfrm>
            <a:off x="323697" y="1188720"/>
            <a:ext cx="4184400" cy="1307700"/>
          </a:xfrm>
          <a:prstGeom prst="roundRect">
            <a:avLst>
              <a:gd fmla="val 979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52"/>
          <p:cNvSpPr/>
          <p:nvPr/>
        </p:nvSpPr>
        <p:spPr>
          <a:xfrm>
            <a:off x="552297" y="137160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ssageSquare_FFFFFF.png" id="1203" name="Google Shape;120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453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52"/>
          <p:cNvSpPr txBox="1"/>
          <p:nvPr/>
        </p:nvSpPr>
        <p:spPr>
          <a:xfrm>
            <a:off x="1192377" y="1463040"/>
            <a:ext cx="276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Conversa</a:t>
            </a:r>
            <a:endParaRPr/>
          </a:p>
        </p:txBody>
      </p:sp>
      <p:sp>
        <p:nvSpPr>
          <p:cNvPr id="1205" name="Google Shape;1205;p52"/>
          <p:cNvSpPr txBox="1"/>
          <p:nvPr/>
        </p:nvSpPr>
        <p:spPr>
          <a:xfrm>
            <a:off x="1192377" y="1828800"/>
            <a:ext cx="276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•  </a:t>
            </a: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Prompt Submit (bloqueia)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•  </a:t>
            </a: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Agent Stop · Session Start</a:t>
            </a:r>
            <a:endParaRPr/>
          </a:p>
        </p:txBody>
      </p:sp>
      <p:sp>
        <p:nvSpPr>
          <p:cNvPr id="1206" name="Google Shape;1206;p52"/>
          <p:cNvSpPr/>
          <p:nvPr/>
        </p:nvSpPr>
        <p:spPr>
          <a:xfrm>
            <a:off x="4636008" y="1188720"/>
            <a:ext cx="4184400" cy="1307700"/>
          </a:xfrm>
          <a:prstGeom prst="roundRect">
            <a:avLst>
              <a:gd fmla="val 979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52"/>
          <p:cNvSpPr/>
          <p:nvPr/>
        </p:nvSpPr>
        <p:spPr>
          <a:xfrm>
            <a:off x="8134502" y="1371600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nch_FFFFFF.png" id="1208" name="Google Shape;1208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9658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52"/>
          <p:cNvSpPr txBox="1"/>
          <p:nvPr/>
        </p:nvSpPr>
        <p:spPr>
          <a:xfrm>
            <a:off x="5184648" y="1463040"/>
            <a:ext cx="276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Ferramentas</a:t>
            </a:r>
            <a:endParaRPr/>
          </a:p>
        </p:txBody>
      </p:sp>
      <p:sp>
        <p:nvSpPr>
          <p:cNvPr id="1210" name="Google Shape;1210;p52"/>
          <p:cNvSpPr txBox="1"/>
          <p:nvPr/>
        </p:nvSpPr>
        <p:spPr>
          <a:xfrm>
            <a:off x="5184648" y="1828800"/>
            <a:ext cx="276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•  </a:t>
            </a: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Pre Tool Use (bloqueia)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•  </a:t>
            </a: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Post Tool Use</a:t>
            </a:r>
            <a:endParaRPr/>
          </a:p>
        </p:txBody>
      </p:sp>
      <p:sp>
        <p:nvSpPr>
          <p:cNvPr id="1211" name="Google Shape;1211;p52"/>
          <p:cNvSpPr/>
          <p:nvPr/>
        </p:nvSpPr>
        <p:spPr>
          <a:xfrm>
            <a:off x="323697" y="2624328"/>
            <a:ext cx="4184400" cy="1307700"/>
          </a:xfrm>
          <a:prstGeom prst="roundRect">
            <a:avLst>
              <a:gd fmla="val 979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52"/>
          <p:cNvSpPr/>
          <p:nvPr/>
        </p:nvSpPr>
        <p:spPr>
          <a:xfrm>
            <a:off x="552297" y="2807208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_FFFFFF.png" id="1213" name="Google Shape;1213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53" y="29123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52"/>
          <p:cNvSpPr txBox="1"/>
          <p:nvPr/>
        </p:nvSpPr>
        <p:spPr>
          <a:xfrm>
            <a:off x="1192377" y="2898648"/>
            <a:ext cx="276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Arquivos</a:t>
            </a:r>
            <a:endParaRPr/>
          </a:p>
        </p:txBody>
      </p:sp>
      <p:sp>
        <p:nvSpPr>
          <p:cNvPr id="1215" name="Google Shape;1215;p52"/>
          <p:cNvSpPr txBox="1"/>
          <p:nvPr/>
        </p:nvSpPr>
        <p:spPr>
          <a:xfrm>
            <a:off x="1192377" y="3264408"/>
            <a:ext cx="276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•  </a:t>
            </a: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File Create · File Save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•  </a:t>
            </a: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File Delete</a:t>
            </a:r>
            <a:endParaRPr/>
          </a:p>
        </p:txBody>
      </p:sp>
      <p:sp>
        <p:nvSpPr>
          <p:cNvPr id="1216" name="Google Shape;1216;p52"/>
          <p:cNvSpPr/>
          <p:nvPr/>
        </p:nvSpPr>
        <p:spPr>
          <a:xfrm>
            <a:off x="4636008" y="2624328"/>
            <a:ext cx="4184400" cy="1307700"/>
          </a:xfrm>
          <a:prstGeom prst="roundRect">
            <a:avLst>
              <a:gd fmla="val 979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52"/>
          <p:cNvSpPr/>
          <p:nvPr/>
        </p:nvSpPr>
        <p:spPr>
          <a:xfrm>
            <a:off x="8134502" y="2807208"/>
            <a:ext cx="457200" cy="457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FFFFFF.png" id="1218" name="Google Shape;1218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9658" y="29123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52"/>
          <p:cNvSpPr txBox="1"/>
          <p:nvPr/>
        </p:nvSpPr>
        <p:spPr>
          <a:xfrm>
            <a:off x="5184648" y="2898648"/>
            <a:ext cx="276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Tarefas da spec</a:t>
            </a:r>
            <a:endParaRPr/>
          </a:p>
        </p:txBody>
      </p:sp>
      <p:sp>
        <p:nvSpPr>
          <p:cNvPr id="1220" name="Google Shape;1220;p52"/>
          <p:cNvSpPr txBox="1"/>
          <p:nvPr/>
        </p:nvSpPr>
        <p:spPr>
          <a:xfrm>
            <a:off x="5184648" y="3264408"/>
            <a:ext cx="276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•  </a:t>
            </a: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Pre Task Execution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•  </a:t>
            </a: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Post Task Execution</a:t>
            </a:r>
            <a:endParaRPr/>
          </a:p>
        </p:txBody>
      </p:sp>
      <p:sp>
        <p:nvSpPr>
          <p:cNvPr id="1221" name="Google Shape;1221;p52"/>
          <p:cNvSpPr/>
          <p:nvPr/>
        </p:nvSpPr>
        <p:spPr>
          <a:xfrm>
            <a:off x="4082796" y="2071115"/>
            <a:ext cx="978300" cy="978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52"/>
          <p:cNvSpPr/>
          <p:nvPr/>
        </p:nvSpPr>
        <p:spPr>
          <a:xfrm>
            <a:off x="4137660" y="2125979"/>
            <a:ext cx="868800" cy="8688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52"/>
          <p:cNvSpPr txBox="1"/>
          <p:nvPr/>
        </p:nvSpPr>
        <p:spPr>
          <a:xfrm>
            <a:off x="4137660" y="2125979"/>
            <a:ext cx="868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HOOK</a:t>
            </a:r>
            <a:endParaRPr/>
          </a:p>
        </p:txBody>
      </p:sp>
      <p:sp>
        <p:nvSpPr>
          <p:cNvPr id="1224" name="Google Shape;1224;p52"/>
          <p:cNvSpPr/>
          <p:nvPr/>
        </p:nvSpPr>
        <p:spPr>
          <a:xfrm>
            <a:off x="323697" y="4059936"/>
            <a:ext cx="8496600" cy="649200"/>
          </a:xfrm>
          <a:prstGeom prst="roundRect">
            <a:avLst>
              <a:gd fmla="val 22535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52"/>
          <p:cNvSpPr/>
          <p:nvPr/>
        </p:nvSpPr>
        <p:spPr>
          <a:xfrm>
            <a:off x="506577" y="4155948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rminal_FFFFFF.png" id="1226" name="Google Shape;1226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733" y="426110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52"/>
          <p:cNvSpPr txBox="1"/>
          <p:nvPr/>
        </p:nvSpPr>
        <p:spPr>
          <a:xfrm>
            <a:off x="1192377" y="4059936"/>
            <a:ext cx="7399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Duas ações: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command roda um comando no terminal; agent injeta um prompt na conversa.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53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ANATOMIA DE UM HOOK</a:t>
            </a:r>
            <a:endParaRPr/>
          </a:p>
        </p:txBody>
      </p:sp>
      <p:sp>
        <p:nvSpPr>
          <p:cNvPr id="1233" name="Google Shape;1233;p53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234" name="Google Shape;1234;p53"/>
          <p:cNvSpPr txBox="1"/>
          <p:nvPr/>
        </p:nvSpPr>
        <p:spPr>
          <a:xfrm>
            <a:off x="323697" y="1188720"/>
            <a:ext cx="434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.kiro/hooks/validar-arquitetura.json</a:t>
            </a:r>
            <a:endParaRPr/>
          </a:p>
        </p:txBody>
      </p:sp>
      <p:sp>
        <p:nvSpPr>
          <p:cNvPr id="1235" name="Google Shape;1235;p53"/>
          <p:cNvSpPr/>
          <p:nvPr/>
        </p:nvSpPr>
        <p:spPr>
          <a:xfrm>
            <a:off x="323697" y="1417320"/>
            <a:ext cx="4343400" cy="3291900"/>
          </a:xfrm>
          <a:prstGeom prst="roundRect">
            <a:avLst>
              <a:gd fmla="val 3333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53"/>
          <p:cNvSpPr txBox="1"/>
          <p:nvPr/>
        </p:nvSpPr>
        <p:spPr>
          <a:xfrm>
            <a:off x="506577" y="1563624"/>
            <a:ext cx="39777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"version": "v1",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"hooks": [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"name": "Validar e renderizar",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"trigger": "FileSave",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"matcher": "arquiteturas/.*\\.yaml$",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"action":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  "type": "command",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  "command": "python -m arquitetura.validador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arquiteturas/ --renderizar"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  "timeout": 120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  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237" name="Google Shape;1237;p53"/>
          <p:cNvSpPr/>
          <p:nvPr/>
        </p:nvSpPr>
        <p:spPr>
          <a:xfrm>
            <a:off x="4937760" y="120700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ap_85228B.png" id="1238" name="Google Shape;123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3947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53"/>
          <p:cNvSpPr txBox="1"/>
          <p:nvPr/>
        </p:nvSpPr>
        <p:spPr>
          <a:xfrm>
            <a:off x="5650992" y="1207008"/>
            <a:ext cx="315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TRIGGER</a:t>
            </a:r>
            <a:endParaRPr/>
          </a:p>
        </p:txBody>
      </p:sp>
      <p:sp>
        <p:nvSpPr>
          <p:cNvPr id="1240" name="Google Shape;1240;p53"/>
          <p:cNvSpPr txBox="1"/>
          <p:nvPr/>
        </p:nvSpPr>
        <p:spPr>
          <a:xfrm>
            <a:off x="5650992" y="1444752"/>
            <a:ext cx="315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evento que dispara o hook</a:t>
            </a:r>
            <a:endParaRPr/>
          </a:p>
        </p:txBody>
      </p:sp>
      <p:sp>
        <p:nvSpPr>
          <p:cNvPr id="1241" name="Google Shape;1241;p53"/>
          <p:cNvSpPr/>
          <p:nvPr/>
        </p:nvSpPr>
        <p:spPr>
          <a:xfrm>
            <a:off x="4937760" y="207568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ter_85228B.png" id="1242" name="Google Shape;124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3947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53"/>
          <p:cNvSpPr txBox="1"/>
          <p:nvPr/>
        </p:nvSpPr>
        <p:spPr>
          <a:xfrm>
            <a:off x="5650992" y="2075688"/>
            <a:ext cx="315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MATCHER</a:t>
            </a:r>
            <a:endParaRPr/>
          </a:p>
        </p:txBody>
      </p:sp>
      <p:sp>
        <p:nvSpPr>
          <p:cNvPr id="1244" name="Google Shape;1244;p53"/>
          <p:cNvSpPr txBox="1"/>
          <p:nvPr/>
        </p:nvSpPr>
        <p:spPr>
          <a:xfrm>
            <a:off x="5650992" y="2313432"/>
            <a:ext cx="315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Regex do arquivo ou da ferramenta</a:t>
            </a:r>
            <a:endParaRPr/>
          </a:p>
        </p:txBody>
      </p:sp>
      <p:sp>
        <p:nvSpPr>
          <p:cNvPr id="1245" name="Google Shape;1245;p53"/>
          <p:cNvSpPr/>
          <p:nvPr/>
        </p:nvSpPr>
        <p:spPr>
          <a:xfrm>
            <a:off x="4937760" y="294436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rminal_85228B.png" id="1246" name="Google Shape;1246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947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53"/>
          <p:cNvSpPr txBox="1"/>
          <p:nvPr/>
        </p:nvSpPr>
        <p:spPr>
          <a:xfrm>
            <a:off x="5650992" y="2944368"/>
            <a:ext cx="315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ACTION</a:t>
            </a:r>
            <a:endParaRPr/>
          </a:p>
        </p:txBody>
      </p:sp>
      <p:sp>
        <p:nvSpPr>
          <p:cNvPr id="1248" name="Google Shape;1248;p53"/>
          <p:cNvSpPr txBox="1"/>
          <p:nvPr/>
        </p:nvSpPr>
        <p:spPr>
          <a:xfrm>
            <a:off x="5650992" y="3182112"/>
            <a:ext cx="315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command no terminal ou agent com prompt</a:t>
            </a:r>
            <a:endParaRPr/>
          </a:p>
        </p:txBody>
      </p:sp>
      <p:sp>
        <p:nvSpPr>
          <p:cNvPr id="1249" name="Google Shape;1249;p53"/>
          <p:cNvSpPr/>
          <p:nvPr/>
        </p:nvSpPr>
        <p:spPr>
          <a:xfrm>
            <a:off x="4937760" y="381304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imer_85228B.png" id="1250" name="Google Shape;1250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3947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53"/>
          <p:cNvSpPr txBox="1"/>
          <p:nvPr/>
        </p:nvSpPr>
        <p:spPr>
          <a:xfrm>
            <a:off x="5650992" y="3813047"/>
            <a:ext cx="315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TIMEOUT</a:t>
            </a:r>
            <a:endParaRPr/>
          </a:p>
        </p:txBody>
      </p:sp>
      <p:sp>
        <p:nvSpPr>
          <p:cNvPr id="1252" name="Google Shape;1252;p53"/>
          <p:cNvSpPr txBox="1"/>
          <p:nvPr/>
        </p:nvSpPr>
        <p:spPr>
          <a:xfrm>
            <a:off x="5650992" y="4050791"/>
            <a:ext cx="315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60 s por padrão; aqui 120 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54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OS HOOKS DO WORKSHOP</a:t>
            </a:r>
            <a:endParaRPr/>
          </a:p>
        </p:txBody>
      </p:sp>
      <p:sp>
        <p:nvSpPr>
          <p:cNvPr id="1258" name="Google Shape;1258;p54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259" name="Google Shape;1259;p54"/>
          <p:cNvSpPr/>
          <p:nvPr/>
        </p:nvSpPr>
        <p:spPr>
          <a:xfrm>
            <a:off x="323697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54"/>
          <p:cNvSpPr/>
          <p:nvPr/>
        </p:nvSpPr>
        <p:spPr>
          <a:xfrm>
            <a:off x="506577" y="1344168"/>
            <a:ext cx="548700" cy="5487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_FFFFFF.png" id="1261" name="Google Shape;126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64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54"/>
          <p:cNvSpPr txBox="1"/>
          <p:nvPr/>
        </p:nvSpPr>
        <p:spPr>
          <a:xfrm>
            <a:off x="1192377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HOOK 1</a:t>
            </a:r>
            <a:endParaRPr/>
          </a:p>
        </p:txBody>
      </p:sp>
      <p:sp>
        <p:nvSpPr>
          <p:cNvPr id="1263" name="Google Shape;1263;p54"/>
          <p:cNvSpPr txBox="1"/>
          <p:nvPr/>
        </p:nvSpPr>
        <p:spPr>
          <a:xfrm>
            <a:off x="1192377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Validar e desenhar</a:t>
            </a:r>
            <a:endParaRPr/>
          </a:p>
        </p:txBody>
      </p:sp>
      <p:sp>
        <p:nvSpPr>
          <p:cNvPr id="1264" name="Google Shape;1264;p54"/>
          <p:cNvSpPr txBox="1"/>
          <p:nvPr/>
        </p:nvSpPr>
        <p:spPr>
          <a:xfrm>
            <a:off x="598017" y="2148840"/>
            <a:ext cx="1417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Gatilho</a:t>
            </a:r>
            <a:endParaRPr/>
          </a:p>
        </p:txBody>
      </p:sp>
      <p:sp>
        <p:nvSpPr>
          <p:cNvPr id="1265" name="Google Shape;1265;p54"/>
          <p:cNvSpPr txBox="1"/>
          <p:nvPr/>
        </p:nvSpPr>
        <p:spPr>
          <a:xfrm>
            <a:off x="2015337" y="2148840"/>
            <a:ext cx="217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File Save em arquiteturas/*.yaml</a:t>
            </a:r>
            <a:endParaRPr/>
          </a:p>
        </p:txBody>
      </p:sp>
      <p:sp>
        <p:nvSpPr>
          <p:cNvPr id="1266" name="Google Shape;1266;p54"/>
          <p:cNvSpPr txBox="1"/>
          <p:nvPr/>
        </p:nvSpPr>
        <p:spPr>
          <a:xfrm>
            <a:off x="598017" y="2712720"/>
            <a:ext cx="1417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Ação</a:t>
            </a:r>
            <a:endParaRPr/>
          </a:p>
        </p:txBody>
      </p:sp>
      <p:sp>
        <p:nvSpPr>
          <p:cNvPr id="1267" name="Google Shape;1267;p54"/>
          <p:cNvSpPr txBox="1"/>
          <p:nvPr/>
        </p:nvSpPr>
        <p:spPr>
          <a:xfrm>
            <a:off x="2015337" y="2712720"/>
            <a:ext cx="217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validador --renderizar</a:t>
            </a:r>
            <a:endParaRPr/>
          </a:p>
        </p:txBody>
      </p:sp>
      <p:sp>
        <p:nvSpPr>
          <p:cNvPr id="1268" name="Google Shape;1268;p54"/>
          <p:cNvSpPr txBox="1"/>
          <p:nvPr/>
        </p:nvSpPr>
        <p:spPr>
          <a:xfrm>
            <a:off x="598017" y="3276600"/>
            <a:ext cx="1417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Objetivo</a:t>
            </a:r>
            <a:endParaRPr/>
          </a:p>
        </p:txBody>
      </p:sp>
      <p:sp>
        <p:nvSpPr>
          <p:cNvPr id="1269" name="Google Shape;1269;p54"/>
          <p:cNvSpPr txBox="1"/>
          <p:nvPr/>
        </p:nvSpPr>
        <p:spPr>
          <a:xfrm>
            <a:off x="2015337" y="3276600"/>
            <a:ext cx="217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salvou, desenhou</a:t>
            </a:r>
            <a:endParaRPr/>
          </a:p>
        </p:txBody>
      </p:sp>
      <p:sp>
        <p:nvSpPr>
          <p:cNvPr id="1270" name="Google Shape;1270;p54"/>
          <p:cNvSpPr txBox="1"/>
          <p:nvPr/>
        </p:nvSpPr>
        <p:spPr>
          <a:xfrm>
            <a:off x="4375404" y="2377439"/>
            <a:ext cx="39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/>
          </a:p>
        </p:txBody>
      </p:sp>
      <p:sp>
        <p:nvSpPr>
          <p:cNvPr id="1271" name="Google Shape;1271;p54"/>
          <p:cNvSpPr/>
          <p:nvPr/>
        </p:nvSpPr>
        <p:spPr>
          <a:xfrm>
            <a:off x="4768596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54"/>
          <p:cNvSpPr/>
          <p:nvPr/>
        </p:nvSpPr>
        <p:spPr>
          <a:xfrm>
            <a:off x="4951476" y="1344168"/>
            <a:ext cx="548700" cy="5487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eyRound_FFFFFF.png" id="1273" name="Google Shape;127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663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54"/>
          <p:cNvSpPr txBox="1"/>
          <p:nvPr/>
        </p:nvSpPr>
        <p:spPr>
          <a:xfrm>
            <a:off x="5637276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HOOK 2</a:t>
            </a:r>
            <a:endParaRPr/>
          </a:p>
        </p:txBody>
      </p:sp>
      <p:sp>
        <p:nvSpPr>
          <p:cNvPr id="1275" name="Google Shape;1275;p54"/>
          <p:cNvSpPr txBox="1"/>
          <p:nvPr/>
        </p:nvSpPr>
        <p:spPr>
          <a:xfrm>
            <a:off x="5637276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Caça-segredos</a:t>
            </a:r>
            <a:endParaRPr/>
          </a:p>
        </p:txBody>
      </p:sp>
      <p:sp>
        <p:nvSpPr>
          <p:cNvPr id="1276" name="Google Shape;1276;p54"/>
          <p:cNvSpPr txBox="1"/>
          <p:nvPr/>
        </p:nvSpPr>
        <p:spPr>
          <a:xfrm>
            <a:off x="5042916" y="2148840"/>
            <a:ext cx="1417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Gatilho</a:t>
            </a:r>
            <a:endParaRPr/>
          </a:p>
        </p:txBody>
      </p:sp>
      <p:sp>
        <p:nvSpPr>
          <p:cNvPr id="1277" name="Google Shape;1277;p54"/>
          <p:cNvSpPr txBox="1"/>
          <p:nvPr/>
        </p:nvSpPr>
        <p:spPr>
          <a:xfrm>
            <a:off x="6460236" y="2148840"/>
            <a:ext cx="217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Post Task Execution</a:t>
            </a:r>
            <a:endParaRPr/>
          </a:p>
        </p:txBody>
      </p:sp>
      <p:sp>
        <p:nvSpPr>
          <p:cNvPr id="1278" name="Google Shape;1278;p54"/>
          <p:cNvSpPr txBox="1"/>
          <p:nvPr/>
        </p:nvSpPr>
        <p:spPr>
          <a:xfrm>
            <a:off x="5042916" y="2712720"/>
            <a:ext cx="1417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Ação</a:t>
            </a:r>
            <a:endParaRPr/>
          </a:p>
        </p:txBody>
      </p:sp>
      <p:sp>
        <p:nvSpPr>
          <p:cNvPr id="1279" name="Google Shape;1279;p54"/>
          <p:cNvSpPr txBox="1"/>
          <p:nvPr/>
        </p:nvSpPr>
        <p:spPr>
          <a:xfrm>
            <a:off x="6460236" y="2712720"/>
            <a:ext cx="217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busca por AKIA e aws_secret</a:t>
            </a:r>
            <a:endParaRPr/>
          </a:p>
        </p:txBody>
      </p:sp>
      <p:sp>
        <p:nvSpPr>
          <p:cNvPr id="1280" name="Google Shape;1280;p54"/>
          <p:cNvSpPr txBox="1"/>
          <p:nvPr/>
        </p:nvSpPr>
        <p:spPr>
          <a:xfrm>
            <a:off x="5042916" y="3276600"/>
            <a:ext cx="1417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Objetivo</a:t>
            </a:r>
            <a:endParaRPr/>
          </a:p>
        </p:txBody>
      </p:sp>
      <p:sp>
        <p:nvSpPr>
          <p:cNvPr id="1281" name="Google Shape;1281;p54"/>
          <p:cNvSpPr txBox="1"/>
          <p:nvPr/>
        </p:nvSpPr>
        <p:spPr>
          <a:xfrm>
            <a:off x="6460236" y="3276600"/>
            <a:ext cx="217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nenhuma chave no commit</a:t>
            </a:r>
            <a:endParaRPr/>
          </a:p>
        </p:txBody>
      </p:sp>
      <p:sp>
        <p:nvSpPr>
          <p:cNvPr id="1282" name="Google Shape;1282;p54"/>
          <p:cNvSpPr/>
          <p:nvPr/>
        </p:nvSpPr>
        <p:spPr>
          <a:xfrm>
            <a:off x="323697" y="4069080"/>
            <a:ext cx="8496600" cy="640200"/>
          </a:xfrm>
          <a:prstGeom prst="roundRect">
            <a:avLst>
              <a:gd fmla="val 2285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54"/>
          <p:cNvSpPr/>
          <p:nvPr/>
        </p:nvSpPr>
        <p:spPr>
          <a:xfrm>
            <a:off x="506577" y="416052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itBranch_FFFFFF.png" id="1284" name="Google Shape;1284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733" y="4265676"/>
            <a:ext cx="246887" cy="246887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54"/>
          <p:cNvSpPr txBox="1"/>
          <p:nvPr/>
        </p:nvSpPr>
        <p:spPr>
          <a:xfrm>
            <a:off x="1192377" y="4069080"/>
            <a:ext cx="739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Desafio extra: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transformar o Hook 2 num pre-commit do Git, que bloqueia o commit de verdade.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5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HANDS-ON 2B: ROTEIRO</a:t>
            </a:r>
            <a:endParaRPr/>
          </a:p>
        </p:txBody>
      </p:sp>
      <p:sp>
        <p:nvSpPr>
          <p:cNvPr id="1291" name="Google Shape;1291;p5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292" name="Google Shape;1292;p55"/>
          <p:cNvSpPr/>
          <p:nvPr/>
        </p:nvSpPr>
        <p:spPr>
          <a:xfrm>
            <a:off x="323697" y="1188720"/>
            <a:ext cx="2263200" cy="255900"/>
          </a:xfrm>
          <a:prstGeom prst="roundRect">
            <a:avLst>
              <a:gd fmla="val 5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55"/>
          <p:cNvSpPr txBox="1"/>
          <p:nvPr/>
        </p:nvSpPr>
        <p:spPr>
          <a:xfrm>
            <a:off x="323697" y="1188720"/>
            <a:ext cx="226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11H37 ÀS 11H50  ·  EM GRUPO</a:t>
            </a:r>
            <a:endParaRPr/>
          </a:p>
        </p:txBody>
      </p:sp>
      <p:sp>
        <p:nvSpPr>
          <p:cNvPr id="1294" name="Google Shape;1294;p55"/>
          <p:cNvSpPr/>
          <p:nvPr/>
        </p:nvSpPr>
        <p:spPr>
          <a:xfrm>
            <a:off x="323697" y="1572768"/>
            <a:ext cx="1890900" cy="2011800"/>
          </a:xfrm>
          <a:prstGeom prst="roundRect">
            <a:avLst>
              <a:gd fmla="val 7736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55"/>
          <p:cNvSpPr/>
          <p:nvPr/>
        </p:nvSpPr>
        <p:spPr>
          <a:xfrm>
            <a:off x="940003" y="1810512"/>
            <a:ext cx="658500" cy="6585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ap_FFFFFF.png" id="1296" name="Google Shape;129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427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55"/>
          <p:cNvSpPr txBox="1"/>
          <p:nvPr/>
        </p:nvSpPr>
        <p:spPr>
          <a:xfrm>
            <a:off x="460857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/>
          </a:p>
        </p:txBody>
      </p:sp>
      <p:sp>
        <p:nvSpPr>
          <p:cNvPr id="1298" name="Google Shape;1298;p55"/>
          <p:cNvSpPr txBox="1"/>
          <p:nvPr/>
        </p:nvSpPr>
        <p:spPr>
          <a:xfrm>
            <a:off x="460857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Criar hooks</a:t>
            </a:r>
            <a:endParaRPr/>
          </a:p>
        </p:txBody>
      </p:sp>
      <p:sp>
        <p:nvSpPr>
          <p:cNvPr id="1299" name="Google Shape;1299;p55"/>
          <p:cNvSpPr txBox="1"/>
          <p:nvPr/>
        </p:nvSpPr>
        <p:spPr>
          <a:xfrm>
            <a:off x="506577" y="3127248"/>
            <a:ext cx="152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Ask Kiro to create a hook, em português</a:t>
            </a:r>
            <a:endParaRPr/>
          </a:p>
        </p:txBody>
      </p:sp>
      <p:cxnSp>
        <p:nvCxnSpPr>
          <p:cNvPr id="1300" name="Google Shape;1300;p55"/>
          <p:cNvCxnSpPr/>
          <p:nvPr/>
        </p:nvCxnSpPr>
        <p:spPr>
          <a:xfrm>
            <a:off x="2260396" y="2139696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1" name="Google Shape;1301;p55"/>
          <p:cNvSpPr/>
          <p:nvPr/>
        </p:nvSpPr>
        <p:spPr>
          <a:xfrm>
            <a:off x="2525572" y="1572768"/>
            <a:ext cx="1890900" cy="2011800"/>
          </a:xfrm>
          <a:prstGeom prst="roundRect">
            <a:avLst>
              <a:gd fmla="val 7736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5"/>
          <p:cNvSpPr/>
          <p:nvPr/>
        </p:nvSpPr>
        <p:spPr>
          <a:xfrm>
            <a:off x="3141878" y="1810512"/>
            <a:ext cx="658500" cy="6585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FFFFFF.png" id="1303" name="Google Shape;130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3303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55"/>
          <p:cNvSpPr txBox="1"/>
          <p:nvPr/>
        </p:nvSpPr>
        <p:spPr>
          <a:xfrm>
            <a:off x="2662732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/>
          </a:p>
        </p:txBody>
      </p:sp>
      <p:sp>
        <p:nvSpPr>
          <p:cNvPr id="1305" name="Google Shape;1305;p55"/>
          <p:cNvSpPr txBox="1"/>
          <p:nvPr/>
        </p:nvSpPr>
        <p:spPr>
          <a:xfrm>
            <a:off x="2662732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Usar a skill</a:t>
            </a:r>
            <a:endParaRPr/>
          </a:p>
        </p:txBody>
      </p:sp>
      <p:sp>
        <p:nvSpPr>
          <p:cNvPr id="1306" name="Google Shape;1306;p55"/>
          <p:cNvSpPr txBox="1"/>
          <p:nvPr/>
        </p:nvSpPr>
        <p:spPr>
          <a:xfrm>
            <a:off x="2708452" y="3127248"/>
            <a:ext cx="152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"Gere a arquitetura do nosso caso"</a:t>
            </a:r>
            <a:endParaRPr/>
          </a:p>
        </p:txBody>
      </p:sp>
      <p:cxnSp>
        <p:nvCxnSpPr>
          <p:cNvPr id="1307" name="Google Shape;1307;p55"/>
          <p:cNvCxnSpPr/>
          <p:nvPr/>
        </p:nvCxnSpPr>
        <p:spPr>
          <a:xfrm>
            <a:off x="4462272" y="2139696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8" name="Google Shape;1308;p55"/>
          <p:cNvSpPr/>
          <p:nvPr/>
        </p:nvSpPr>
        <p:spPr>
          <a:xfrm>
            <a:off x="4727448" y="1572768"/>
            <a:ext cx="1890900" cy="2011800"/>
          </a:xfrm>
          <a:prstGeom prst="roundRect">
            <a:avLst>
              <a:gd fmla="val 7736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55"/>
          <p:cNvSpPr/>
          <p:nvPr/>
        </p:nvSpPr>
        <p:spPr>
          <a:xfrm>
            <a:off x="5343753" y="1810512"/>
            <a:ext cx="658500" cy="6585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ye_FFFFFF.png" id="1310" name="Google Shape;1310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5178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55"/>
          <p:cNvSpPr txBox="1"/>
          <p:nvPr/>
        </p:nvSpPr>
        <p:spPr>
          <a:xfrm>
            <a:off x="4864608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/>
          </a:p>
        </p:txBody>
      </p:sp>
      <p:sp>
        <p:nvSpPr>
          <p:cNvPr id="1312" name="Google Shape;1312;p55"/>
          <p:cNvSpPr txBox="1"/>
          <p:nvPr/>
        </p:nvSpPr>
        <p:spPr>
          <a:xfrm>
            <a:off x="4864608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Conferir PNG</a:t>
            </a:r>
            <a:endParaRPr/>
          </a:p>
        </p:txBody>
      </p:sp>
      <p:sp>
        <p:nvSpPr>
          <p:cNvPr id="1313" name="Google Shape;1313;p55"/>
          <p:cNvSpPr txBox="1"/>
          <p:nvPr/>
        </p:nvSpPr>
        <p:spPr>
          <a:xfrm>
            <a:off x="4910328" y="3127248"/>
            <a:ext cx="152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Guardião compara com o guia visual</a:t>
            </a:r>
            <a:endParaRPr/>
          </a:p>
        </p:txBody>
      </p:sp>
      <p:cxnSp>
        <p:nvCxnSpPr>
          <p:cNvPr id="1314" name="Google Shape;1314;p55"/>
          <p:cNvCxnSpPr/>
          <p:nvPr/>
        </p:nvCxnSpPr>
        <p:spPr>
          <a:xfrm>
            <a:off x="6664147" y="2139696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5" name="Google Shape;1315;p55"/>
          <p:cNvSpPr/>
          <p:nvPr/>
        </p:nvSpPr>
        <p:spPr>
          <a:xfrm>
            <a:off x="6929323" y="1572768"/>
            <a:ext cx="1890900" cy="2011800"/>
          </a:xfrm>
          <a:prstGeom prst="roundRect">
            <a:avLst>
              <a:gd fmla="val 7736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5"/>
          <p:cNvSpPr/>
          <p:nvPr/>
        </p:nvSpPr>
        <p:spPr>
          <a:xfrm>
            <a:off x="7545628" y="1810512"/>
            <a:ext cx="658500" cy="6585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itMerge_FFFFFF.png" id="1317" name="Google Shape;1317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97053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55"/>
          <p:cNvSpPr txBox="1"/>
          <p:nvPr/>
        </p:nvSpPr>
        <p:spPr>
          <a:xfrm>
            <a:off x="7066483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PASSO 4</a:t>
            </a:r>
            <a:endParaRPr/>
          </a:p>
        </p:txBody>
      </p:sp>
      <p:sp>
        <p:nvSpPr>
          <p:cNvPr id="1319" name="Google Shape;1319;p55"/>
          <p:cNvSpPr txBox="1"/>
          <p:nvPr/>
        </p:nvSpPr>
        <p:spPr>
          <a:xfrm>
            <a:off x="7066483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Merge</a:t>
            </a:r>
            <a:endParaRPr/>
          </a:p>
        </p:txBody>
      </p:sp>
      <p:sp>
        <p:nvSpPr>
          <p:cNvPr id="1320" name="Google Shape;1320;p55"/>
          <p:cNvSpPr txBox="1"/>
          <p:nvPr/>
        </p:nvSpPr>
        <p:spPr>
          <a:xfrm>
            <a:off x="7112203" y="3127248"/>
            <a:ext cx="152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Pull requests de todos os papéis</a:t>
            </a:r>
            <a:endParaRPr/>
          </a:p>
        </p:txBody>
      </p:sp>
      <p:sp>
        <p:nvSpPr>
          <p:cNvPr id="1321" name="Google Shape;1321;p55"/>
          <p:cNvSpPr/>
          <p:nvPr/>
        </p:nvSpPr>
        <p:spPr>
          <a:xfrm>
            <a:off x="323697" y="3840480"/>
            <a:ext cx="8496600" cy="868800"/>
          </a:xfrm>
          <a:prstGeom prst="roundRect">
            <a:avLst>
              <a:gd fmla="val 12631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55"/>
          <p:cNvSpPr txBox="1"/>
          <p:nvPr/>
        </p:nvSpPr>
        <p:spPr>
          <a:xfrm>
            <a:off x="506577" y="3986784"/>
            <a:ext cx="813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git add .kiro arquitetura arquiteturas saida tests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"feat: validador, skill e primeiro diagrama do caso"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F2F2F5"/>
                </a:solidFill>
                <a:latin typeface="Courier New"/>
                <a:ea typeface="Courier New"/>
                <a:cs typeface="Courier New"/>
                <a:sym typeface="Courier New"/>
              </a:rPr>
              <a:t>git push origin &lt;branch-do-papel&gt;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56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COMO ENSINAR COM IA</a:t>
            </a:r>
            <a:endParaRPr/>
          </a:p>
        </p:txBody>
      </p:sp>
      <p:sp>
        <p:nvSpPr>
          <p:cNvPr id="1328" name="Google Shape;1328;p56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Avaliar o processo, não só o resultado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57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EVIDÊNCIAS DO PROCESSO</a:t>
            </a:r>
            <a:endParaRPr/>
          </a:p>
        </p:txBody>
      </p:sp>
      <p:sp>
        <p:nvSpPr>
          <p:cNvPr id="1334" name="Google Shape;1334;p57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335" name="Google Shape;1335;p57"/>
          <p:cNvSpPr/>
          <p:nvPr/>
        </p:nvSpPr>
        <p:spPr>
          <a:xfrm>
            <a:off x="506577" y="3291840"/>
            <a:ext cx="1881900" cy="822900"/>
          </a:xfrm>
          <a:prstGeom prst="roundRect">
            <a:avLst>
              <a:gd fmla="val 11111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57"/>
          <p:cNvSpPr txBox="1"/>
          <p:nvPr/>
        </p:nvSpPr>
        <p:spPr>
          <a:xfrm>
            <a:off x="506577" y="3401568"/>
            <a:ext cx="18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NÍVEL 1</a:t>
            </a:r>
            <a:endParaRPr/>
          </a:p>
        </p:txBody>
      </p:sp>
      <p:pic>
        <p:nvPicPr>
          <p:cNvPr descr="FileText_FFFFFF.png" id="1337" name="Google Shape;133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903" y="37033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57"/>
          <p:cNvSpPr txBox="1"/>
          <p:nvPr/>
        </p:nvSpPr>
        <p:spPr>
          <a:xfrm>
            <a:off x="506577" y="4206240"/>
            <a:ext cx="18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Spec</a:t>
            </a:r>
            <a:endParaRPr/>
          </a:p>
        </p:txBody>
      </p:sp>
      <p:sp>
        <p:nvSpPr>
          <p:cNvPr id="1339" name="Google Shape;1339;p57"/>
          <p:cNvSpPr txBox="1"/>
          <p:nvPr/>
        </p:nvSpPr>
        <p:spPr>
          <a:xfrm>
            <a:off x="552297" y="4462272"/>
            <a:ext cx="179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Requisitos que o grupo revisou</a:t>
            </a:r>
            <a:endParaRPr/>
          </a:p>
        </p:txBody>
      </p:sp>
      <p:sp>
        <p:nvSpPr>
          <p:cNvPr id="1340" name="Google Shape;1340;p57"/>
          <p:cNvSpPr/>
          <p:nvPr/>
        </p:nvSpPr>
        <p:spPr>
          <a:xfrm>
            <a:off x="2589580" y="2697480"/>
            <a:ext cx="1881900" cy="1417200"/>
          </a:xfrm>
          <a:prstGeom prst="roundRect">
            <a:avLst>
              <a:gd fmla="val 6451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57"/>
          <p:cNvSpPr txBox="1"/>
          <p:nvPr/>
        </p:nvSpPr>
        <p:spPr>
          <a:xfrm>
            <a:off x="2589580" y="2807208"/>
            <a:ext cx="18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NÍVEL 2</a:t>
            </a:r>
            <a:endParaRPr/>
          </a:p>
        </p:txBody>
      </p:sp>
      <p:pic>
        <p:nvPicPr>
          <p:cNvPr descr="GitCommitHorizontal_FFFFFF.png" id="1342" name="Google Shape;134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5906" y="31089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57"/>
          <p:cNvSpPr txBox="1"/>
          <p:nvPr/>
        </p:nvSpPr>
        <p:spPr>
          <a:xfrm>
            <a:off x="2589580" y="4206240"/>
            <a:ext cx="18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Commits</a:t>
            </a:r>
            <a:endParaRPr/>
          </a:p>
        </p:txBody>
      </p:sp>
      <p:sp>
        <p:nvSpPr>
          <p:cNvPr id="1344" name="Google Shape;1344;p57"/>
          <p:cNvSpPr txBox="1"/>
          <p:nvPr/>
        </p:nvSpPr>
        <p:spPr>
          <a:xfrm>
            <a:off x="2635300" y="4462272"/>
            <a:ext cx="179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 histórico por papel</a:t>
            </a:r>
            <a:endParaRPr/>
          </a:p>
        </p:txBody>
      </p:sp>
      <p:sp>
        <p:nvSpPr>
          <p:cNvPr id="1345" name="Google Shape;1345;p57"/>
          <p:cNvSpPr/>
          <p:nvPr/>
        </p:nvSpPr>
        <p:spPr>
          <a:xfrm>
            <a:off x="4672584" y="2103120"/>
            <a:ext cx="1881900" cy="2011800"/>
          </a:xfrm>
          <a:prstGeom prst="roundRect">
            <a:avLst>
              <a:gd fmla="val 4859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57"/>
          <p:cNvSpPr txBox="1"/>
          <p:nvPr/>
        </p:nvSpPr>
        <p:spPr>
          <a:xfrm>
            <a:off x="4672584" y="2212848"/>
            <a:ext cx="18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NÍVEL 3</a:t>
            </a:r>
            <a:endParaRPr/>
          </a:p>
        </p:txBody>
      </p:sp>
      <p:pic>
        <p:nvPicPr>
          <p:cNvPr descr="FlaskConical_FFFFFF.png" id="1347" name="Google Shape;1347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8909" y="251460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57"/>
          <p:cNvSpPr txBox="1"/>
          <p:nvPr/>
        </p:nvSpPr>
        <p:spPr>
          <a:xfrm>
            <a:off x="4672584" y="4206240"/>
            <a:ext cx="18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Testes</a:t>
            </a:r>
            <a:endParaRPr/>
          </a:p>
        </p:txBody>
      </p:sp>
      <p:sp>
        <p:nvSpPr>
          <p:cNvPr id="1349" name="Google Shape;1349;p57"/>
          <p:cNvSpPr txBox="1"/>
          <p:nvPr/>
        </p:nvSpPr>
        <p:spPr>
          <a:xfrm>
            <a:off x="4718304" y="4462272"/>
            <a:ext cx="179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Casos que o aluno ajustou</a:t>
            </a:r>
            <a:endParaRPr/>
          </a:p>
        </p:txBody>
      </p:sp>
      <p:sp>
        <p:nvSpPr>
          <p:cNvPr id="1350" name="Google Shape;1350;p57"/>
          <p:cNvSpPr/>
          <p:nvPr/>
        </p:nvSpPr>
        <p:spPr>
          <a:xfrm>
            <a:off x="6755587" y="1508760"/>
            <a:ext cx="1881900" cy="2606100"/>
          </a:xfrm>
          <a:prstGeom prst="roundRect">
            <a:avLst>
              <a:gd fmla="val 4859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57"/>
          <p:cNvSpPr txBox="1"/>
          <p:nvPr/>
        </p:nvSpPr>
        <p:spPr>
          <a:xfrm>
            <a:off x="6755587" y="1618488"/>
            <a:ext cx="18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NÍVEL 4</a:t>
            </a:r>
            <a:endParaRPr/>
          </a:p>
        </p:txBody>
      </p:sp>
      <p:pic>
        <p:nvPicPr>
          <p:cNvPr descr="Mic_FFFFFF.png" id="1352" name="Google Shape;1352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1912" y="192024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57"/>
          <p:cNvSpPr txBox="1"/>
          <p:nvPr/>
        </p:nvSpPr>
        <p:spPr>
          <a:xfrm>
            <a:off x="6755587" y="4206240"/>
            <a:ext cx="18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Defesa</a:t>
            </a:r>
            <a:endParaRPr/>
          </a:p>
        </p:txBody>
      </p:sp>
      <p:sp>
        <p:nvSpPr>
          <p:cNvPr id="1354" name="Google Shape;1354;p57"/>
          <p:cNvSpPr txBox="1"/>
          <p:nvPr/>
        </p:nvSpPr>
        <p:spPr>
          <a:xfrm>
            <a:off x="6801307" y="4462272"/>
            <a:ext cx="179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Responder sem slide na tela</a:t>
            </a:r>
            <a:endParaRPr/>
          </a:p>
        </p:txBody>
      </p:sp>
      <p:cxnSp>
        <p:nvCxnSpPr>
          <p:cNvPr id="1355" name="Google Shape;1355;p57"/>
          <p:cNvCxnSpPr/>
          <p:nvPr/>
        </p:nvCxnSpPr>
        <p:spPr>
          <a:xfrm>
            <a:off x="415137" y="4133087"/>
            <a:ext cx="8313600" cy="0"/>
          </a:xfrm>
          <a:prstGeom prst="straightConnector1">
            <a:avLst/>
          </a:prstGeom>
          <a:noFill/>
          <a:ln cap="flat" cmpd="sng" w="19050">
            <a:solidFill>
              <a:srgbClr val="C9CAD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58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COMO AVALIAR</a:t>
            </a:r>
            <a:endParaRPr/>
          </a:p>
        </p:txBody>
      </p:sp>
      <p:sp>
        <p:nvSpPr>
          <p:cNvPr id="1361" name="Google Shape;1361;p58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362" name="Google Shape;1362;p58"/>
          <p:cNvSpPr/>
          <p:nvPr/>
        </p:nvSpPr>
        <p:spPr>
          <a:xfrm>
            <a:off x="323697" y="1188720"/>
            <a:ext cx="8496600" cy="914400"/>
          </a:xfrm>
          <a:prstGeom prst="roundRect">
            <a:avLst>
              <a:gd fmla="val 14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58"/>
          <p:cNvSpPr/>
          <p:nvPr/>
        </p:nvSpPr>
        <p:spPr>
          <a:xfrm>
            <a:off x="323697" y="1188720"/>
            <a:ext cx="822900" cy="914400"/>
          </a:xfrm>
          <a:prstGeom prst="roundRect">
            <a:avLst>
              <a:gd fmla="val 15555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58"/>
          <p:cNvSpPr/>
          <p:nvPr/>
        </p:nvSpPr>
        <p:spPr>
          <a:xfrm>
            <a:off x="872337" y="1188720"/>
            <a:ext cx="274200" cy="914400"/>
          </a:xfrm>
          <a:prstGeom prst="roundRect">
            <a:avLst>
              <a:gd fmla="val 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58"/>
          <p:cNvSpPr txBox="1"/>
          <p:nvPr/>
        </p:nvSpPr>
        <p:spPr>
          <a:xfrm>
            <a:off x="323697" y="1188720"/>
            <a:ext cx="82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endParaRPr/>
          </a:p>
        </p:txBody>
      </p:sp>
      <p:sp>
        <p:nvSpPr>
          <p:cNvPr id="1366" name="Google Shape;1366;p58"/>
          <p:cNvSpPr txBox="1"/>
          <p:nvPr/>
        </p:nvSpPr>
        <p:spPr>
          <a:xfrm>
            <a:off x="1375257" y="1325880"/>
            <a:ext cx="7216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O aluno sabe explicar e testar o que a IA gerou?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Critério único para trabalhos feitos com IA</a:t>
            </a:r>
            <a:endParaRPr/>
          </a:p>
        </p:txBody>
      </p:sp>
      <p:sp>
        <p:nvSpPr>
          <p:cNvPr id="1367" name="Google Shape;1367;p58"/>
          <p:cNvSpPr/>
          <p:nvPr/>
        </p:nvSpPr>
        <p:spPr>
          <a:xfrm>
            <a:off x="323697" y="2331720"/>
            <a:ext cx="2649300" cy="2377500"/>
          </a:xfrm>
          <a:prstGeom prst="roundRect">
            <a:avLst>
              <a:gd fmla="val 615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58"/>
          <p:cNvSpPr/>
          <p:nvPr/>
        </p:nvSpPr>
        <p:spPr>
          <a:xfrm>
            <a:off x="588873" y="2578608"/>
            <a:ext cx="603600" cy="6036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leCheck_FFFFFF.png" id="1369" name="Google Shape;136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679" y="271741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58"/>
          <p:cNvSpPr txBox="1"/>
          <p:nvPr/>
        </p:nvSpPr>
        <p:spPr>
          <a:xfrm>
            <a:off x="598017" y="3310128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ACEITO</a:t>
            </a:r>
            <a:endParaRPr/>
          </a:p>
        </p:txBody>
      </p:sp>
      <p:sp>
        <p:nvSpPr>
          <p:cNvPr id="1371" name="Google Shape;1371;p58"/>
          <p:cNvSpPr txBox="1"/>
          <p:nvPr/>
        </p:nvSpPr>
        <p:spPr>
          <a:xfrm>
            <a:off x="598017" y="3520439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Explica e testa</a:t>
            </a:r>
            <a:endParaRPr/>
          </a:p>
        </p:txBody>
      </p:sp>
      <p:sp>
        <p:nvSpPr>
          <p:cNvPr id="1372" name="Google Shape;1372;p58"/>
          <p:cNvSpPr txBox="1"/>
          <p:nvPr/>
        </p:nvSpPr>
        <p:spPr>
          <a:xfrm>
            <a:off x="598017" y="3867911"/>
            <a:ext cx="214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Entende cada decisão e mostra o teste passando.</a:t>
            </a:r>
            <a:endParaRPr/>
          </a:p>
        </p:txBody>
      </p:sp>
      <p:sp>
        <p:nvSpPr>
          <p:cNvPr id="1373" name="Google Shape;1373;p58"/>
          <p:cNvSpPr/>
          <p:nvPr/>
        </p:nvSpPr>
        <p:spPr>
          <a:xfrm>
            <a:off x="3247339" y="2331720"/>
            <a:ext cx="2649300" cy="2377500"/>
          </a:xfrm>
          <a:prstGeom prst="roundRect">
            <a:avLst>
              <a:gd fmla="val 615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58"/>
          <p:cNvSpPr/>
          <p:nvPr/>
        </p:nvSpPr>
        <p:spPr>
          <a:xfrm>
            <a:off x="3512515" y="2578608"/>
            <a:ext cx="603600" cy="6036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leAlert_FFFFFF.png" id="1375" name="Google Shape;137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321" y="271741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58"/>
          <p:cNvSpPr txBox="1"/>
          <p:nvPr/>
        </p:nvSpPr>
        <p:spPr>
          <a:xfrm>
            <a:off x="3521659" y="3310128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REVISAR</a:t>
            </a:r>
            <a:endParaRPr/>
          </a:p>
        </p:txBody>
      </p:sp>
      <p:sp>
        <p:nvSpPr>
          <p:cNvPr id="1377" name="Google Shape;1377;p58"/>
          <p:cNvSpPr txBox="1"/>
          <p:nvPr/>
        </p:nvSpPr>
        <p:spPr>
          <a:xfrm>
            <a:off x="3521659" y="3520439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Explica, não testa</a:t>
            </a:r>
            <a:endParaRPr/>
          </a:p>
        </p:txBody>
      </p:sp>
      <p:sp>
        <p:nvSpPr>
          <p:cNvPr id="1378" name="Google Shape;1378;p58"/>
          <p:cNvSpPr txBox="1"/>
          <p:nvPr/>
        </p:nvSpPr>
        <p:spPr>
          <a:xfrm>
            <a:off x="3521659" y="3867911"/>
            <a:ext cx="214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Pedir os casos de borda antes de aceitar.</a:t>
            </a:r>
            <a:endParaRPr/>
          </a:p>
        </p:txBody>
      </p:sp>
      <p:sp>
        <p:nvSpPr>
          <p:cNvPr id="1379" name="Google Shape;1379;p58"/>
          <p:cNvSpPr/>
          <p:nvPr/>
        </p:nvSpPr>
        <p:spPr>
          <a:xfrm>
            <a:off x="6170980" y="2331720"/>
            <a:ext cx="2649300" cy="2377500"/>
          </a:xfrm>
          <a:prstGeom prst="roundRect">
            <a:avLst>
              <a:gd fmla="val 615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58"/>
          <p:cNvSpPr/>
          <p:nvPr/>
        </p:nvSpPr>
        <p:spPr>
          <a:xfrm>
            <a:off x="6436156" y="2578608"/>
            <a:ext cx="603600" cy="6036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leX_FFFFFF.png" id="1381" name="Google Shape;138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962" y="271741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58"/>
          <p:cNvSpPr txBox="1"/>
          <p:nvPr/>
        </p:nvSpPr>
        <p:spPr>
          <a:xfrm>
            <a:off x="6445300" y="3310128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REFAZER</a:t>
            </a:r>
            <a:endParaRPr/>
          </a:p>
        </p:txBody>
      </p:sp>
      <p:sp>
        <p:nvSpPr>
          <p:cNvPr id="1383" name="Google Shape;1383;p58"/>
          <p:cNvSpPr txBox="1"/>
          <p:nvPr/>
        </p:nvSpPr>
        <p:spPr>
          <a:xfrm>
            <a:off x="6445300" y="3520439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Não explica</a:t>
            </a:r>
            <a:endParaRPr/>
          </a:p>
        </p:txBody>
      </p:sp>
      <p:sp>
        <p:nvSpPr>
          <p:cNvPr id="1384" name="Google Shape;1384;p58"/>
          <p:cNvSpPr txBox="1"/>
          <p:nvPr/>
        </p:nvSpPr>
        <p:spPr>
          <a:xfrm>
            <a:off x="6445300" y="3867911"/>
            <a:ext cx="214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Refaz com spec própria e revisão em dupla.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59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GOVERNANÇA EM SALA</a:t>
            </a:r>
            <a:endParaRPr/>
          </a:p>
        </p:txBody>
      </p:sp>
      <p:sp>
        <p:nvSpPr>
          <p:cNvPr id="1390" name="Google Shape;1390;p59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391" name="Google Shape;1391;p59"/>
          <p:cNvSpPr/>
          <p:nvPr/>
        </p:nvSpPr>
        <p:spPr>
          <a:xfrm>
            <a:off x="323697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59"/>
          <p:cNvSpPr/>
          <p:nvPr/>
        </p:nvSpPr>
        <p:spPr>
          <a:xfrm>
            <a:off x="534009" y="1399032"/>
            <a:ext cx="585300" cy="5853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yeOff_FFFFFF.png" id="1393" name="Google Shape;139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609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59"/>
          <p:cNvSpPr txBox="1"/>
          <p:nvPr/>
        </p:nvSpPr>
        <p:spPr>
          <a:xfrm>
            <a:off x="1283817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PRIVACIDADE</a:t>
            </a:r>
            <a:endParaRPr/>
          </a:p>
        </p:txBody>
      </p:sp>
      <p:sp>
        <p:nvSpPr>
          <p:cNvPr id="1395" name="Google Shape;1395;p59"/>
          <p:cNvSpPr txBox="1"/>
          <p:nvPr/>
        </p:nvSpPr>
        <p:spPr>
          <a:xfrm>
            <a:off x="1283817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Opt-out no plano Free</a:t>
            </a:r>
            <a:endParaRPr/>
          </a:p>
        </p:txBody>
      </p:sp>
      <p:sp>
        <p:nvSpPr>
          <p:cNvPr id="1396" name="Google Shape;1396;p59"/>
          <p:cNvSpPr txBox="1"/>
          <p:nvPr/>
        </p:nvSpPr>
        <p:spPr>
          <a:xfrm>
            <a:off x="643737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FAÇA</a:t>
            </a:r>
            <a:endParaRPr/>
          </a:p>
        </p:txBody>
      </p:sp>
      <p:sp>
        <p:nvSpPr>
          <p:cNvPr id="1397" name="Google Shape;1397;p59"/>
          <p:cNvSpPr txBox="1"/>
          <p:nvPr/>
        </p:nvSpPr>
        <p:spPr>
          <a:xfrm>
            <a:off x="643737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Mostrar à turma onde desliga o uso de conteúdo.</a:t>
            </a:r>
            <a:endParaRPr/>
          </a:p>
        </p:txBody>
      </p:sp>
      <p:sp>
        <p:nvSpPr>
          <p:cNvPr id="1398" name="Google Shape;1398;p59"/>
          <p:cNvSpPr/>
          <p:nvPr/>
        </p:nvSpPr>
        <p:spPr>
          <a:xfrm>
            <a:off x="4768596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59"/>
          <p:cNvSpPr/>
          <p:nvPr/>
        </p:nvSpPr>
        <p:spPr>
          <a:xfrm>
            <a:off x="4978908" y="1399032"/>
            <a:ext cx="585300" cy="5853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_FFFFFF.png" id="1400" name="Google Shape;1400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3507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59"/>
          <p:cNvSpPr txBox="1"/>
          <p:nvPr/>
        </p:nvSpPr>
        <p:spPr>
          <a:xfrm>
            <a:off x="5728716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DADOS</a:t>
            </a:r>
            <a:endParaRPr/>
          </a:p>
        </p:txBody>
      </p:sp>
      <p:sp>
        <p:nvSpPr>
          <p:cNvPr id="1402" name="Google Shape;1402;p59"/>
          <p:cNvSpPr txBox="1"/>
          <p:nvPr/>
        </p:nvSpPr>
        <p:spPr>
          <a:xfrm>
            <a:off x="5728716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Só dados públicos</a:t>
            </a:r>
            <a:endParaRPr/>
          </a:p>
        </p:txBody>
      </p:sp>
      <p:sp>
        <p:nvSpPr>
          <p:cNvPr id="1403" name="Google Shape;1403;p59"/>
          <p:cNvSpPr txBox="1"/>
          <p:nvPr/>
        </p:nvSpPr>
        <p:spPr>
          <a:xfrm>
            <a:off x="5088636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FAÇA</a:t>
            </a:r>
            <a:endParaRPr/>
          </a:p>
        </p:txBody>
      </p:sp>
      <p:sp>
        <p:nvSpPr>
          <p:cNvPr id="1404" name="Google Shape;1404;p59"/>
          <p:cNvSpPr txBox="1"/>
          <p:nvPr/>
        </p:nvSpPr>
        <p:spPr>
          <a:xfrm>
            <a:off x="5088636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Nenhum dado pessoal de aluno no prompt ou no caso.</a:t>
            </a:r>
            <a:endParaRPr/>
          </a:p>
        </p:txBody>
      </p:sp>
      <p:sp>
        <p:nvSpPr>
          <p:cNvPr id="1405" name="Google Shape;1405;p59"/>
          <p:cNvSpPr/>
          <p:nvPr/>
        </p:nvSpPr>
        <p:spPr>
          <a:xfrm>
            <a:off x="323697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59"/>
          <p:cNvSpPr/>
          <p:nvPr/>
        </p:nvSpPr>
        <p:spPr>
          <a:xfrm>
            <a:off x="534009" y="3250692"/>
            <a:ext cx="585300" cy="5853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FFFFFF.png" id="1407" name="Google Shape;1407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609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59"/>
          <p:cNvSpPr txBox="1"/>
          <p:nvPr/>
        </p:nvSpPr>
        <p:spPr>
          <a:xfrm>
            <a:off x="1283817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SKILLS E MCP</a:t>
            </a:r>
            <a:endParaRPr/>
          </a:p>
        </p:txBody>
      </p:sp>
      <p:sp>
        <p:nvSpPr>
          <p:cNvPr id="1409" name="Google Shape;1409;p59"/>
          <p:cNvSpPr txBox="1"/>
          <p:nvPr/>
        </p:nvSpPr>
        <p:spPr>
          <a:xfrm>
            <a:off x="1283817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Ler antes de usar</a:t>
            </a:r>
            <a:endParaRPr/>
          </a:p>
        </p:txBody>
      </p:sp>
      <p:sp>
        <p:nvSpPr>
          <p:cNvPr id="1410" name="Google Shape;1410;p59"/>
          <p:cNvSpPr txBox="1"/>
          <p:nvPr/>
        </p:nvSpPr>
        <p:spPr>
          <a:xfrm>
            <a:off x="643737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FAÇA</a:t>
            </a:r>
            <a:endParaRPr/>
          </a:p>
        </p:txBody>
      </p:sp>
      <p:sp>
        <p:nvSpPr>
          <p:cNvPr id="1411" name="Google Shape;1411;p59"/>
          <p:cNvSpPr txBox="1"/>
          <p:nvPr/>
        </p:nvSpPr>
        <p:spPr>
          <a:xfrm>
            <a:off x="643737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Conferir scripts da skill e evitar autoApprove geral.</a:t>
            </a:r>
            <a:endParaRPr/>
          </a:p>
        </p:txBody>
      </p:sp>
      <p:sp>
        <p:nvSpPr>
          <p:cNvPr id="1412" name="Google Shape;1412;p59"/>
          <p:cNvSpPr/>
          <p:nvPr/>
        </p:nvSpPr>
        <p:spPr>
          <a:xfrm>
            <a:off x="4768596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59"/>
          <p:cNvSpPr/>
          <p:nvPr/>
        </p:nvSpPr>
        <p:spPr>
          <a:xfrm>
            <a:off x="4978908" y="3250692"/>
            <a:ext cx="585300" cy="5853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eyRound_FFFFFF.png" id="1414" name="Google Shape;1414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13507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59"/>
          <p:cNvSpPr txBox="1"/>
          <p:nvPr/>
        </p:nvSpPr>
        <p:spPr>
          <a:xfrm>
            <a:off x="5728716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SEGREDOS</a:t>
            </a:r>
            <a:endParaRPr/>
          </a:p>
        </p:txBody>
      </p:sp>
      <p:sp>
        <p:nvSpPr>
          <p:cNvPr id="1416" name="Google Shape;1416;p59"/>
          <p:cNvSpPr txBox="1"/>
          <p:nvPr/>
        </p:nvSpPr>
        <p:spPr>
          <a:xfrm>
            <a:off x="5728716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Chave nunca no repositório</a:t>
            </a:r>
            <a:endParaRPr/>
          </a:p>
        </p:txBody>
      </p:sp>
      <p:sp>
        <p:nvSpPr>
          <p:cNvPr id="1417" name="Google Shape;1417;p59"/>
          <p:cNvSpPr txBox="1"/>
          <p:nvPr/>
        </p:nvSpPr>
        <p:spPr>
          <a:xfrm>
            <a:off x="5088636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FAÇA</a:t>
            </a:r>
            <a:endParaRPr/>
          </a:p>
        </p:txBody>
      </p:sp>
      <p:sp>
        <p:nvSpPr>
          <p:cNvPr id="1418" name="Google Shape;1418;p59"/>
          <p:cNvSpPr txBox="1"/>
          <p:nvPr/>
        </p:nvSpPr>
        <p:spPr>
          <a:xfrm>
            <a:off x="5088636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Hook caça-segredos, .gitignore e revisão do diff.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60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QUE FIZEMOS DE MANHÃ</a:t>
            </a:r>
            <a:endParaRPr/>
          </a:p>
        </p:txBody>
      </p:sp>
      <p:sp>
        <p:nvSpPr>
          <p:cNvPr id="1424" name="Google Shape;1424;p6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425" name="Google Shape;1425;p60"/>
          <p:cNvSpPr/>
          <p:nvPr/>
        </p:nvSpPr>
        <p:spPr>
          <a:xfrm>
            <a:off x="323697" y="120700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leCheck_0E1D8E.png" id="1426" name="Google Shape;142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84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60"/>
          <p:cNvSpPr txBox="1"/>
          <p:nvPr/>
        </p:nvSpPr>
        <p:spPr>
          <a:xfrm>
            <a:off x="1036929" y="120700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CONCEITO</a:t>
            </a:r>
            <a:endParaRPr/>
          </a:p>
        </p:txBody>
      </p:sp>
      <p:sp>
        <p:nvSpPr>
          <p:cNvPr id="1428" name="Google Shape;1428;p60"/>
          <p:cNvSpPr txBox="1"/>
          <p:nvPr/>
        </p:nvSpPr>
        <p:spPr>
          <a:xfrm>
            <a:off x="1036929" y="1444752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Vibe coding x spec-driven development</a:t>
            </a:r>
            <a:endParaRPr/>
          </a:p>
        </p:txBody>
      </p:sp>
      <p:sp>
        <p:nvSpPr>
          <p:cNvPr id="1429" name="Google Shape;1429;p60"/>
          <p:cNvSpPr/>
          <p:nvPr/>
        </p:nvSpPr>
        <p:spPr>
          <a:xfrm>
            <a:off x="323697" y="207568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0E1D8E.png" id="1430" name="Google Shape;143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884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60"/>
          <p:cNvSpPr txBox="1"/>
          <p:nvPr/>
        </p:nvSpPr>
        <p:spPr>
          <a:xfrm>
            <a:off x="1036929" y="207568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CONTEXTO</a:t>
            </a:r>
            <a:endParaRPr/>
          </a:p>
        </p:txBody>
      </p:sp>
      <p:sp>
        <p:nvSpPr>
          <p:cNvPr id="1432" name="Google Shape;1432;p60"/>
          <p:cNvSpPr txBox="1"/>
          <p:nvPr/>
        </p:nvSpPr>
        <p:spPr>
          <a:xfrm>
            <a:off x="1036929" y="2313432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Steering com o guia visual e MCP de docs</a:t>
            </a:r>
            <a:endParaRPr/>
          </a:p>
        </p:txBody>
      </p:sp>
      <p:sp>
        <p:nvSpPr>
          <p:cNvPr id="1433" name="Google Shape;1433;p60"/>
          <p:cNvSpPr/>
          <p:nvPr/>
        </p:nvSpPr>
        <p:spPr>
          <a:xfrm>
            <a:off x="323697" y="294436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Text_0E1D8E.png" id="1434" name="Google Shape;1434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884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60"/>
          <p:cNvSpPr txBox="1"/>
          <p:nvPr/>
        </p:nvSpPr>
        <p:spPr>
          <a:xfrm>
            <a:off x="1036929" y="294436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SPEC E SKILL</a:t>
            </a:r>
            <a:endParaRPr/>
          </a:p>
        </p:txBody>
      </p:sp>
      <p:sp>
        <p:nvSpPr>
          <p:cNvPr id="1436" name="Google Shape;1436;p60"/>
          <p:cNvSpPr txBox="1"/>
          <p:nvPr/>
        </p:nvSpPr>
        <p:spPr>
          <a:xfrm>
            <a:off x="1036929" y="3182112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Validador em EARS e skill do gerador</a:t>
            </a:r>
            <a:endParaRPr/>
          </a:p>
        </p:txBody>
      </p:sp>
      <p:sp>
        <p:nvSpPr>
          <p:cNvPr id="1437" name="Google Shape;1437;p60"/>
          <p:cNvSpPr/>
          <p:nvPr/>
        </p:nvSpPr>
        <p:spPr>
          <a:xfrm>
            <a:off x="323697" y="381304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ap_0E1D8E.png" id="1438" name="Google Shape;1438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884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60"/>
          <p:cNvSpPr txBox="1"/>
          <p:nvPr/>
        </p:nvSpPr>
        <p:spPr>
          <a:xfrm>
            <a:off x="1036929" y="3813047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HOOKS</a:t>
            </a:r>
            <a:endParaRPr/>
          </a:p>
        </p:txBody>
      </p:sp>
      <p:sp>
        <p:nvSpPr>
          <p:cNvPr id="1440" name="Google Shape;1440;p60"/>
          <p:cNvSpPr txBox="1"/>
          <p:nvPr/>
        </p:nvSpPr>
        <p:spPr>
          <a:xfrm>
            <a:off x="1036929" y="4050791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Salvou, validou e desenhou</a:t>
            </a:r>
            <a:endParaRPr/>
          </a:p>
        </p:txBody>
      </p:sp>
      <p:sp>
        <p:nvSpPr>
          <p:cNvPr id="1441" name="Google Shape;1441;p60"/>
          <p:cNvSpPr/>
          <p:nvPr/>
        </p:nvSpPr>
        <p:spPr>
          <a:xfrm>
            <a:off x="5230368" y="1188720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60"/>
          <p:cNvSpPr txBox="1"/>
          <p:nvPr/>
        </p:nvSpPr>
        <p:spPr>
          <a:xfrm>
            <a:off x="5413248" y="1417320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443" name="Google Shape;1443;p60"/>
          <p:cNvSpPr txBox="1"/>
          <p:nvPr/>
        </p:nvSpPr>
        <p:spPr>
          <a:xfrm>
            <a:off x="5413248" y="2148839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geradores</a:t>
            </a:r>
            <a:endParaRPr/>
          </a:p>
        </p:txBody>
      </p:sp>
      <p:sp>
        <p:nvSpPr>
          <p:cNvPr id="1444" name="Google Shape;1444;p60"/>
          <p:cNvSpPr/>
          <p:nvPr/>
        </p:nvSpPr>
        <p:spPr>
          <a:xfrm>
            <a:off x="7098487" y="1188720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60"/>
          <p:cNvSpPr txBox="1"/>
          <p:nvPr/>
        </p:nvSpPr>
        <p:spPr>
          <a:xfrm>
            <a:off x="7281367" y="1417320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446" name="Google Shape;1446;p60"/>
          <p:cNvSpPr txBox="1"/>
          <p:nvPr/>
        </p:nvSpPr>
        <p:spPr>
          <a:xfrm>
            <a:off x="7281367" y="2148839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casos</a:t>
            </a:r>
            <a:endParaRPr/>
          </a:p>
        </p:txBody>
      </p:sp>
      <p:sp>
        <p:nvSpPr>
          <p:cNvPr id="1447" name="Google Shape;1447;p60"/>
          <p:cNvSpPr/>
          <p:nvPr/>
        </p:nvSpPr>
        <p:spPr>
          <a:xfrm>
            <a:off x="5230368" y="2980944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60"/>
          <p:cNvSpPr txBox="1"/>
          <p:nvPr/>
        </p:nvSpPr>
        <p:spPr>
          <a:xfrm>
            <a:off x="5413248" y="3209544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1449" name="Google Shape;1449;p60"/>
          <p:cNvSpPr txBox="1"/>
          <p:nvPr/>
        </p:nvSpPr>
        <p:spPr>
          <a:xfrm>
            <a:off x="5413248" y="3941063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hooks por grupo</a:t>
            </a:r>
            <a:endParaRPr/>
          </a:p>
        </p:txBody>
      </p:sp>
      <p:sp>
        <p:nvSpPr>
          <p:cNvPr id="1450" name="Google Shape;1450;p60"/>
          <p:cNvSpPr/>
          <p:nvPr/>
        </p:nvSpPr>
        <p:spPr>
          <a:xfrm>
            <a:off x="7098487" y="2980944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60"/>
          <p:cNvSpPr txBox="1"/>
          <p:nvPr/>
        </p:nvSpPr>
        <p:spPr>
          <a:xfrm>
            <a:off x="7281367" y="3209544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1452" name="Google Shape;1452;p60"/>
          <p:cNvSpPr txBox="1"/>
          <p:nvPr/>
        </p:nvSpPr>
        <p:spPr>
          <a:xfrm>
            <a:off x="7281367" y="3941063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diagrama por grupo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61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TRIBUNAL DA TARDE</a:t>
            </a:r>
            <a:endParaRPr/>
          </a:p>
        </p:txBody>
      </p:sp>
      <p:sp>
        <p:nvSpPr>
          <p:cNvPr id="1458" name="Google Shape;1458;p61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MANHÃ</a:t>
            </a:r>
            <a:endParaRPr/>
          </a:p>
        </p:txBody>
      </p:sp>
      <p:sp>
        <p:nvSpPr>
          <p:cNvPr id="1459" name="Google Shape;1459;p61"/>
          <p:cNvSpPr/>
          <p:nvPr/>
        </p:nvSpPr>
        <p:spPr>
          <a:xfrm>
            <a:off x="323697" y="1188720"/>
            <a:ext cx="2625000" cy="2514600"/>
          </a:xfrm>
          <a:prstGeom prst="roundRect">
            <a:avLst>
              <a:gd fmla="val 5818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61"/>
          <p:cNvSpPr/>
          <p:nvPr/>
        </p:nvSpPr>
        <p:spPr>
          <a:xfrm>
            <a:off x="1306982" y="1426464"/>
            <a:ext cx="658500" cy="6585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sentation_FFFFFF.png" id="1461" name="Google Shape;146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8407" y="157788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61"/>
          <p:cNvSpPr txBox="1"/>
          <p:nvPr/>
        </p:nvSpPr>
        <p:spPr>
          <a:xfrm>
            <a:off x="460857" y="2194560"/>
            <a:ext cx="235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/>
          </a:p>
        </p:txBody>
      </p:sp>
      <p:sp>
        <p:nvSpPr>
          <p:cNvPr id="1463" name="Google Shape;1463;p61"/>
          <p:cNvSpPr txBox="1"/>
          <p:nvPr/>
        </p:nvSpPr>
        <p:spPr>
          <a:xfrm>
            <a:off x="460857" y="2414016"/>
            <a:ext cx="235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Defesa</a:t>
            </a:r>
            <a:endParaRPr/>
          </a:p>
        </p:txBody>
      </p:sp>
      <p:sp>
        <p:nvSpPr>
          <p:cNvPr id="1464" name="Google Shape;1464;p61"/>
          <p:cNvSpPr txBox="1"/>
          <p:nvPr/>
        </p:nvSpPr>
        <p:spPr>
          <a:xfrm>
            <a:off x="506577" y="2743200"/>
            <a:ext cx="2259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4 min com o deck do plano de IA</a:t>
            </a:r>
            <a:endParaRPr/>
          </a:p>
        </p:txBody>
      </p:sp>
      <p:cxnSp>
        <p:nvCxnSpPr>
          <p:cNvPr id="1465" name="Google Shape;1465;p61"/>
          <p:cNvCxnSpPr/>
          <p:nvPr/>
        </p:nvCxnSpPr>
        <p:spPr>
          <a:xfrm>
            <a:off x="2994355" y="1755648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6" name="Google Shape;1466;p61"/>
          <p:cNvSpPr/>
          <p:nvPr/>
        </p:nvSpPr>
        <p:spPr>
          <a:xfrm>
            <a:off x="3259531" y="1188720"/>
            <a:ext cx="2625000" cy="2514600"/>
          </a:xfrm>
          <a:prstGeom prst="roundRect">
            <a:avLst>
              <a:gd fmla="val 5818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61"/>
          <p:cNvSpPr/>
          <p:nvPr/>
        </p:nvSpPr>
        <p:spPr>
          <a:xfrm>
            <a:off x="4242816" y="1426464"/>
            <a:ext cx="658500" cy="6585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words_FFFFFF.png" id="1468" name="Google Shape;146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4240" y="157788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61"/>
          <p:cNvSpPr txBox="1"/>
          <p:nvPr/>
        </p:nvSpPr>
        <p:spPr>
          <a:xfrm>
            <a:off x="3396691" y="2194560"/>
            <a:ext cx="235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/>
          </a:p>
        </p:txBody>
      </p:sp>
      <p:sp>
        <p:nvSpPr>
          <p:cNvPr id="1470" name="Google Shape;1470;p61"/>
          <p:cNvSpPr txBox="1"/>
          <p:nvPr/>
        </p:nvSpPr>
        <p:spPr>
          <a:xfrm>
            <a:off x="3396691" y="2414016"/>
            <a:ext cx="235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Ataque</a:t>
            </a:r>
            <a:endParaRPr/>
          </a:p>
        </p:txBody>
      </p:sp>
      <p:sp>
        <p:nvSpPr>
          <p:cNvPr id="1471" name="Google Shape;1471;p61"/>
          <p:cNvSpPr txBox="1"/>
          <p:nvPr/>
        </p:nvSpPr>
        <p:spPr>
          <a:xfrm>
            <a:off x="3442411" y="2743200"/>
            <a:ext cx="2259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4 min: uma carta de pilar e uma de design</a:t>
            </a:r>
            <a:endParaRPr/>
          </a:p>
        </p:txBody>
      </p:sp>
      <p:cxnSp>
        <p:nvCxnSpPr>
          <p:cNvPr id="1472" name="Google Shape;1472;p61"/>
          <p:cNvCxnSpPr/>
          <p:nvPr/>
        </p:nvCxnSpPr>
        <p:spPr>
          <a:xfrm>
            <a:off x="5930188" y="1755648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3" name="Google Shape;1473;p61"/>
          <p:cNvSpPr/>
          <p:nvPr/>
        </p:nvSpPr>
        <p:spPr>
          <a:xfrm>
            <a:off x="6195364" y="1188720"/>
            <a:ext cx="2625000" cy="2514600"/>
          </a:xfrm>
          <a:prstGeom prst="roundRect">
            <a:avLst>
              <a:gd fmla="val 5818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61"/>
          <p:cNvSpPr/>
          <p:nvPr/>
        </p:nvSpPr>
        <p:spPr>
          <a:xfrm>
            <a:off x="7178649" y="1426464"/>
            <a:ext cx="658500" cy="6585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avel_FFFFFF.png" id="1475" name="Google Shape;1475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0074" y="157788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p61"/>
          <p:cNvSpPr txBox="1"/>
          <p:nvPr/>
        </p:nvSpPr>
        <p:spPr>
          <a:xfrm>
            <a:off x="6332524" y="2194560"/>
            <a:ext cx="2350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/>
          </a:p>
        </p:txBody>
      </p:sp>
      <p:sp>
        <p:nvSpPr>
          <p:cNvPr id="1477" name="Google Shape;1477;p61"/>
          <p:cNvSpPr txBox="1"/>
          <p:nvPr/>
        </p:nvSpPr>
        <p:spPr>
          <a:xfrm>
            <a:off x="6332524" y="2414016"/>
            <a:ext cx="235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Veredito</a:t>
            </a:r>
            <a:endParaRPr/>
          </a:p>
        </p:txBody>
      </p:sp>
      <p:sp>
        <p:nvSpPr>
          <p:cNvPr id="1478" name="Google Shape;1478;p61"/>
          <p:cNvSpPr txBox="1"/>
          <p:nvPr/>
        </p:nvSpPr>
        <p:spPr>
          <a:xfrm>
            <a:off x="6378244" y="2743200"/>
            <a:ext cx="2259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1 min: nota pela rubrica</a:t>
            </a:r>
            <a:endParaRPr/>
          </a:p>
        </p:txBody>
      </p:sp>
      <p:sp>
        <p:nvSpPr>
          <p:cNvPr id="1479" name="Google Shape;1479;p61"/>
          <p:cNvSpPr/>
          <p:nvPr/>
        </p:nvSpPr>
        <p:spPr>
          <a:xfrm>
            <a:off x="323697" y="3886200"/>
            <a:ext cx="8496600" cy="822900"/>
          </a:xfrm>
          <a:prstGeom prst="roundRect">
            <a:avLst>
              <a:gd fmla="val 1777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61"/>
          <p:cNvSpPr/>
          <p:nvPr/>
        </p:nvSpPr>
        <p:spPr>
          <a:xfrm>
            <a:off x="506577" y="406908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uffle_FFFFFF.png" id="1481" name="Google Shape;1481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733" y="41742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61"/>
          <p:cNvSpPr txBox="1"/>
          <p:nvPr/>
        </p:nvSpPr>
        <p:spPr>
          <a:xfrm>
            <a:off x="1192377" y="3886200"/>
            <a:ext cx="7399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Qualquer um responde: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atacante escolhe quem responde, sem slide na tela.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62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ALMOÇO</a:t>
            </a:r>
            <a:endParaRPr/>
          </a:p>
        </p:txBody>
      </p:sp>
      <p:sp>
        <p:nvSpPr>
          <p:cNvPr id="1488" name="Google Shape;1488;p62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À tarde: gerador de slides e tribunal do plano</a:t>
            </a:r>
            <a:endParaRPr/>
          </a:p>
        </p:txBody>
      </p:sp>
      <p:sp>
        <p:nvSpPr>
          <p:cNvPr id="1489" name="Google Shape;1489;p62"/>
          <p:cNvSpPr/>
          <p:nvPr/>
        </p:nvSpPr>
        <p:spPr>
          <a:xfrm>
            <a:off x="4137660" y="754380"/>
            <a:ext cx="868800" cy="86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tensilsCrossed_85228B.png" id="1490" name="Google Shape;149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7456" y="954176"/>
            <a:ext cx="469087" cy="469087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62"/>
          <p:cNvSpPr/>
          <p:nvPr/>
        </p:nvSpPr>
        <p:spPr>
          <a:xfrm>
            <a:off x="3863339" y="3127248"/>
            <a:ext cx="1417200" cy="3291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62"/>
          <p:cNvSpPr txBox="1"/>
          <p:nvPr/>
        </p:nvSpPr>
        <p:spPr>
          <a:xfrm>
            <a:off x="3863339" y="3127248"/>
            <a:ext cx="1417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12H ÀS 13H</a:t>
            </a:r>
            <a:endParaRPr/>
          </a:p>
        </p:txBody>
      </p:sp>
      <p:sp>
        <p:nvSpPr>
          <p:cNvPr id="1493" name="Google Shape;1493;p62"/>
          <p:cNvSpPr txBox="1"/>
          <p:nvPr/>
        </p:nvSpPr>
        <p:spPr>
          <a:xfrm>
            <a:off x="1371600" y="3657600"/>
            <a:ext cx="6400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Deixe o repositório do grupo aberto: ele é a base da tarde.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63"/>
          <p:cNvSpPr txBox="1"/>
          <p:nvPr>
            <p:ph type="title"/>
          </p:nvPr>
        </p:nvSpPr>
        <p:spPr>
          <a:xfrm>
            <a:off x="731520" y="1783080"/>
            <a:ext cx="7680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pt-BR" sz="3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GERADOR DE SLIDES E TRIBUNAL</a:t>
            </a:r>
            <a:endParaRPr/>
          </a:p>
        </p:txBody>
      </p:sp>
      <p:sp>
        <p:nvSpPr>
          <p:cNvPr id="1499" name="Google Shape;1499;p63"/>
          <p:cNvSpPr/>
          <p:nvPr/>
        </p:nvSpPr>
        <p:spPr>
          <a:xfrm>
            <a:off x="3371850" y="1325880"/>
            <a:ext cx="2400300" cy="29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63"/>
          <p:cNvSpPr txBox="1"/>
          <p:nvPr/>
        </p:nvSpPr>
        <p:spPr>
          <a:xfrm>
            <a:off x="3371850" y="1325880"/>
            <a:ext cx="240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WORKSHOP · TURNO DA TARDE</a:t>
            </a:r>
            <a:endParaRPr/>
          </a:p>
        </p:txBody>
      </p:sp>
      <p:sp>
        <p:nvSpPr>
          <p:cNvPr id="1501" name="Google Shape;1501;p63"/>
          <p:cNvSpPr txBox="1"/>
          <p:nvPr/>
        </p:nvSpPr>
        <p:spPr>
          <a:xfrm>
            <a:off x="731520" y="256032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Cada grupo cria seu padrão visual e defende um plano de arquitetura de IA</a:t>
            </a:r>
            <a:endParaRPr/>
          </a:p>
        </p:txBody>
      </p:sp>
      <p:sp>
        <p:nvSpPr>
          <p:cNvPr id="1502" name="Google Shape;1502;p63"/>
          <p:cNvSpPr txBox="1"/>
          <p:nvPr/>
        </p:nvSpPr>
        <p:spPr>
          <a:xfrm>
            <a:off x="731520" y="3017520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Felipe Oliveira  ·  Capacitação de professores SENAI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64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 TARDE EM UM SLIDE</a:t>
            </a:r>
            <a:endParaRPr/>
          </a:p>
        </p:txBody>
      </p:sp>
      <p:sp>
        <p:nvSpPr>
          <p:cNvPr id="1508" name="Google Shape;1508;p64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509" name="Google Shape;1509;p64"/>
          <p:cNvSpPr/>
          <p:nvPr/>
        </p:nvSpPr>
        <p:spPr>
          <a:xfrm>
            <a:off x="323697" y="120700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_0E1D8E.png" id="1510" name="Google Shape;151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84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64"/>
          <p:cNvSpPr txBox="1"/>
          <p:nvPr/>
        </p:nvSpPr>
        <p:spPr>
          <a:xfrm>
            <a:off x="1036929" y="120700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OBJETIVO</a:t>
            </a:r>
            <a:endParaRPr/>
          </a:p>
        </p:txBody>
      </p:sp>
      <p:sp>
        <p:nvSpPr>
          <p:cNvPr id="1512" name="Google Shape;1512;p64"/>
          <p:cNvSpPr txBox="1"/>
          <p:nvPr/>
        </p:nvSpPr>
        <p:spPr>
          <a:xfrm>
            <a:off x="1036929" y="1444752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 gerador de slides com o padrão visual do grupo</a:t>
            </a:r>
            <a:endParaRPr/>
          </a:p>
        </p:txBody>
      </p:sp>
      <p:sp>
        <p:nvSpPr>
          <p:cNvPr id="1513" name="Google Shape;1513;p64"/>
          <p:cNvSpPr/>
          <p:nvPr/>
        </p:nvSpPr>
        <p:spPr>
          <a:xfrm>
            <a:off x="323697" y="207568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lette_0E1D8E.png" id="1514" name="Google Shape;1514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884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64"/>
          <p:cNvSpPr txBox="1"/>
          <p:nvPr/>
        </p:nvSpPr>
        <p:spPr>
          <a:xfrm>
            <a:off x="1036929" y="207568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PADRÃO</a:t>
            </a:r>
            <a:endParaRPr/>
          </a:p>
        </p:txBody>
      </p:sp>
      <p:sp>
        <p:nvSpPr>
          <p:cNvPr id="1516" name="Google Shape;1516;p64"/>
          <p:cNvSpPr txBox="1"/>
          <p:nvPr/>
        </p:nvSpPr>
        <p:spPr>
          <a:xfrm>
            <a:off x="1036929" y="2313432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Design system criado por cada grupo</a:t>
            </a:r>
            <a:endParaRPr/>
          </a:p>
        </p:txBody>
      </p:sp>
      <p:sp>
        <p:nvSpPr>
          <p:cNvPr id="1517" name="Google Shape;1517;p64"/>
          <p:cNvSpPr/>
          <p:nvPr/>
        </p:nvSpPr>
        <p:spPr>
          <a:xfrm>
            <a:off x="323697" y="294436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t_0E1D8E.png" id="1518" name="Google Shape;1518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884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64"/>
          <p:cNvSpPr txBox="1"/>
          <p:nvPr/>
        </p:nvSpPr>
        <p:spPr>
          <a:xfrm>
            <a:off x="1036929" y="294436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CONTEÚDO</a:t>
            </a:r>
            <a:endParaRPr/>
          </a:p>
        </p:txBody>
      </p:sp>
      <p:sp>
        <p:nvSpPr>
          <p:cNvPr id="1520" name="Google Shape;1520;p64"/>
          <p:cNvSpPr txBox="1"/>
          <p:nvPr/>
        </p:nvSpPr>
        <p:spPr>
          <a:xfrm>
            <a:off x="1036929" y="3182112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 plano de arquitetura de IA por caso</a:t>
            </a:r>
            <a:endParaRPr/>
          </a:p>
        </p:txBody>
      </p:sp>
      <p:sp>
        <p:nvSpPr>
          <p:cNvPr id="1521" name="Google Shape;1521;p64"/>
          <p:cNvSpPr/>
          <p:nvPr/>
        </p:nvSpPr>
        <p:spPr>
          <a:xfrm>
            <a:off x="323697" y="3813048"/>
            <a:ext cx="548700" cy="5487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words_0E1D8E.png" id="1522" name="Google Shape;1522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884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64"/>
          <p:cNvSpPr txBox="1"/>
          <p:nvPr/>
        </p:nvSpPr>
        <p:spPr>
          <a:xfrm>
            <a:off x="1036929" y="3813047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DINÂMICA</a:t>
            </a:r>
            <a:endParaRPr/>
          </a:p>
        </p:txBody>
      </p:sp>
      <p:sp>
        <p:nvSpPr>
          <p:cNvPr id="1524" name="Google Shape;1524;p64"/>
          <p:cNvSpPr txBox="1"/>
          <p:nvPr/>
        </p:nvSpPr>
        <p:spPr>
          <a:xfrm>
            <a:off x="1036929" y="4050791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Tribunal: arquitetura e design em julgamento</a:t>
            </a:r>
            <a:endParaRPr/>
          </a:p>
        </p:txBody>
      </p:sp>
      <p:sp>
        <p:nvSpPr>
          <p:cNvPr id="1525" name="Google Shape;1525;p64"/>
          <p:cNvSpPr/>
          <p:nvPr/>
        </p:nvSpPr>
        <p:spPr>
          <a:xfrm>
            <a:off x="5230368" y="1188720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64"/>
          <p:cNvSpPr txBox="1"/>
          <p:nvPr/>
        </p:nvSpPr>
        <p:spPr>
          <a:xfrm>
            <a:off x="5413248" y="1417320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527" name="Google Shape;1527;p64"/>
          <p:cNvSpPr txBox="1"/>
          <p:nvPr/>
        </p:nvSpPr>
        <p:spPr>
          <a:xfrm>
            <a:off x="5413248" y="2148839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design systems diferentes</a:t>
            </a:r>
            <a:endParaRPr/>
          </a:p>
        </p:txBody>
      </p:sp>
      <p:sp>
        <p:nvSpPr>
          <p:cNvPr id="1528" name="Google Shape;1528;p64"/>
          <p:cNvSpPr/>
          <p:nvPr/>
        </p:nvSpPr>
        <p:spPr>
          <a:xfrm>
            <a:off x="7098487" y="1188720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64"/>
          <p:cNvSpPr txBox="1"/>
          <p:nvPr/>
        </p:nvSpPr>
        <p:spPr>
          <a:xfrm>
            <a:off x="7281367" y="1417320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530" name="Google Shape;1530;p64"/>
          <p:cNvSpPr txBox="1"/>
          <p:nvPr/>
        </p:nvSpPr>
        <p:spPr>
          <a:xfrm>
            <a:off x="7281367" y="2148839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padrões de arquitetura</a:t>
            </a:r>
            <a:endParaRPr/>
          </a:p>
        </p:txBody>
      </p:sp>
      <p:sp>
        <p:nvSpPr>
          <p:cNvPr id="1531" name="Google Shape;1531;p64"/>
          <p:cNvSpPr/>
          <p:nvPr/>
        </p:nvSpPr>
        <p:spPr>
          <a:xfrm>
            <a:off x="5230368" y="2980944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64"/>
          <p:cNvSpPr txBox="1"/>
          <p:nvPr/>
        </p:nvSpPr>
        <p:spPr>
          <a:xfrm>
            <a:off x="5413248" y="3209544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/>
          </a:p>
        </p:txBody>
      </p:sp>
      <p:sp>
        <p:nvSpPr>
          <p:cNvPr id="1533" name="Google Shape;1533;p64"/>
          <p:cNvSpPr txBox="1"/>
          <p:nvPr/>
        </p:nvSpPr>
        <p:spPr>
          <a:xfrm>
            <a:off x="5413248" y="3941063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tipos de slide no gerador</a:t>
            </a:r>
            <a:endParaRPr/>
          </a:p>
        </p:txBody>
      </p:sp>
      <p:sp>
        <p:nvSpPr>
          <p:cNvPr id="1534" name="Google Shape;1534;p64"/>
          <p:cNvSpPr/>
          <p:nvPr/>
        </p:nvSpPr>
        <p:spPr>
          <a:xfrm>
            <a:off x="7098487" y="2980944"/>
            <a:ext cx="1721700" cy="1645800"/>
          </a:xfrm>
          <a:prstGeom prst="roundRect">
            <a:avLst>
              <a:gd fmla="val 7777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64"/>
          <p:cNvSpPr txBox="1"/>
          <p:nvPr/>
        </p:nvSpPr>
        <p:spPr>
          <a:xfrm>
            <a:off x="7281367" y="3209544"/>
            <a:ext cx="13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536" name="Google Shape;1536;p64"/>
          <p:cNvSpPr txBox="1"/>
          <p:nvPr/>
        </p:nvSpPr>
        <p:spPr>
          <a:xfrm>
            <a:off x="7281367" y="3941063"/>
            <a:ext cx="135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rodadas de tribunal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6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AGENDA DA TARDE</a:t>
            </a:r>
            <a:endParaRPr/>
          </a:p>
        </p:txBody>
      </p:sp>
      <p:sp>
        <p:nvSpPr>
          <p:cNvPr id="1542" name="Google Shape;1542;p6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543" name="Google Shape;1543;p65"/>
          <p:cNvSpPr/>
          <p:nvPr/>
        </p:nvSpPr>
        <p:spPr>
          <a:xfrm>
            <a:off x="323697" y="118872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65"/>
          <p:cNvSpPr txBox="1"/>
          <p:nvPr/>
        </p:nvSpPr>
        <p:spPr>
          <a:xfrm>
            <a:off x="488289" y="118872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13:05</a:t>
            </a:r>
            <a:endParaRPr/>
          </a:p>
        </p:txBody>
      </p:sp>
      <p:sp>
        <p:nvSpPr>
          <p:cNvPr id="1545" name="Google Shape;1545;p65"/>
          <p:cNvSpPr txBox="1"/>
          <p:nvPr/>
        </p:nvSpPr>
        <p:spPr>
          <a:xfrm>
            <a:off x="1164945" y="118872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Planos de arquitetura de IA</a:t>
            </a:r>
            <a:endParaRPr/>
          </a:p>
        </p:txBody>
      </p:sp>
      <p:sp>
        <p:nvSpPr>
          <p:cNvPr id="1546" name="Google Shape;1546;p65"/>
          <p:cNvSpPr/>
          <p:nvPr/>
        </p:nvSpPr>
        <p:spPr>
          <a:xfrm>
            <a:off x="4374489" y="128473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65"/>
          <p:cNvSpPr txBox="1"/>
          <p:nvPr/>
        </p:nvSpPr>
        <p:spPr>
          <a:xfrm>
            <a:off x="4374489" y="128473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TEORIA</a:t>
            </a:r>
            <a:endParaRPr/>
          </a:p>
        </p:txBody>
      </p:sp>
      <p:sp>
        <p:nvSpPr>
          <p:cNvPr id="1548" name="Google Shape;1548;p65"/>
          <p:cNvSpPr/>
          <p:nvPr/>
        </p:nvSpPr>
        <p:spPr>
          <a:xfrm>
            <a:off x="323697" y="169164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65"/>
          <p:cNvSpPr txBox="1"/>
          <p:nvPr/>
        </p:nvSpPr>
        <p:spPr>
          <a:xfrm>
            <a:off x="488289" y="169164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13:18</a:t>
            </a:r>
            <a:endParaRPr/>
          </a:p>
        </p:txBody>
      </p:sp>
      <p:sp>
        <p:nvSpPr>
          <p:cNvPr id="1550" name="Google Shape;1550;p65"/>
          <p:cNvSpPr txBox="1"/>
          <p:nvPr/>
        </p:nvSpPr>
        <p:spPr>
          <a:xfrm>
            <a:off x="1164945" y="169164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Design system e gerador</a:t>
            </a:r>
            <a:endParaRPr/>
          </a:p>
        </p:txBody>
      </p:sp>
      <p:sp>
        <p:nvSpPr>
          <p:cNvPr id="1551" name="Google Shape;1551;p65"/>
          <p:cNvSpPr/>
          <p:nvPr/>
        </p:nvSpPr>
        <p:spPr>
          <a:xfrm>
            <a:off x="4374489" y="178765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65"/>
          <p:cNvSpPr txBox="1"/>
          <p:nvPr/>
        </p:nvSpPr>
        <p:spPr>
          <a:xfrm>
            <a:off x="4374489" y="178765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TEORIA</a:t>
            </a:r>
            <a:endParaRPr/>
          </a:p>
        </p:txBody>
      </p:sp>
      <p:sp>
        <p:nvSpPr>
          <p:cNvPr id="1553" name="Google Shape;1553;p65"/>
          <p:cNvSpPr/>
          <p:nvPr/>
        </p:nvSpPr>
        <p:spPr>
          <a:xfrm>
            <a:off x="323697" y="219456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65"/>
          <p:cNvSpPr txBox="1"/>
          <p:nvPr/>
        </p:nvSpPr>
        <p:spPr>
          <a:xfrm>
            <a:off x="488289" y="219456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13:35</a:t>
            </a:r>
            <a:endParaRPr/>
          </a:p>
        </p:txBody>
      </p:sp>
      <p:sp>
        <p:nvSpPr>
          <p:cNvPr id="1555" name="Google Shape;1555;p65"/>
          <p:cNvSpPr txBox="1"/>
          <p:nvPr/>
        </p:nvSpPr>
        <p:spPr>
          <a:xfrm>
            <a:off x="1164945" y="219456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Hands-on 3: padrão do grupo</a:t>
            </a:r>
            <a:endParaRPr/>
          </a:p>
        </p:txBody>
      </p:sp>
      <p:sp>
        <p:nvSpPr>
          <p:cNvPr id="1556" name="Google Shape;1556;p65"/>
          <p:cNvSpPr/>
          <p:nvPr/>
        </p:nvSpPr>
        <p:spPr>
          <a:xfrm>
            <a:off x="4374489" y="229057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65"/>
          <p:cNvSpPr txBox="1"/>
          <p:nvPr/>
        </p:nvSpPr>
        <p:spPr>
          <a:xfrm>
            <a:off x="4374489" y="229057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PRÁTICA</a:t>
            </a:r>
            <a:endParaRPr/>
          </a:p>
        </p:txBody>
      </p:sp>
      <p:sp>
        <p:nvSpPr>
          <p:cNvPr id="1558" name="Google Shape;1558;p65"/>
          <p:cNvSpPr/>
          <p:nvPr/>
        </p:nvSpPr>
        <p:spPr>
          <a:xfrm>
            <a:off x="323697" y="269748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65"/>
          <p:cNvSpPr txBox="1"/>
          <p:nvPr/>
        </p:nvSpPr>
        <p:spPr>
          <a:xfrm>
            <a:off x="488289" y="269748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13:50</a:t>
            </a:r>
            <a:endParaRPr/>
          </a:p>
        </p:txBody>
      </p:sp>
      <p:sp>
        <p:nvSpPr>
          <p:cNvPr id="1560" name="Google Shape;1560;p65"/>
          <p:cNvSpPr txBox="1"/>
          <p:nvPr/>
        </p:nvSpPr>
        <p:spPr>
          <a:xfrm>
            <a:off x="1164945" y="269748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Estudo AWS Academy 2</a:t>
            </a:r>
            <a:endParaRPr/>
          </a:p>
        </p:txBody>
      </p:sp>
      <p:sp>
        <p:nvSpPr>
          <p:cNvPr id="1561" name="Google Shape;1561;p65"/>
          <p:cNvSpPr/>
          <p:nvPr/>
        </p:nvSpPr>
        <p:spPr>
          <a:xfrm>
            <a:off x="4374489" y="279349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65"/>
          <p:cNvSpPr txBox="1"/>
          <p:nvPr/>
        </p:nvSpPr>
        <p:spPr>
          <a:xfrm>
            <a:off x="4374489" y="279349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ESTUDO</a:t>
            </a:r>
            <a:endParaRPr/>
          </a:p>
        </p:txBody>
      </p:sp>
      <p:sp>
        <p:nvSpPr>
          <p:cNvPr id="1563" name="Google Shape;1563;p65"/>
          <p:cNvSpPr/>
          <p:nvPr/>
        </p:nvSpPr>
        <p:spPr>
          <a:xfrm>
            <a:off x="323697" y="320040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65"/>
          <p:cNvSpPr txBox="1"/>
          <p:nvPr/>
        </p:nvSpPr>
        <p:spPr>
          <a:xfrm>
            <a:off x="488289" y="320040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14:10</a:t>
            </a:r>
            <a:endParaRPr/>
          </a:p>
        </p:txBody>
      </p:sp>
      <p:sp>
        <p:nvSpPr>
          <p:cNvPr id="1565" name="Google Shape;1565;p65"/>
          <p:cNvSpPr txBox="1"/>
          <p:nvPr/>
        </p:nvSpPr>
        <p:spPr>
          <a:xfrm>
            <a:off x="1164945" y="320040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Sprint 1: construir o gerador</a:t>
            </a:r>
            <a:endParaRPr/>
          </a:p>
        </p:txBody>
      </p:sp>
      <p:sp>
        <p:nvSpPr>
          <p:cNvPr id="1566" name="Google Shape;1566;p65"/>
          <p:cNvSpPr/>
          <p:nvPr/>
        </p:nvSpPr>
        <p:spPr>
          <a:xfrm>
            <a:off x="4374489" y="329641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65"/>
          <p:cNvSpPr txBox="1"/>
          <p:nvPr/>
        </p:nvSpPr>
        <p:spPr>
          <a:xfrm>
            <a:off x="4374489" y="329641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PRÁTICA</a:t>
            </a:r>
            <a:endParaRPr/>
          </a:p>
        </p:txBody>
      </p:sp>
      <p:sp>
        <p:nvSpPr>
          <p:cNvPr id="1568" name="Google Shape;1568;p65"/>
          <p:cNvSpPr/>
          <p:nvPr/>
        </p:nvSpPr>
        <p:spPr>
          <a:xfrm>
            <a:off x="323697" y="370332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65"/>
          <p:cNvSpPr txBox="1"/>
          <p:nvPr/>
        </p:nvSpPr>
        <p:spPr>
          <a:xfrm>
            <a:off x="488289" y="370332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15:15</a:t>
            </a:r>
            <a:endParaRPr/>
          </a:p>
        </p:txBody>
      </p:sp>
      <p:sp>
        <p:nvSpPr>
          <p:cNvPr id="1570" name="Google Shape;1570;p65"/>
          <p:cNvSpPr txBox="1"/>
          <p:nvPr/>
        </p:nvSpPr>
        <p:spPr>
          <a:xfrm>
            <a:off x="1164945" y="370332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Intervalo</a:t>
            </a:r>
            <a:endParaRPr/>
          </a:p>
        </p:txBody>
      </p:sp>
      <p:sp>
        <p:nvSpPr>
          <p:cNvPr id="1571" name="Google Shape;1571;p65"/>
          <p:cNvSpPr/>
          <p:nvPr/>
        </p:nvSpPr>
        <p:spPr>
          <a:xfrm>
            <a:off x="4374489" y="379933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65"/>
          <p:cNvSpPr txBox="1"/>
          <p:nvPr/>
        </p:nvSpPr>
        <p:spPr>
          <a:xfrm>
            <a:off x="4374489" y="379933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PARADA</a:t>
            </a:r>
            <a:endParaRPr/>
          </a:p>
        </p:txBody>
      </p:sp>
      <p:sp>
        <p:nvSpPr>
          <p:cNvPr id="1573" name="Google Shape;1573;p65"/>
          <p:cNvSpPr/>
          <p:nvPr/>
        </p:nvSpPr>
        <p:spPr>
          <a:xfrm>
            <a:off x="323697" y="4206240"/>
            <a:ext cx="5074800" cy="429900"/>
          </a:xfrm>
          <a:prstGeom prst="roundRect">
            <a:avLst>
              <a:gd fmla="val 21276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65"/>
          <p:cNvSpPr txBox="1"/>
          <p:nvPr/>
        </p:nvSpPr>
        <p:spPr>
          <a:xfrm>
            <a:off x="488289" y="4206240"/>
            <a:ext cx="640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15:35</a:t>
            </a:r>
            <a:endParaRPr/>
          </a:p>
        </p:txBody>
      </p:sp>
      <p:sp>
        <p:nvSpPr>
          <p:cNvPr id="1575" name="Google Shape;1575;p65"/>
          <p:cNvSpPr txBox="1"/>
          <p:nvPr/>
        </p:nvSpPr>
        <p:spPr>
          <a:xfrm>
            <a:off x="1164945" y="4206240"/>
            <a:ext cx="3127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Sprint 2 e tribunal às 16h10</a:t>
            </a:r>
            <a:endParaRPr/>
          </a:p>
        </p:txBody>
      </p:sp>
      <p:sp>
        <p:nvSpPr>
          <p:cNvPr id="1576" name="Google Shape;1576;p65"/>
          <p:cNvSpPr/>
          <p:nvPr/>
        </p:nvSpPr>
        <p:spPr>
          <a:xfrm>
            <a:off x="4374489" y="430225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65"/>
          <p:cNvSpPr txBox="1"/>
          <p:nvPr/>
        </p:nvSpPr>
        <p:spPr>
          <a:xfrm>
            <a:off x="4374489" y="430225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TRIBUNAL</a:t>
            </a:r>
            <a:endParaRPr/>
          </a:p>
        </p:txBody>
      </p:sp>
      <p:sp>
        <p:nvSpPr>
          <p:cNvPr id="1578" name="Google Shape;1578;p65"/>
          <p:cNvSpPr/>
          <p:nvPr/>
        </p:nvSpPr>
        <p:spPr>
          <a:xfrm>
            <a:off x="5623560" y="1188720"/>
            <a:ext cx="3196800" cy="3447300"/>
          </a:xfrm>
          <a:prstGeom prst="roundRect">
            <a:avLst>
              <a:gd fmla="val 4576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65"/>
          <p:cNvSpPr/>
          <p:nvPr/>
        </p:nvSpPr>
        <p:spPr>
          <a:xfrm>
            <a:off x="5852160" y="1417319"/>
            <a:ext cx="640200" cy="640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avel_FFFFFF.png" id="1580" name="Google Shape;158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9378" y="1564538"/>
            <a:ext cx="345643" cy="345643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65"/>
          <p:cNvSpPr txBox="1"/>
          <p:nvPr/>
        </p:nvSpPr>
        <p:spPr>
          <a:xfrm>
            <a:off x="5897880" y="2212848"/>
            <a:ext cx="273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ENTREGÁVEL ÀS 17H</a:t>
            </a:r>
            <a:endParaRPr/>
          </a:p>
        </p:txBody>
      </p:sp>
      <p:sp>
        <p:nvSpPr>
          <p:cNvPr id="1582" name="Google Shape;1582;p65"/>
          <p:cNvSpPr txBox="1"/>
          <p:nvPr/>
        </p:nvSpPr>
        <p:spPr>
          <a:xfrm>
            <a:off x="5897880" y="2432304"/>
            <a:ext cx="273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Plano defendido</a:t>
            </a:r>
            <a:endParaRPr/>
          </a:p>
        </p:txBody>
      </p:sp>
      <p:pic>
        <p:nvPicPr>
          <p:cNvPr descr="CircleCheck_85228B.png" id="1583" name="Google Shape;158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29443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65"/>
          <p:cNvSpPr txBox="1"/>
          <p:nvPr/>
        </p:nvSpPr>
        <p:spPr>
          <a:xfrm>
            <a:off x="6227064" y="2926080"/>
            <a:ext cx="23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Design system do grupo</a:t>
            </a:r>
            <a:endParaRPr/>
          </a:p>
        </p:txBody>
      </p:sp>
      <p:pic>
        <p:nvPicPr>
          <p:cNvPr descr="CircleCheck_85228B.png" id="1585" name="Google Shape;1585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3346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65"/>
          <p:cNvSpPr txBox="1"/>
          <p:nvPr/>
        </p:nvSpPr>
        <p:spPr>
          <a:xfrm>
            <a:off x="6227064" y="3328416"/>
            <a:ext cx="23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Gerador e validador</a:t>
            </a:r>
            <a:endParaRPr/>
          </a:p>
        </p:txBody>
      </p:sp>
      <p:pic>
        <p:nvPicPr>
          <p:cNvPr descr="CircleCheck_85228B.png" id="1587" name="Google Shape;158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3749039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65"/>
          <p:cNvSpPr txBox="1"/>
          <p:nvPr/>
        </p:nvSpPr>
        <p:spPr>
          <a:xfrm>
            <a:off x="6227064" y="3730752"/>
            <a:ext cx="23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Deck do plano de IA</a:t>
            </a:r>
            <a:endParaRPr/>
          </a:p>
        </p:txBody>
      </p:sp>
      <p:pic>
        <p:nvPicPr>
          <p:cNvPr descr="CircleCheck_85228B.png" id="1589" name="Google Shape;158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41513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65"/>
          <p:cNvSpPr txBox="1"/>
          <p:nvPr/>
        </p:nvSpPr>
        <p:spPr>
          <a:xfrm>
            <a:off x="6227064" y="4133088"/>
            <a:ext cx="23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Defesa no tribunal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66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DE ONDE PARTIMOS</a:t>
            </a:r>
            <a:endParaRPr/>
          </a:p>
        </p:txBody>
      </p:sp>
      <p:sp>
        <p:nvSpPr>
          <p:cNvPr id="1596" name="Google Shape;1596;p66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597" name="Google Shape;1597;p66"/>
          <p:cNvSpPr/>
          <p:nvPr/>
        </p:nvSpPr>
        <p:spPr>
          <a:xfrm>
            <a:off x="323697" y="1874519"/>
            <a:ext cx="1772400" cy="567000"/>
          </a:xfrm>
          <a:prstGeom prst="homePlate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66"/>
          <p:cNvSpPr txBox="1"/>
          <p:nvPr/>
        </p:nvSpPr>
        <p:spPr>
          <a:xfrm>
            <a:off x="506577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899038" y="120700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C96A00.png" id="1600" name="Google Shape;160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812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601" name="Google Shape;1601;p66"/>
          <p:cNvSpPr txBox="1"/>
          <p:nvPr/>
        </p:nvSpPr>
        <p:spPr>
          <a:xfrm>
            <a:off x="396849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Steering</a:t>
            </a:r>
            <a:endParaRPr/>
          </a:p>
        </p:txBody>
      </p:sp>
      <p:sp>
        <p:nvSpPr>
          <p:cNvPr id="1602" name="Google Shape;1602;p66"/>
          <p:cNvSpPr txBox="1"/>
          <p:nvPr/>
        </p:nvSpPr>
        <p:spPr>
          <a:xfrm>
            <a:off x="415137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Guia visual da AWS</a:t>
            </a:r>
            <a:endParaRPr/>
          </a:p>
        </p:txBody>
      </p:sp>
      <p:sp>
        <p:nvSpPr>
          <p:cNvPr id="1603" name="Google Shape;1603;p66"/>
          <p:cNvSpPr/>
          <p:nvPr/>
        </p:nvSpPr>
        <p:spPr>
          <a:xfrm>
            <a:off x="2032162" y="1874519"/>
            <a:ext cx="1772400" cy="567000"/>
          </a:xfrm>
          <a:prstGeom prst="chevron">
            <a:avLst>
              <a:gd fmla="val 28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66"/>
          <p:cNvSpPr txBox="1"/>
          <p:nvPr/>
        </p:nvSpPr>
        <p:spPr>
          <a:xfrm>
            <a:off x="2215042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/>
          </a:p>
        </p:txBody>
      </p:sp>
      <p:sp>
        <p:nvSpPr>
          <p:cNvPr id="1605" name="Google Shape;1605;p66"/>
          <p:cNvSpPr/>
          <p:nvPr/>
        </p:nvSpPr>
        <p:spPr>
          <a:xfrm>
            <a:off x="2607503" y="1207008"/>
            <a:ext cx="512100" cy="5121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_C71D81.png" id="1606" name="Google Shape;160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5277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66"/>
          <p:cNvSpPr txBox="1"/>
          <p:nvPr/>
        </p:nvSpPr>
        <p:spPr>
          <a:xfrm>
            <a:off x="2105314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MCP</a:t>
            </a:r>
            <a:endParaRPr/>
          </a:p>
        </p:txBody>
      </p:sp>
      <p:sp>
        <p:nvSpPr>
          <p:cNvPr id="1608" name="Google Shape;1608;p66"/>
          <p:cNvSpPr txBox="1"/>
          <p:nvPr/>
        </p:nvSpPr>
        <p:spPr>
          <a:xfrm>
            <a:off x="2123602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Documentação oficial</a:t>
            </a:r>
            <a:endParaRPr/>
          </a:p>
        </p:txBody>
      </p:sp>
      <p:sp>
        <p:nvSpPr>
          <p:cNvPr id="1609" name="Google Shape;1609;p66"/>
          <p:cNvSpPr/>
          <p:nvPr/>
        </p:nvSpPr>
        <p:spPr>
          <a:xfrm>
            <a:off x="3740627" y="1874519"/>
            <a:ext cx="1772400" cy="567000"/>
          </a:xfrm>
          <a:prstGeom prst="chevron">
            <a:avLst>
              <a:gd fmla="val 28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66"/>
          <p:cNvSpPr txBox="1"/>
          <p:nvPr/>
        </p:nvSpPr>
        <p:spPr>
          <a:xfrm>
            <a:off x="3923507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/>
          </a:p>
        </p:txBody>
      </p:sp>
      <p:sp>
        <p:nvSpPr>
          <p:cNvPr id="1611" name="Google Shape;1611;p66"/>
          <p:cNvSpPr/>
          <p:nvPr/>
        </p:nvSpPr>
        <p:spPr>
          <a:xfrm>
            <a:off x="4315968" y="1207008"/>
            <a:ext cx="512100" cy="5121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Checks_85228B.png" id="1612" name="Google Shape;1612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3742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66"/>
          <p:cNvSpPr txBox="1"/>
          <p:nvPr/>
        </p:nvSpPr>
        <p:spPr>
          <a:xfrm>
            <a:off x="3813779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Validador</a:t>
            </a:r>
            <a:endParaRPr/>
          </a:p>
        </p:txBody>
      </p:sp>
      <p:sp>
        <p:nvSpPr>
          <p:cNvPr id="1614" name="Google Shape;1614;p66"/>
          <p:cNvSpPr txBox="1"/>
          <p:nvPr/>
        </p:nvSpPr>
        <p:spPr>
          <a:xfrm>
            <a:off x="3832067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Spec, código e testes</a:t>
            </a:r>
            <a:endParaRPr/>
          </a:p>
        </p:txBody>
      </p:sp>
      <p:sp>
        <p:nvSpPr>
          <p:cNvPr id="1615" name="Google Shape;1615;p66"/>
          <p:cNvSpPr/>
          <p:nvPr/>
        </p:nvSpPr>
        <p:spPr>
          <a:xfrm>
            <a:off x="5449092" y="1874519"/>
            <a:ext cx="1772400" cy="567000"/>
          </a:xfrm>
          <a:prstGeom prst="chevron">
            <a:avLst>
              <a:gd fmla="val 28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66"/>
          <p:cNvSpPr txBox="1"/>
          <p:nvPr/>
        </p:nvSpPr>
        <p:spPr>
          <a:xfrm>
            <a:off x="5631972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/>
          </a:p>
        </p:txBody>
      </p:sp>
      <p:sp>
        <p:nvSpPr>
          <p:cNvPr id="1617" name="Google Shape;1617;p66"/>
          <p:cNvSpPr/>
          <p:nvPr/>
        </p:nvSpPr>
        <p:spPr>
          <a:xfrm>
            <a:off x="6024432" y="1207008"/>
            <a:ext cx="512100" cy="5121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0E1D8E.png" id="1618" name="Google Shape;1618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2207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66"/>
          <p:cNvSpPr txBox="1"/>
          <p:nvPr/>
        </p:nvSpPr>
        <p:spPr>
          <a:xfrm>
            <a:off x="5522244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Skill</a:t>
            </a:r>
            <a:endParaRPr/>
          </a:p>
        </p:txBody>
      </p:sp>
      <p:sp>
        <p:nvSpPr>
          <p:cNvPr id="1620" name="Google Shape;1620;p66"/>
          <p:cNvSpPr txBox="1"/>
          <p:nvPr/>
        </p:nvSpPr>
        <p:spPr>
          <a:xfrm>
            <a:off x="5540532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Fluxo do gerador</a:t>
            </a:r>
            <a:endParaRPr/>
          </a:p>
        </p:txBody>
      </p:sp>
      <p:sp>
        <p:nvSpPr>
          <p:cNvPr id="1621" name="Google Shape;1621;p66"/>
          <p:cNvSpPr/>
          <p:nvPr/>
        </p:nvSpPr>
        <p:spPr>
          <a:xfrm>
            <a:off x="7157557" y="1874519"/>
            <a:ext cx="1662600" cy="567000"/>
          </a:xfrm>
          <a:prstGeom prst="chevron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66"/>
          <p:cNvSpPr txBox="1"/>
          <p:nvPr/>
        </p:nvSpPr>
        <p:spPr>
          <a:xfrm>
            <a:off x="7340437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/>
          </a:p>
        </p:txBody>
      </p:sp>
      <p:sp>
        <p:nvSpPr>
          <p:cNvPr id="1623" name="Google Shape;1623;p66"/>
          <p:cNvSpPr/>
          <p:nvPr/>
        </p:nvSpPr>
        <p:spPr>
          <a:xfrm>
            <a:off x="7732897" y="120700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_C96A00.png" id="1624" name="Google Shape;1624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0672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66"/>
          <p:cNvSpPr txBox="1"/>
          <p:nvPr/>
        </p:nvSpPr>
        <p:spPr>
          <a:xfrm>
            <a:off x="7230709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PNG</a:t>
            </a:r>
            <a:endParaRPr/>
          </a:p>
        </p:txBody>
      </p:sp>
      <p:sp>
        <p:nvSpPr>
          <p:cNvPr id="1626" name="Google Shape;1626;p66"/>
          <p:cNvSpPr txBox="1"/>
          <p:nvPr/>
        </p:nvSpPr>
        <p:spPr>
          <a:xfrm>
            <a:off x="7248997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Primeiro diagrama</a:t>
            </a:r>
            <a:endParaRPr/>
          </a:p>
        </p:txBody>
      </p:sp>
      <p:sp>
        <p:nvSpPr>
          <p:cNvPr id="1627" name="Google Shape;1627;p66"/>
          <p:cNvSpPr/>
          <p:nvPr/>
        </p:nvSpPr>
        <p:spPr>
          <a:xfrm>
            <a:off x="323697" y="3749039"/>
            <a:ext cx="8496600" cy="914400"/>
          </a:xfrm>
          <a:prstGeom prst="roundRect">
            <a:avLst>
              <a:gd fmla="val 16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66"/>
          <p:cNvSpPr/>
          <p:nvPr/>
        </p:nvSpPr>
        <p:spPr>
          <a:xfrm>
            <a:off x="506577" y="3977639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eat_FFFFFF.png" id="1629" name="Google Shape;1629;p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1733" y="40827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66"/>
          <p:cNvSpPr txBox="1"/>
          <p:nvPr/>
        </p:nvSpPr>
        <p:spPr>
          <a:xfrm>
            <a:off x="1192377" y="3749039"/>
            <a:ext cx="739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Agora: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mesmo caminho, só que o objeto muda de diagrama para apresentação.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67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MANHÃ X TARDE</a:t>
            </a:r>
            <a:endParaRPr/>
          </a:p>
        </p:txBody>
      </p:sp>
      <p:sp>
        <p:nvSpPr>
          <p:cNvPr id="1636" name="Google Shape;1636;p67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637" name="Google Shape;1637;p67"/>
          <p:cNvSpPr/>
          <p:nvPr/>
        </p:nvSpPr>
        <p:spPr>
          <a:xfrm>
            <a:off x="323697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67"/>
          <p:cNvSpPr/>
          <p:nvPr/>
        </p:nvSpPr>
        <p:spPr>
          <a:xfrm>
            <a:off x="506577" y="1344168"/>
            <a:ext cx="548700" cy="5487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_FFFFFF.png" id="1639" name="Google Shape;163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64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67"/>
          <p:cNvSpPr txBox="1"/>
          <p:nvPr/>
        </p:nvSpPr>
        <p:spPr>
          <a:xfrm>
            <a:off x="1192377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MANHÃ</a:t>
            </a:r>
            <a:endParaRPr/>
          </a:p>
        </p:txBody>
      </p:sp>
      <p:sp>
        <p:nvSpPr>
          <p:cNvPr id="1641" name="Google Shape;1641;p67"/>
          <p:cNvSpPr txBox="1"/>
          <p:nvPr/>
        </p:nvSpPr>
        <p:spPr>
          <a:xfrm>
            <a:off x="1192377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de arquiteturas</a:t>
            </a:r>
            <a:endParaRPr/>
          </a:p>
        </p:txBody>
      </p:sp>
      <p:sp>
        <p:nvSpPr>
          <p:cNvPr id="1642" name="Google Shape;1642;p67"/>
          <p:cNvSpPr txBox="1"/>
          <p:nvPr/>
        </p:nvSpPr>
        <p:spPr>
          <a:xfrm>
            <a:off x="598017" y="2148840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Guia</a:t>
            </a:r>
            <a:endParaRPr/>
          </a:p>
        </p:txBody>
      </p:sp>
      <p:sp>
        <p:nvSpPr>
          <p:cNvPr id="1643" name="Google Shape;1643;p67"/>
          <p:cNvSpPr txBox="1"/>
          <p:nvPr/>
        </p:nvSpPr>
        <p:spPr>
          <a:xfrm>
            <a:off x="2015337" y="2148840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guia visual da AWS</a:t>
            </a:r>
            <a:endParaRPr/>
          </a:p>
        </p:txBody>
      </p:sp>
      <p:sp>
        <p:nvSpPr>
          <p:cNvPr id="1644" name="Google Shape;1644;p67"/>
          <p:cNvSpPr txBox="1"/>
          <p:nvPr/>
        </p:nvSpPr>
        <p:spPr>
          <a:xfrm>
            <a:off x="598017" y="2487168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Entrada</a:t>
            </a:r>
            <a:endParaRPr/>
          </a:p>
        </p:txBody>
      </p:sp>
      <p:sp>
        <p:nvSpPr>
          <p:cNvPr id="1645" name="Google Shape;1645;p67"/>
          <p:cNvSpPr txBox="1"/>
          <p:nvPr/>
        </p:nvSpPr>
        <p:spPr>
          <a:xfrm>
            <a:off x="2015337" y="2487168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arquitetura em YAML</a:t>
            </a:r>
            <a:endParaRPr/>
          </a:p>
        </p:txBody>
      </p:sp>
      <p:sp>
        <p:nvSpPr>
          <p:cNvPr id="1646" name="Google Shape;1646;p67"/>
          <p:cNvSpPr txBox="1"/>
          <p:nvPr/>
        </p:nvSpPr>
        <p:spPr>
          <a:xfrm>
            <a:off x="598017" y="2825496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Validador</a:t>
            </a:r>
            <a:endParaRPr/>
          </a:p>
        </p:txBody>
      </p:sp>
      <p:sp>
        <p:nvSpPr>
          <p:cNvPr id="1647" name="Google Shape;1647;p67"/>
          <p:cNvSpPr txBox="1"/>
          <p:nvPr/>
        </p:nvSpPr>
        <p:spPr>
          <a:xfrm>
            <a:off x="2015337" y="2825496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ícones e grupos</a:t>
            </a:r>
            <a:endParaRPr/>
          </a:p>
        </p:txBody>
      </p:sp>
      <p:sp>
        <p:nvSpPr>
          <p:cNvPr id="1648" name="Google Shape;1648;p67"/>
          <p:cNvSpPr txBox="1"/>
          <p:nvPr/>
        </p:nvSpPr>
        <p:spPr>
          <a:xfrm>
            <a:off x="598017" y="3163824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Motor</a:t>
            </a:r>
            <a:endParaRPr/>
          </a:p>
        </p:txBody>
      </p:sp>
      <p:sp>
        <p:nvSpPr>
          <p:cNvPr id="1649" name="Google Shape;1649;p67"/>
          <p:cNvSpPr txBox="1"/>
          <p:nvPr/>
        </p:nvSpPr>
        <p:spPr>
          <a:xfrm>
            <a:off x="2015337" y="3163824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renderizador pronto</a:t>
            </a:r>
            <a:endParaRPr/>
          </a:p>
        </p:txBody>
      </p:sp>
      <p:sp>
        <p:nvSpPr>
          <p:cNvPr id="1650" name="Google Shape;1650;p67"/>
          <p:cNvSpPr txBox="1"/>
          <p:nvPr/>
        </p:nvSpPr>
        <p:spPr>
          <a:xfrm>
            <a:off x="598017" y="3502152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Saída</a:t>
            </a:r>
            <a:endParaRPr/>
          </a:p>
        </p:txBody>
      </p:sp>
      <p:sp>
        <p:nvSpPr>
          <p:cNvPr id="1651" name="Google Shape;1651;p67"/>
          <p:cNvSpPr txBox="1"/>
          <p:nvPr/>
        </p:nvSpPr>
        <p:spPr>
          <a:xfrm>
            <a:off x="2015337" y="3502152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diagrama em PNG</a:t>
            </a:r>
            <a:endParaRPr/>
          </a:p>
        </p:txBody>
      </p:sp>
      <p:sp>
        <p:nvSpPr>
          <p:cNvPr id="1652" name="Google Shape;1652;p67"/>
          <p:cNvSpPr txBox="1"/>
          <p:nvPr/>
        </p:nvSpPr>
        <p:spPr>
          <a:xfrm>
            <a:off x="4375404" y="2377439"/>
            <a:ext cx="39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/>
          </a:p>
        </p:txBody>
      </p:sp>
      <p:sp>
        <p:nvSpPr>
          <p:cNvPr id="1653" name="Google Shape;1653;p67"/>
          <p:cNvSpPr/>
          <p:nvPr/>
        </p:nvSpPr>
        <p:spPr>
          <a:xfrm>
            <a:off x="4768596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67"/>
          <p:cNvSpPr/>
          <p:nvPr/>
        </p:nvSpPr>
        <p:spPr>
          <a:xfrm>
            <a:off x="4951476" y="1344168"/>
            <a:ext cx="548700" cy="5487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sentation_FFFFFF.png" id="1655" name="Google Shape;1655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663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67"/>
          <p:cNvSpPr txBox="1"/>
          <p:nvPr/>
        </p:nvSpPr>
        <p:spPr>
          <a:xfrm>
            <a:off x="5637276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TARDE</a:t>
            </a:r>
            <a:endParaRPr/>
          </a:p>
        </p:txBody>
      </p:sp>
      <p:sp>
        <p:nvSpPr>
          <p:cNvPr id="1657" name="Google Shape;1657;p67"/>
          <p:cNvSpPr txBox="1"/>
          <p:nvPr/>
        </p:nvSpPr>
        <p:spPr>
          <a:xfrm>
            <a:off x="5637276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de slides</a:t>
            </a:r>
            <a:endParaRPr/>
          </a:p>
        </p:txBody>
      </p:sp>
      <p:sp>
        <p:nvSpPr>
          <p:cNvPr id="1658" name="Google Shape;1658;p67"/>
          <p:cNvSpPr txBox="1"/>
          <p:nvPr/>
        </p:nvSpPr>
        <p:spPr>
          <a:xfrm>
            <a:off x="5042916" y="2148840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Guia</a:t>
            </a:r>
            <a:endParaRPr/>
          </a:p>
        </p:txBody>
      </p:sp>
      <p:sp>
        <p:nvSpPr>
          <p:cNvPr id="1659" name="Google Shape;1659;p67"/>
          <p:cNvSpPr txBox="1"/>
          <p:nvPr/>
        </p:nvSpPr>
        <p:spPr>
          <a:xfrm>
            <a:off x="6460236" y="2148840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design system do grupo</a:t>
            </a:r>
            <a:endParaRPr/>
          </a:p>
        </p:txBody>
      </p:sp>
      <p:sp>
        <p:nvSpPr>
          <p:cNvPr id="1660" name="Google Shape;1660;p67"/>
          <p:cNvSpPr txBox="1"/>
          <p:nvPr/>
        </p:nvSpPr>
        <p:spPr>
          <a:xfrm>
            <a:off x="5042916" y="2487168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Entrada</a:t>
            </a:r>
            <a:endParaRPr/>
          </a:p>
        </p:txBody>
      </p:sp>
      <p:sp>
        <p:nvSpPr>
          <p:cNvPr id="1661" name="Google Shape;1661;p67"/>
          <p:cNvSpPr txBox="1"/>
          <p:nvPr/>
        </p:nvSpPr>
        <p:spPr>
          <a:xfrm>
            <a:off x="6460236" y="2487168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deck.yaml e tokens</a:t>
            </a:r>
            <a:endParaRPr/>
          </a:p>
        </p:txBody>
      </p:sp>
      <p:sp>
        <p:nvSpPr>
          <p:cNvPr id="1662" name="Google Shape;1662;p67"/>
          <p:cNvSpPr txBox="1"/>
          <p:nvPr/>
        </p:nvSpPr>
        <p:spPr>
          <a:xfrm>
            <a:off x="5042916" y="2825496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Validador</a:t>
            </a:r>
            <a:endParaRPr/>
          </a:p>
        </p:txBody>
      </p:sp>
      <p:sp>
        <p:nvSpPr>
          <p:cNvPr id="1663" name="Google Shape;1663;p67"/>
          <p:cNvSpPr txBox="1"/>
          <p:nvPr/>
        </p:nvSpPr>
        <p:spPr>
          <a:xfrm>
            <a:off x="6460236" y="2825496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contraste e limites</a:t>
            </a:r>
            <a:endParaRPr/>
          </a:p>
        </p:txBody>
      </p:sp>
      <p:sp>
        <p:nvSpPr>
          <p:cNvPr id="1664" name="Google Shape;1664;p67"/>
          <p:cNvSpPr txBox="1"/>
          <p:nvPr/>
        </p:nvSpPr>
        <p:spPr>
          <a:xfrm>
            <a:off x="5042916" y="3163824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Motor</a:t>
            </a:r>
            <a:endParaRPr/>
          </a:p>
        </p:txBody>
      </p:sp>
      <p:sp>
        <p:nvSpPr>
          <p:cNvPr id="1665" name="Google Shape;1665;p67"/>
          <p:cNvSpPr txBox="1"/>
          <p:nvPr/>
        </p:nvSpPr>
        <p:spPr>
          <a:xfrm>
            <a:off x="6460236" y="3163824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python-pptx do grupo</a:t>
            </a:r>
            <a:endParaRPr/>
          </a:p>
        </p:txBody>
      </p:sp>
      <p:sp>
        <p:nvSpPr>
          <p:cNvPr id="1666" name="Google Shape;1666;p67"/>
          <p:cNvSpPr txBox="1"/>
          <p:nvPr/>
        </p:nvSpPr>
        <p:spPr>
          <a:xfrm>
            <a:off x="5042916" y="3502152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Saída</a:t>
            </a:r>
            <a:endParaRPr/>
          </a:p>
        </p:txBody>
      </p:sp>
      <p:sp>
        <p:nvSpPr>
          <p:cNvPr id="1667" name="Google Shape;1667;p67"/>
          <p:cNvSpPr txBox="1"/>
          <p:nvPr/>
        </p:nvSpPr>
        <p:spPr>
          <a:xfrm>
            <a:off x="6460236" y="3502152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deck em PPTX</a:t>
            </a:r>
            <a:endParaRPr/>
          </a:p>
        </p:txBody>
      </p:sp>
      <p:sp>
        <p:nvSpPr>
          <p:cNvPr id="1668" name="Google Shape;1668;p67"/>
          <p:cNvSpPr/>
          <p:nvPr/>
        </p:nvSpPr>
        <p:spPr>
          <a:xfrm>
            <a:off x="323697" y="4069080"/>
            <a:ext cx="8496600" cy="640200"/>
          </a:xfrm>
          <a:prstGeom prst="roundRect">
            <a:avLst>
              <a:gd fmla="val 2285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67"/>
          <p:cNvSpPr/>
          <p:nvPr/>
        </p:nvSpPr>
        <p:spPr>
          <a:xfrm>
            <a:off x="506577" y="416052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_FFFFFF.png" id="1670" name="Google Shape;1670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733" y="4265676"/>
            <a:ext cx="246887" cy="246887"/>
          </a:xfrm>
          <a:prstGeom prst="rect">
            <a:avLst/>
          </a:prstGeom>
          <a:noFill/>
          <a:ln>
            <a:noFill/>
          </a:ln>
        </p:spPr>
      </p:pic>
      <p:sp>
        <p:nvSpPr>
          <p:cNvPr id="1671" name="Google Shape;1671;p67"/>
          <p:cNvSpPr txBox="1"/>
          <p:nvPr/>
        </p:nvSpPr>
        <p:spPr>
          <a:xfrm>
            <a:off x="1192377" y="4069080"/>
            <a:ext cx="739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O que se aprende: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padrão escrito, validado por código e aplicado pela IA.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68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ARQUITETURAS DE IA</a:t>
            </a:r>
            <a:endParaRPr/>
          </a:p>
        </p:txBody>
      </p:sp>
      <p:sp>
        <p:nvSpPr>
          <p:cNvPr id="1677" name="Google Shape;1677;p68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 plano que os slides vão apresentar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69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WORKFLOW X AGENTE</a:t>
            </a:r>
            <a:endParaRPr/>
          </a:p>
        </p:txBody>
      </p:sp>
      <p:sp>
        <p:nvSpPr>
          <p:cNvPr id="1683" name="Google Shape;1683;p69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684" name="Google Shape;1684;p69"/>
          <p:cNvSpPr/>
          <p:nvPr/>
        </p:nvSpPr>
        <p:spPr>
          <a:xfrm>
            <a:off x="323697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69"/>
          <p:cNvSpPr/>
          <p:nvPr/>
        </p:nvSpPr>
        <p:spPr>
          <a:xfrm>
            <a:off x="506577" y="1344168"/>
            <a:ext cx="548700" cy="5487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_FFFFFF.png" id="1686" name="Google Shape;168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64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69"/>
          <p:cNvSpPr txBox="1"/>
          <p:nvPr/>
        </p:nvSpPr>
        <p:spPr>
          <a:xfrm>
            <a:off x="1192377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WORKFLOW</a:t>
            </a:r>
            <a:endParaRPr/>
          </a:p>
        </p:txBody>
      </p:sp>
      <p:sp>
        <p:nvSpPr>
          <p:cNvPr id="1688" name="Google Shape;1688;p69"/>
          <p:cNvSpPr txBox="1"/>
          <p:nvPr/>
        </p:nvSpPr>
        <p:spPr>
          <a:xfrm>
            <a:off x="1192377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Caminho definido no código</a:t>
            </a:r>
            <a:endParaRPr/>
          </a:p>
        </p:txBody>
      </p:sp>
      <p:sp>
        <p:nvSpPr>
          <p:cNvPr id="1689" name="Google Shape;1689;p69"/>
          <p:cNvSpPr txBox="1"/>
          <p:nvPr/>
        </p:nvSpPr>
        <p:spPr>
          <a:xfrm>
            <a:off x="598017" y="2148840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Quem decide</a:t>
            </a:r>
            <a:endParaRPr/>
          </a:p>
        </p:txBody>
      </p:sp>
      <p:sp>
        <p:nvSpPr>
          <p:cNvPr id="1690" name="Google Shape;1690;p69"/>
          <p:cNvSpPr txBox="1"/>
          <p:nvPr/>
        </p:nvSpPr>
        <p:spPr>
          <a:xfrm>
            <a:off x="2015337" y="2148840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código</a:t>
            </a:r>
            <a:endParaRPr/>
          </a:p>
        </p:txBody>
      </p:sp>
      <p:sp>
        <p:nvSpPr>
          <p:cNvPr id="1691" name="Google Shape;1691;p69"/>
          <p:cNvSpPr txBox="1"/>
          <p:nvPr/>
        </p:nvSpPr>
        <p:spPr>
          <a:xfrm>
            <a:off x="598017" y="2487168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Previsível</a:t>
            </a:r>
            <a:endParaRPr/>
          </a:p>
        </p:txBody>
      </p:sp>
      <p:sp>
        <p:nvSpPr>
          <p:cNvPr id="1692" name="Google Shape;1692;p69"/>
          <p:cNvSpPr txBox="1"/>
          <p:nvPr/>
        </p:nvSpPr>
        <p:spPr>
          <a:xfrm>
            <a:off x="2015337" y="2487168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sim</a:t>
            </a:r>
            <a:endParaRPr/>
          </a:p>
        </p:txBody>
      </p:sp>
      <p:sp>
        <p:nvSpPr>
          <p:cNvPr id="1693" name="Google Shape;1693;p69"/>
          <p:cNvSpPr txBox="1"/>
          <p:nvPr/>
        </p:nvSpPr>
        <p:spPr>
          <a:xfrm>
            <a:off x="598017" y="2825496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Custo</a:t>
            </a:r>
            <a:endParaRPr/>
          </a:p>
        </p:txBody>
      </p:sp>
      <p:sp>
        <p:nvSpPr>
          <p:cNvPr id="1694" name="Google Shape;1694;p69"/>
          <p:cNvSpPr txBox="1"/>
          <p:nvPr/>
        </p:nvSpPr>
        <p:spPr>
          <a:xfrm>
            <a:off x="2015337" y="2825496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menor e estável</a:t>
            </a:r>
            <a:endParaRPr/>
          </a:p>
        </p:txBody>
      </p:sp>
      <p:sp>
        <p:nvSpPr>
          <p:cNvPr id="1695" name="Google Shape;1695;p69"/>
          <p:cNvSpPr txBox="1"/>
          <p:nvPr/>
        </p:nvSpPr>
        <p:spPr>
          <a:xfrm>
            <a:off x="598017" y="3163824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Bom para</a:t>
            </a:r>
            <a:endParaRPr/>
          </a:p>
        </p:txBody>
      </p:sp>
      <p:sp>
        <p:nvSpPr>
          <p:cNvPr id="1696" name="Google Shape;1696;p69"/>
          <p:cNvSpPr txBox="1"/>
          <p:nvPr/>
        </p:nvSpPr>
        <p:spPr>
          <a:xfrm>
            <a:off x="2015337" y="3163824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processos conhecidos</a:t>
            </a:r>
            <a:endParaRPr/>
          </a:p>
        </p:txBody>
      </p:sp>
      <p:sp>
        <p:nvSpPr>
          <p:cNvPr id="1697" name="Google Shape;1697;p69"/>
          <p:cNvSpPr txBox="1"/>
          <p:nvPr/>
        </p:nvSpPr>
        <p:spPr>
          <a:xfrm>
            <a:off x="598017" y="3502152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/>
          </a:p>
        </p:txBody>
      </p:sp>
      <p:sp>
        <p:nvSpPr>
          <p:cNvPr id="1698" name="Google Shape;1698;p69"/>
          <p:cNvSpPr txBox="1"/>
          <p:nvPr/>
        </p:nvSpPr>
        <p:spPr>
          <a:xfrm>
            <a:off x="2015337" y="3502152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classificar e rotear</a:t>
            </a:r>
            <a:endParaRPr/>
          </a:p>
        </p:txBody>
      </p:sp>
      <p:sp>
        <p:nvSpPr>
          <p:cNvPr id="1699" name="Google Shape;1699;p69"/>
          <p:cNvSpPr txBox="1"/>
          <p:nvPr/>
        </p:nvSpPr>
        <p:spPr>
          <a:xfrm>
            <a:off x="4375404" y="2377439"/>
            <a:ext cx="39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/>
          </a:p>
        </p:txBody>
      </p:sp>
      <p:sp>
        <p:nvSpPr>
          <p:cNvPr id="1700" name="Google Shape;1700;p69"/>
          <p:cNvSpPr/>
          <p:nvPr/>
        </p:nvSpPr>
        <p:spPr>
          <a:xfrm>
            <a:off x="4768596" y="1188720"/>
            <a:ext cx="4051800" cy="2743200"/>
          </a:xfrm>
          <a:prstGeom prst="roundRect">
            <a:avLst>
              <a:gd fmla="val 533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69"/>
          <p:cNvSpPr/>
          <p:nvPr/>
        </p:nvSpPr>
        <p:spPr>
          <a:xfrm>
            <a:off x="4951476" y="1344168"/>
            <a:ext cx="548700" cy="5487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t_FFFFFF.png" id="1702" name="Google Shape;1702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663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703" name="Google Shape;1703;p69"/>
          <p:cNvSpPr txBox="1"/>
          <p:nvPr/>
        </p:nvSpPr>
        <p:spPr>
          <a:xfrm>
            <a:off x="5637276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AGENTE</a:t>
            </a:r>
            <a:endParaRPr/>
          </a:p>
        </p:txBody>
      </p:sp>
      <p:sp>
        <p:nvSpPr>
          <p:cNvPr id="1704" name="Google Shape;1704;p69"/>
          <p:cNvSpPr txBox="1"/>
          <p:nvPr/>
        </p:nvSpPr>
        <p:spPr>
          <a:xfrm>
            <a:off x="5637276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O modelo decide os passos</a:t>
            </a:r>
            <a:endParaRPr/>
          </a:p>
        </p:txBody>
      </p:sp>
      <p:sp>
        <p:nvSpPr>
          <p:cNvPr id="1705" name="Google Shape;1705;p69"/>
          <p:cNvSpPr txBox="1"/>
          <p:nvPr/>
        </p:nvSpPr>
        <p:spPr>
          <a:xfrm>
            <a:off x="5042916" y="2148840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Quem decide</a:t>
            </a:r>
            <a:endParaRPr/>
          </a:p>
        </p:txBody>
      </p:sp>
      <p:sp>
        <p:nvSpPr>
          <p:cNvPr id="1706" name="Google Shape;1706;p69"/>
          <p:cNvSpPr txBox="1"/>
          <p:nvPr/>
        </p:nvSpPr>
        <p:spPr>
          <a:xfrm>
            <a:off x="6460236" y="2148840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LLM</a:t>
            </a:r>
            <a:endParaRPr/>
          </a:p>
        </p:txBody>
      </p:sp>
      <p:sp>
        <p:nvSpPr>
          <p:cNvPr id="1707" name="Google Shape;1707;p69"/>
          <p:cNvSpPr txBox="1"/>
          <p:nvPr/>
        </p:nvSpPr>
        <p:spPr>
          <a:xfrm>
            <a:off x="5042916" y="2487168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Previsível</a:t>
            </a:r>
            <a:endParaRPr/>
          </a:p>
        </p:txBody>
      </p:sp>
      <p:sp>
        <p:nvSpPr>
          <p:cNvPr id="1708" name="Google Shape;1708;p69"/>
          <p:cNvSpPr txBox="1"/>
          <p:nvPr/>
        </p:nvSpPr>
        <p:spPr>
          <a:xfrm>
            <a:off x="6460236" y="2487168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menos</a:t>
            </a:r>
            <a:endParaRPr/>
          </a:p>
        </p:txBody>
      </p:sp>
      <p:sp>
        <p:nvSpPr>
          <p:cNvPr id="1709" name="Google Shape;1709;p69"/>
          <p:cNvSpPr txBox="1"/>
          <p:nvPr/>
        </p:nvSpPr>
        <p:spPr>
          <a:xfrm>
            <a:off x="5042916" y="2825496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Custo</a:t>
            </a:r>
            <a:endParaRPr/>
          </a:p>
        </p:txBody>
      </p:sp>
      <p:sp>
        <p:nvSpPr>
          <p:cNvPr id="1710" name="Google Shape;1710;p69"/>
          <p:cNvSpPr txBox="1"/>
          <p:nvPr/>
        </p:nvSpPr>
        <p:spPr>
          <a:xfrm>
            <a:off x="6460236" y="2825496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varia com o loop</a:t>
            </a:r>
            <a:endParaRPr/>
          </a:p>
        </p:txBody>
      </p:sp>
      <p:sp>
        <p:nvSpPr>
          <p:cNvPr id="1711" name="Google Shape;1711;p69"/>
          <p:cNvSpPr txBox="1"/>
          <p:nvPr/>
        </p:nvSpPr>
        <p:spPr>
          <a:xfrm>
            <a:off x="5042916" y="3163824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Bom para</a:t>
            </a:r>
            <a:endParaRPr/>
          </a:p>
        </p:txBody>
      </p:sp>
      <p:sp>
        <p:nvSpPr>
          <p:cNvPr id="1712" name="Google Shape;1712;p69"/>
          <p:cNvSpPr txBox="1"/>
          <p:nvPr/>
        </p:nvSpPr>
        <p:spPr>
          <a:xfrm>
            <a:off x="6460236" y="3163824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tarefas abertas</a:t>
            </a:r>
            <a:endParaRPr/>
          </a:p>
        </p:txBody>
      </p:sp>
      <p:sp>
        <p:nvSpPr>
          <p:cNvPr id="1713" name="Google Shape;1713;p69"/>
          <p:cNvSpPr txBox="1"/>
          <p:nvPr/>
        </p:nvSpPr>
        <p:spPr>
          <a:xfrm>
            <a:off x="5042916" y="3502152"/>
            <a:ext cx="1417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/>
          </a:p>
        </p:txBody>
      </p:sp>
      <p:sp>
        <p:nvSpPr>
          <p:cNvPr id="1714" name="Google Shape;1714;p69"/>
          <p:cNvSpPr txBox="1"/>
          <p:nvPr/>
        </p:nvSpPr>
        <p:spPr>
          <a:xfrm>
            <a:off x="6460236" y="3502152"/>
            <a:ext cx="217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investigar um chamado</a:t>
            </a:r>
            <a:endParaRPr/>
          </a:p>
        </p:txBody>
      </p:sp>
      <p:sp>
        <p:nvSpPr>
          <p:cNvPr id="1715" name="Google Shape;1715;p69"/>
          <p:cNvSpPr/>
          <p:nvPr/>
        </p:nvSpPr>
        <p:spPr>
          <a:xfrm>
            <a:off x="323697" y="4069080"/>
            <a:ext cx="8496600" cy="640200"/>
          </a:xfrm>
          <a:prstGeom prst="roundRect">
            <a:avLst>
              <a:gd fmla="val 2285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69"/>
          <p:cNvSpPr/>
          <p:nvPr/>
        </p:nvSpPr>
        <p:spPr>
          <a:xfrm>
            <a:off x="506577" y="416052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le_FFFFFF.png" id="1717" name="Google Shape;1717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733" y="4265676"/>
            <a:ext cx="246887" cy="246887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69"/>
          <p:cNvSpPr txBox="1"/>
          <p:nvPr/>
        </p:nvSpPr>
        <p:spPr>
          <a:xfrm>
            <a:off x="1192377" y="4069080"/>
            <a:ext cx="739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Regra de arquitetura: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comece pelo mais simples; agente só quando o caminho não é previsível.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70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PADRÕES DE WORKFLOW</a:t>
            </a:r>
            <a:endParaRPr/>
          </a:p>
        </p:txBody>
      </p:sp>
      <p:sp>
        <p:nvSpPr>
          <p:cNvPr id="1724" name="Google Shape;1724;p7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725" name="Google Shape;1725;p70"/>
          <p:cNvSpPr/>
          <p:nvPr/>
        </p:nvSpPr>
        <p:spPr>
          <a:xfrm>
            <a:off x="323697" y="1188720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70"/>
          <p:cNvSpPr/>
          <p:nvPr/>
        </p:nvSpPr>
        <p:spPr>
          <a:xfrm>
            <a:off x="506577" y="137160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k_FFFFFF.png" id="1727" name="Google Shape;172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733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70"/>
          <p:cNvSpPr txBox="1"/>
          <p:nvPr/>
        </p:nvSpPr>
        <p:spPr>
          <a:xfrm>
            <a:off x="1100937" y="1371600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Prompt chaining</a:t>
            </a:r>
            <a:endParaRPr/>
          </a:p>
        </p:txBody>
      </p:sp>
      <p:sp>
        <p:nvSpPr>
          <p:cNvPr id="1729" name="Google Shape;1729;p70"/>
          <p:cNvSpPr txBox="1"/>
          <p:nvPr/>
        </p:nvSpPr>
        <p:spPr>
          <a:xfrm>
            <a:off x="552297" y="1965960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Uma chamada alimenta a próxima.</a:t>
            </a:r>
            <a:endParaRPr/>
          </a:p>
        </p:txBody>
      </p:sp>
      <p:sp>
        <p:nvSpPr>
          <p:cNvPr id="1730" name="Google Shape;1730;p70"/>
          <p:cNvSpPr/>
          <p:nvPr/>
        </p:nvSpPr>
        <p:spPr>
          <a:xfrm>
            <a:off x="3216859" y="1188720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70"/>
          <p:cNvSpPr/>
          <p:nvPr/>
        </p:nvSpPr>
        <p:spPr>
          <a:xfrm>
            <a:off x="3399739" y="1371600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lit_FFFFFF.png" id="1732" name="Google Shape;1732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4895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70"/>
          <p:cNvSpPr txBox="1"/>
          <p:nvPr/>
        </p:nvSpPr>
        <p:spPr>
          <a:xfrm>
            <a:off x="3994099" y="1371600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Routing</a:t>
            </a:r>
            <a:endParaRPr/>
          </a:p>
        </p:txBody>
      </p:sp>
      <p:sp>
        <p:nvSpPr>
          <p:cNvPr id="1734" name="Google Shape;1734;p70"/>
          <p:cNvSpPr txBox="1"/>
          <p:nvPr/>
        </p:nvSpPr>
        <p:spPr>
          <a:xfrm>
            <a:off x="3445459" y="1965960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Classifica e manda ao especialista.</a:t>
            </a:r>
            <a:endParaRPr/>
          </a:p>
        </p:txBody>
      </p:sp>
      <p:sp>
        <p:nvSpPr>
          <p:cNvPr id="1735" name="Google Shape;1735;p70"/>
          <p:cNvSpPr/>
          <p:nvPr/>
        </p:nvSpPr>
        <p:spPr>
          <a:xfrm>
            <a:off x="6110020" y="1188720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70"/>
          <p:cNvSpPr/>
          <p:nvPr/>
        </p:nvSpPr>
        <p:spPr>
          <a:xfrm>
            <a:off x="6292900" y="137160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_FFFFFF.png" id="1737" name="Google Shape;1737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8056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8" name="Google Shape;1738;p70"/>
          <p:cNvSpPr txBox="1"/>
          <p:nvPr/>
        </p:nvSpPr>
        <p:spPr>
          <a:xfrm>
            <a:off x="6887260" y="1371600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Parallelization</a:t>
            </a:r>
            <a:endParaRPr/>
          </a:p>
        </p:txBody>
      </p:sp>
      <p:sp>
        <p:nvSpPr>
          <p:cNvPr id="1739" name="Google Shape;1739;p70"/>
          <p:cNvSpPr txBox="1"/>
          <p:nvPr/>
        </p:nvSpPr>
        <p:spPr>
          <a:xfrm>
            <a:off x="6338620" y="1965960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Divide o trabalho ou vota.</a:t>
            </a:r>
            <a:endParaRPr/>
          </a:p>
        </p:txBody>
      </p:sp>
      <p:sp>
        <p:nvSpPr>
          <p:cNvPr id="1740" name="Google Shape;1740;p70"/>
          <p:cNvSpPr/>
          <p:nvPr/>
        </p:nvSpPr>
        <p:spPr>
          <a:xfrm>
            <a:off x="323697" y="3031236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70"/>
          <p:cNvSpPr/>
          <p:nvPr/>
        </p:nvSpPr>
        <p:spPr>
          <a:xfrm>
            <a:off x="506577" y="3214116"/>
            <a:ext cx="457200" cy="457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_FFFFFF.png" id="1742" name="Google Shape;1742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733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70"/>
          <p:cNvSpPr txBox="1"/>
          <p:nvPr/>
        </p:nvSpPr>
        <p:spPr>
          <a:xfrm>
            <a:off x="1100937" y="3214116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Orchestrator-workers</a:t>
            </a:r>
            <a:endParaRPr/>
          </a:p>
        </p:txBody>
      </p:sp>
      <p:sp>
        <p:nvSpPr>
          <p:cNvPr id="1744" name="Google Shape;1744;p70"/>
          <p:cNvSpPr txBox="1"/>
          <p:nvPr/>
        </p:nvSpPr>
        <p:spPr>
          <a:xfrm>
            <a:off x="552297" y="3808476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 divide, vários executam.</a:t>
            </a:r>
            <a:endParaRPr/>
          </a:p>
        </p:txBody>
      </p:sp>
      <p:sp>
        <p:nvSpPr>
          <p:cNvPr id="1745" name="Google Shape;1745;p70"/>
          <p:cNvSpPr/>
          <p:nvPr/>
        </p:nvSpPr>
        <p:spPr>
          <a:xfrm>
            <a:off x="3216859" y="3031236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70"/>
          <p:cNvSpPr/>
          <p:nvPr/>
        </p:nvSpPr>
        <p:spPr>
          <a:xfrm>
            <a:off x="3399739" y="3214116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freshCw_FFFFFF.png" id="1747" name="Google Shape;1747;p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4895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70"/>
          <p:cNvSpPr txBox="1"/>
          <p:nvPr/>
        </p:nvSpPr>
        <p:spPr>
          <a:xfrm>
            <a:off x="3994099" y="3214116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Evaluator-optimizer</a:t>
            </a:r>
            <a:endParaRPr/>
          </a:p>
        </p:txBody>
      </p:sp>
      <p:sp>
        <p:nvSpPr>
          <p:cNvPr id="1749" name="Google Shape;1749;p70"/>
          <p:cNvSpPr txBox="1"/>
          <p:nvPr/>
        </p:nvSpPr>
        <p:spPr>
          <a:xfrm>
            <a:off x="3445459" y="3808476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 gera, outro avalia e repete.</a:t>
            </a:r>
            <a:endParaRPr/>
          </a:p>
        </p:txBody>
      </p:sp>
      <p:sp>
        <p:nvSpPr>
          <p:cNvPr id="1750" name="Google Shape;1750;p70"/>
          <p:cNvSpPr/>
          <p:nvPr/>
        </p:nvSpPr>
        <p:spPr>
          <a:xfrm>
            <a:off x="6110020" y="3031236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70"/>
          <p:cNvSpPr/>
          <p:nvPr/>
        </p:nvSpPr>
        <p:spPr>
          <a:xfrm>
            <a:off x="6292900" y="3214116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t_FFFFFF.png" id="1752" name="Google Shape;1752;p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8056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70"/>
          <p:cNvSpPr txBox="1"/>
          <p:nvPr/>
        </p:nvSpPr>
        <p:spPr>
          <a:xfrm>
            <a:off x="6887260" y="3214116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Agente</a:t>
            </a:r>
            <a:endParaRPr/>
          </a:p>
        </p:txBody>
      </p:sp>
      <p:sp>
        <p:nvSpPr>
          <p:cNvPr id="1754" name="Google Shape;1754;p70"/>
          <p:cNvSpPr txBox="1"/>
          <p:nvPr/>
        </p:nvSpPr>
        <p:spPr>
          <a:xfrm>
            <a:off x="6338620" y="3808476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modelo decide o loop inteiro.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71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PADRÕES DE AGENTE NA AWS</a:t>
            </a:r>
            <a:endParaRPr/>
          </a:p>
        </p:txBody>
      </p:sp>
      <p:sp>
        <p:nvSpPr>
          <p:cNvPr id="1760" name="Google Shape;1760;p71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761" name="Google Shape;1761;p71"/>
          <p:cNvSpPr/>
          <p:nvPr/>
        </p:nvSpPr>
        <p:spPr>
          <a:xfrm>
            <a:off x="323697" y="1188720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71"/>
          <p:cNvSpPr/>
          <p:nvPr/>
        </p:nvSpPr>
        <p:spPr>
          <a:xfrm>
            <a:off x="506577" y="137160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in_FFFFFF.png" id="1763" name="Google Shape;176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733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64" name="Google Shape;1764;p71"/>
          <p:cNvSpPr txBox="1"/>
          <p:nvPr/>
        </p:nvSpPr>
        <p:spPr>
          <a:xfrm>
            <a:off x="1100937" y="1371600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Reasoning agents</a:t>
            </a:r>
            <a:endParaRPr/>
          </a:p>
        </p:txBody>
      </p:sp>
      <p:sp>
        <p:nvSpPr>
          <p:cNvPr id="1765" name="Google Shape;1765;p71"/>
          <p:cNvSpPr txBox="1"/>
          <p:nvPr/>
        </p:nvSpPr>
        <p:spPr>
          <a:xfrm>
            <a:off x="552297" y="1965960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Raciocinam e chamam ferramentas.</a:t>
            </a:r>
            <a:endParaRPr/>
          </a:p>
        </p:txBody>
      </p:sp>
      <p:sp>
        <p:nvSpPr>
          <p:cNvPr id="1766" name="Google Shape;1766;p71"/>
          <p:cNvSpPr/>
          <p:nvPr/>
        </p:nvSpPr>
        <p:spPr>
          <a:xfrm>
            <a:off x="3216859" y="1188720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71"/>
          <p:cNvSpPr/>
          <p:nvPr/>
        </p:nvSpPr>
        <p:spPr>
          <a:xfrm>
            <a:off x="3399739" y="1371600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okOpen_FFFFFF.png" id="1768" name="Google Shape;176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4895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71"/>
          <p:cNvSpPr txBox="1"/>
          <p:nvPr/>
        </p:nvSpPr>
        <p:spPr>
          <a:xfrm>
            <a:off x="3994099" y="1371600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Retrieval-augmented</a:t>
            </a:r>
            <a:endParaRPr/>
          </a:p>
        </p:txBody>
      </p:sp>
      <p:sp>
        <p:nvSpPr>
          <p:cNvPr id="1770" name="Google Shape;1770;p71"/>
          <p:cNvSpPr txBox="1"/>
          <p:nvPr/>
        </p:nvSpPr>
        <p:spPr>
          <a:xfrm>
            <a:off x="3445459" y="1965960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Buscam em documentos antes de responder.</a:t>
            </a:r>
            <a:endParaRPr/>
          </a:p>
        </p:txBody>
      </p:sp>
      <p:sp>
        <p:nvSpPr>
          <p:cNvPr id="1771" name="Google Shape;1771;p71"/>
          <p:cNvSpPr/>
          <p:nvPr/>
        </p:nvSpPr>
        <p:spPr>
          <a:xfrm>
            <a:off x="6110020" y="1188720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71"/>
          <p:cNvSpPr/>
          <p:nvPr/>
        </p:nvSpPr>
        <p:spPr>
          <a:xfrm>
            <a:off x="6292900" y="137160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de_FFFFFF.png" id="1773" name="Google Shape;1773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8056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74" name="Google Shape;1774;p71"/>
          <p:cNvSpPr txBox="1"/>
          <p:nvPr/>
        </p:nvSpPr>
        <p:spPr>
          <a:xfrm>
            <a:off x="6887260" y="1371600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Coding agents</a:t>
            </a:r>
            <a:endParaRPr/>
          </a:p>
        </p:txBody>
      </p:sp>
      <p:sp>
        <p:nvSpPr>
          <p:cNvPr id="1775" name="Google Shape;1775;p71"/>
          <p:cNvSpPr txBox="1"/>
          <p:nvPr/>
        </p:nvSpPr>
        <p:spPr>
          <a:xfrm>
            <a:off x="6338620" y="1965960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Escrevem e executam código.</a:t>
            </a:r>
            <a:endParaRPr/>
          </a:p>
        </p:txBody>
      </p:sp>
      <p:sp>
        <p:nvSpPr>
          <p:cNvPr id="1776" name="Google Shape;1776;p71"/>
          <p:cNvSpPr/>
          <p:nvPr/>
        </p:nvSpPr>
        <p:spPr>
          <a:xfrm>
            <a:off x="323697" y="3031236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71"/>
          <p:cNvSpPr/>
          <p:nvPr/>
        </p:nvSpPr>
        <p:spPr>
          <a:xfrm>
            <a:off x="506577" y="3214116"/>
            <a:ext cx="457200" cy="457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ic_FFFFFF.png" id="1778" name="Google Shape;1778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733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79" name="Google Shape;1779;p71"/>
          <p:cNvSpPr txBox="1"/>
          <p:nvPr/>
        </p:nvSpPr>
        <p:spPr>
          <a:xfrm>
            <a:off x="1100937" y="3214116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Voice interfaces</a:t>
            </a:r>
            <a:endParaRPr/>
          </a:p>
        </p:txBody>
      </p:sp>
      <p:sp>
        <p:nvSpPr>
          <p:cNvPr id="1780" name="Google Shape;1780;p71"/>
          <p:cNvSpPr txBox="1"/>
          <p:nvPr/>
        </p:nvSpPr>
        <p:spPr>
          <a:xfrm>
            <a:off x="552297" y="3808476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Conversa por voz em tempo real.</a:t>
            </a:r>
            <a:endParaRPr/>
          </a:p>
        </p:txBody>
      </p:sp>
      <p:sp>
        <p:nvSpPr>
          <p:cNvPr id="1781" name="Google Shape;1781;p71"/>
          <p:cNvSpPr/>
          <p:nvPr/>
        </p:nvSpPr>
        <p:spPr>
          <a:xfrm>
            <a:off x="3216859" y="3031236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71"/>
          <p:cNvSpPr/>
          <p:nvPr/>
        </p:nvSpPr>
        <p:spPr>
          <a:xfrm>
            <a:off x="3399739" y="3214116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_FFFFFF.png" id="1783" name="Google Shape;1783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4895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71"/>
          <p:cNvSpPr txBox="1"/>
          <p:nvPr/>
        </p:nvSpPr>
        <p:spPr>
          <a:xfrm>
            <a:off x="3994099" y="3214116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Workflow orchestrators</a:t>
            </a:r>
            <a:endParaRPr/>
          </a:p>
        </p:txBody>
      </p:sp>
      <p:sp>
        <p:nvSpPr>
          <p:cNvPr id="1785" name="Google Shape;1785;p71"/>
          <p:cNvSpPr txBox="1"/>
          <p:nvPr/>
        </p:nvSpPr>
        <p:spPr>
          <a:xfrm>
            <a:off x="3445459" y="3808476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Coordenam etapas de um processo.</a:t>
            </a:r>
            <a:endParaRPr/>
          </a:p>
        </p:txBody>
      </p:sp>
      <p:sp>
        <p:nvSpPr>
          <p:cNvPr id="1786" name="Google Shape;1786;p71"/>
          <p:cNvSpPr/>
          <p:nvPr/>
        </p:nvSpPr>
        <p:spPr>
          <a:xfrm>
            <a:off x="6110020" y="3031236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71"/>
          <p:cNvSpPr/>
          <p:nvPr/>
        </p:nvSpPr>
        <p:spPr>
          <a:xfrm>
            <a:off x="6292900" y="3214116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_FFFFFF.png" id="1788" name="Google Shape;1788;p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8056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89" name="Google Shape;1789;p71"/>
          <p:cNvSpPr txBox="1"/>
          <p:nvPr/>
        </p:nvSpPr>
        <p:spPr>
          <a:xfrm>
            <a:off x="6887260" y="3214116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Multi-agent</a:t>
            </a:r>
            <a:endParaRPr/>
          </a:p>
        </p:txBody>
      </p:sp>
      <p:sp>
        <p:nvSpPr>
          <p:cNvPr id="1790" name="Google Shape;1790;p71"/>
          <p:cNvSpPr txBox="1"/>
          <p:nvPr/>
        </p:nvSpPr>
        <p:spPr>
          <a:xfrm>
            <a:off x="6338620" y="3808476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Vários agentes que colaboram.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72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TODO AGENTE É UM LOOP</a:t>
            </a:r>
            <a:endParaRPr/>
          </a:p>
        </p:txBody>
      </p:sp>
      <p:sp>
        <p:nvSpPr>
          <p:cNvPr id="1796" name="Google Shape;1796;p72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797" name="Google Shape;1797;p72"/>
          <p:cNvSpPr/>
          <p:nvPr/>
        </p:nvSpPr>
        <p:spPr>
          <a:xfrm>
            <a:off x="3154680" y="1527048"/>
            <a:ext cx="2834700" cy="2834700"/>
          </a:xfrm>
          <a:prstGeom prst="blockArc">
            <a:avLst>
              <a:gd fmla="val 16290000" name="adj1"/>
              <a:gd fmla="val 21510000" name="adj2"/>
              <a:gd fmla="val 20000" name="adj3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72"/>
          <p:cNvSpPr/>
          <p:nvPr/>
        </p:nvSpPr>
        <p:spPr>
          <a:xfrm>
            <a:off x="5281952" y="1850367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72"/>
          <p:cNvSpPr txBox="1"/>
          <p:nvPr/>
        </p:nvSpPr>
        <p:spPr>
          <a:xfrm>
            <a:off x="5281952" y="1850367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1800" name="Google Shape;1800;p72"/>
          <p:cNvSpPr txBox="1"/>
          <p:nvPr/>
        </p:nvSpPr>
        <p:spPr>
          <a:xfrm>
            <a:off x="6580022" y="1557473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1. Pensar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Planeja o próximo passo</a:t>
            </a:r>
            <a:endParaRPr/>
          </a:p>
        </p:txBody>
      </p:sp>
      <p:sp>
        <p:nvSpPr>
          <p:cNvPr id="1801" name="Google Shape;1801;p72"/>
          <p:cNvSpPr/>
          <p:nvPr/>
        </p:nvSpPr>
        <p:spPr>
          <a:xfrm>
            <a:off x="3154680" y="1527048"/>
            <a:ext cx="2834700" cy="2834700"/>
          </a:xfrm>
          <a:prstGeom prst="blockArc">
            <a:avLst>
              <a:gd fmla="val 89999" name="adj1"/>
              <a:gd fmla="val 5310000" name="adj2"/>
              <a:gd fmla="val 20000" name="adj3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72"/>
          <p:cNvSpPr/>
          <p:nvPr/>
        </p:nvSpPr>
        <p:spPr>
          <a:xfrm>
            <a:off x="5281952" y="3654320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72"/>
          <p:cNvSpPr txBox="1"/>
          <p:nvPr/>
        </p:nvSpPr>
        <p:spPr>
          <a:xfrm>
            <a:off x="5281952" y="365432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1804" name="Google Shape;1804;p72"/>
          <p:cNvSpPr txBox="1"/>
          <p:nvPr/>
        </p:nvSpPr>
        <p:spPr>
          <a:xfrm>
            <a:off x="6580022" y="3691182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2. Agir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Chama uma tool</a:t>
            </a:r>
            <a:endParaRPr/>
          </a:p>
        </p:txBody>
      </p:sp>
      <p:sp>
        <p:nvSpPr>
          <p:cNvPr id="1805" name="Google Shape;1805;p72"/>
          <p:cNvSpPr/>
          <p:nvPr/>
        </p:nvSpPr>
        <p:spPr>
          <a:xfrm>
            <a:off x="3154680" y="1527048"/>
            <a:ext cx="2834700" cy="2834700"/>
          </a:xfrm>
          <a:prstGeom prst="blockArc">
            <a:avLst>
              <a:gd fmla="val 5490000" name="adj1"/>
              <a:gd fmla="val 10710000" name="adj2"/>
              <a:gd fmla="val 20000" name="adj3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72"/>
          <p:cNvSpPr/>
          <p:nvPr/>
        </p:nvSpPr>
        <p:spPr>
          <a:xfrm>
            <a:off x="3477999" y="3654320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72"/>
          <p:cNvSpPr txBox="1"/>
          <p:nvPr/>
        </p:nvSpPr>
        <p:spPr>
          <a:xfrm>
            <a:off x="3477999" y="365432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808" name="Google Shape;1808;p72"/>
          <p:cNvSpPr txBox="1"/>
          <p:nvPr/>
        </p:nvSpPr>
        <p:spPr>
          <a:xfrm>
            <a:off x="323697" y="3691182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3. Observar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Lê o resultado</a:t>
            </a:r>
            <a:endParaRPr/>
          </a:p>
        </p:txBody>
      </p:sp>
      <p:sp>
        <p:nvSpPr>
          <p:cNvPr id="1809" name="Google Shape;1809;p72"/>
          <p:cNvSpPr/>
          <p:nvPr/>
        </p:nvSpPr>
        <p:spPr>
          <a:xfrm>
            <a:off x="3154680" y="1527048"/>
            <a:ext cx="2834700" cy="2834700"/>
          </a:xfrm>
          <a:prstGeom prst="blockArc">
            <a:avLst>
              <a:gd fmla="val 10890000" name="adj1"/>
              <a:gd fmla="val 16110000" name="adj2"/>
              <a:gd fmla="val 20000" name="adj3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72"/>
          <p:cNvSpPr/>
          <p:nvPr/>
        </p:nvSpPr>
        <p:spPr>
          <a:xfrm>
            <a:off x="3477999" y="1850367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72"/>
          <p:cNvSpPr txBox="1"/>
          <p:nvPr/>
        </p:nvSpPr>
        <p:spPr>
          <a:xfrm>
            <a:off x="3477999" y="1850367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1812" name="Google Shape;1812;p72"/>
          <p:cNvSpPr txBox="1"/>
          <p:nvPr/>
        </p:nvSpPr>
        <p:spPr>
          <a:xfrm>
            <a:off x="323697" y="1557473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4. Responder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Decide se terminou</a:t>
            </a:r>
            <a:endParaRPr/>
          </a:p>
        </p:txBody>
      </p:sp>
      <p:sp>
        <p:nvSpPr>
          <p:cNvPr id="1813" name="Google Shape;1813;p72"/>
          <p:cNvSpPr txBox="1"/>
          <p:nvPr/>
        </p:nvSpPr>
        <p:spPr>
          <a:xfrm>
            <a:off x="3703320" y="2487168"/>
            <a:ext cx="173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ReAct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73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AS PEÇAS NA AWS</a:t>
            </a:r>
            <a:endParaRPr/>
          </a:p>
        </p:txBody>
      </p:sp>
      <p:sp>
        <p:nvSpPr>
          <p:cNvPr id="1819" name="Google Shape;1819;p73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820" name="Google Shape;1820;p73"/>
          <p:cNvSpPr/>
          <p:nvPr/>
        </p:nvSpPr>
        <p:spPr>
          <a:xfrm>
            <a:off x="323697" y="1188720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73"/>
          <p:cNvSpPr/>
          <p:nvPr/>
        </p:nvSpPr>
        <p:spPr>
          <a:xfrm>
            <a:off x="506577" y="137160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in_FFFFFF.png" id="1822" name="Google Shape;182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733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73"/>
          <p:cNvSpPr txBox="1"/>
          <p:nvPr/>
        </p:nvSpPr>
        <p:spPr>
          <a:xfrm>
            <a:off x="1100937" y="1371600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Amazon Bedrock</a:t>
            </a:r>
            <a:endParaRPr/>
          </a:p>
        </p:txBody>
      </p:sp>
      <p:sp>
        <p:nvSpPr>
          <p:cNvPr id="1824" name="Google Shape;1824;p73"/>
          <p:cNvSpPr txBox="1"/>
          <p:nvPr/>
        </p:nvSpPr>
        <p:spPr>
          <a:xfrm>
            <a:off x="552297" y="1965960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Modelos por API, sem servidor.</a:t>
            </a:r>
            <a:endParaRPr/>
          </a:p>
        </p:txBody>
      </p:sp>
      <p:sp>
        <p:nvSpPr>
          <p:cNvPr id="1825" name="Google Shape;1825;p73"/>
          <p:cNvSpPr/>
          <p:nvPr/>
        </p:nvSpPr>
        <p:spPr>
          <a:xfrm>
            <a:off x="3216859" y="1188720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73"/>
          <p:cNvSpPr/>
          <p:nvPr/>
        </p:nvSpPr>
        <p:spPr>
          <a:xfrm>
            <a:off x="3399739" y="1371600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okOpen_FFFFFF.png" id="1827" name="Google Shape;1827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4895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73"/>
          <p:cNvSpPr txBox="1"/>
          <p:nvPr/>
        </p:nvSpPr>
        <p:spPr>
          <a:xfrm>
            <a:off x="3994099" y="1371600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Knowledge Bases</a:t>
            </a:r>
            <a:endParaRPr/>
          </a:p>
        </p:txBody>
      </p:sp>
      <p:sp>
        <p:nvSpPr>
          <p:cNvPr id="1829" name="Google Shape;1829;p73"/>
          <p:cNvSpPr txBox="1"/>
          <p:nvPr/>
        </p:nvSpPr>
        <p:spPr>
          <a:xfrm>
            <a:off x="3445459" y="1965960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RAG gerenciado sobre documentos.</a:t>
            </a:r>
            <a:endParaRPr/>
          </a:p>
        </p:txBody>
      </p:sp>
      <p:sp>
        <p:nvSpPr>
          <p:cNvPr id="1830" name="Google Shape;1830;p73"/>
          <p:cNvSpPr/>
          <p:nvPr/>
        </p:nvSpPr>
        <p:spPr>
          <a:xfrm>
            <a:off x="6110020" y="1188720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73"/>
          <p:cNvSpPr/>
          <p:nvPr/>
        </p:nvSpPr>
        <p:spPr>
          <a:xfrm>
            <a:off x="6292900" y="137160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er_FFFFFF.png" id="1832" name="Google Shape;1832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8056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73"/>
          <p:cNvSpPr txBox="1"/>
          <p:nvPr/>
        </p:nvSpPr>
        <p:spPr>
          <a:xfrm>
            <a:off x="6887260" y="1371600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AgentCore Runtime</a:t>
            </a:r>
            <a:endParaRPr/>
          </a:p>
        </p:txBody>
      </p:sp>
      <p:sp>
        <p:nvSpPr>
          <p:cNvPr id="1834" name="Google Shape;1834;p73"/>
          <p:cNvSpPr txBox="1"/>
          <p:nvPr/>
        </p:nvSpPr>
        <p:spPr>
          <a:xfrm>
            <a:off x="6338620" y="1965960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Roda o agente com isolamento.</a:t>
            </a:r>
            <a:endParaRPr/>
          </a:p>
        </p:txBody>
      </p:sp>
      <p:sp>
        <p:nvSpPr>
          <p:cNvPr id="1835" name="Google Shape;1835;p73"/>
          <p:cNvSpPr/>
          <p:nvPr/>
        </p:nvSpPr>
        <p:spPr>
          <a:xfrm>
            <a:off x="323697" y="3031236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73"/>
          <p:cNvSpPr/>
          <p:nvPr/>
        </p:nvSpPr>
        <p:spPr>
          <a:xfrm>
            <a:off x="506577" y="3214116"/>
            <a:ext cx="457200" cy="457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_FFFFFF.png" id="1837" name="Google Shape;1837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733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p73"/>
          <p:cNvSpPr txBox="1"/>
          <p:nvPr/>
        </p:nvSpPr>
        <p:spPr>
          <a:xfrm>
            <a:off x="1100937" y="3214116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AgentCore Memory</a:t>
            </a:r>
            <a:endParaRPr/>
          </a:p>
        </p:txBody>
      </p:sp>
      <p:sp>
        <p:nvSpPr>
          <p:cNvPr id="1839" name="Google Shape;1839;p73"/>
          <p:cNvSpPr txBox="1"/>
          <p:nvPr/>
        </p:nvSpPr>
        <p:spPr>
          <a:xfrm>
            <a:off x="552297" y="3808476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Contexto entre sessões.</a:t>
            </a:r>
            <a:endParaRPr/>
          </a:p>
        </p:txBody>
      </p:sp>
      <p:sp>
        <p:nvSpPr>
          <p:cNvPr id="1840" name="Google Shape;1840;p73"/>
          <p:cNvSpPr/>
          <p:nvPr/>
        </p:nvSpPr>
        <p:spPr>
          <a:xfrm>
            <a:off x="3216859" y="3031236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73"/>
          <p:cNvSpPr/>
          <p:nvPr/>
        </p:nvSpPr>
        <p:spPr>
          <a:xfrm>
            <a:off x="3399739" y="3214116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lug_FFFFFF.png" id="1842" name="Google Shape;1842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4895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43" name="Google Shape;1843;p73"/>
          <p:cNvSpPr txBox="1"/>
          <p:nvPr/>
        </p:nvSpPr>
        <p:spPr>
          <a:xfrm>
            <a:off x="3994099" y="3214116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AgentCore Gateway</a:t>
            </a:r>
            <a:endParaRPr/>
          </a:p>
        </p:txBody>
      </p:sp>
      <p:sp>
        <p:nvSpPr>
          <p:cNvPr id="1844" name="Google Shape;1844;p73"/>
          <p:cNvSpPr txBox="1"/>
          <p:nvPr/>
        </p:nvSpPr>
        <p:spPr>
          <a:xfrm>
            <a:off x="3445459" y="3808476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APIs viram tools MCP.</a:t>
            </a:r>
            <a:endParaRPr/>
          </a:p>
        </p:txBody>
      </p:sp>
      <p:sp>
        <p:nvSpPr>
          <p:cNvPr id="1845" name="Google Shape;1845;p73"/>
          <p:cNvSpPr/>
          <p:nvPr/>
        </p:nvSpPr>
        <p:spPr>
          <a:xfrm>
            <a:off x="6110020" y="3031236"/>
            <a:ext cx="2710200" cy="1677900"/>
          </a:xfrm>
          <a:prstGeom prst="roundRect">
            <a:avLst>
              <a:gd fmla="val 7629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73"/>
          <p:cNvSpPr/>
          <p:nvPr/>
        </p:nvSpPr>
        <p:spPr>
          <a:xfrm>
            <a:off x="6292900" y="3214116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_FFFFFF.png" id="1847" name="Google Shape;1847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8056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48" name="Google Shape;1848;p73"/>
          <p:cNvSpPr txBox="1"/>
          <p:nvPr/>
        </p:nvSpPr>
        <p:spPr>
          <a:xfrm>
            <a:off x="6887260" y="3214116"/>
            <a:ext cx="17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Step Functions</a:t>
            </a:r>
            <a:endParaRPr/>
          </a:p>
        </p:txBody>
      </p:sp>
      <p:sp>
        <p:nvSpPr>
          <p:cNvPr id="1849" name="Google Shape;1849;p73"/>
          <p:cNvSpPr txBox="1"/>
          <p:nvPr/>
        </p:nvSpPr>
        <p:spPr>
          <a:xfrm>
            <a:off x="6338620" y="3808476"/>
            <a:ext cx="2298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Orquestra etapas e eventos.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74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OS 5 PLANOS DE ARQUITETURA</a:t>
            </a:r>
            <a:endParaRPr/>
          </a:p>
        </p:txBody>
      </p:sp>
      <p:sp>
        <p:nvSpPr>
          <p:cNvPr id="1855" name="Google Shape;1855;p74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856" name="Google Shape;1856;p74"/>
          <p:cNvSpPr/>
          <p:nvPr/>
        </p:nvSpPr>
        <p:spPr>
          <a:xfrm>
            <a:off x="323697" y="1188720"/>
            <a:ext cx="8496600" cy="603600"/>
          </a:xfrm>
          <a:prstGeom prst="roundRect">
            <a:avLst>
              <a:gd fmla="val 18181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74"/>
          <p:cNvSpPr/>
          <p:nvPr/>
        </p:nvSpPr>
        <p:spPr>
          <a:xfrm>
            <a:off x="460857" y="1353312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74"/>
          <p:cNvSpPr txBox="1"/>
          <p:nvPr/>
        </p:nvSpPr>
        <p:spPr>
          <a:xfrm>
            <a:off x="460857" y="1353312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G1 · APOSTILAS</a:t>
            </a:r>
            <a:endParaRPr/>
          </a:p>
        </p:txBody>
      </p:sp>
      <p:sp>
        <p:nvSpPr>
          <p:cNvPr id="1859" name="Google Shape;1859;p74"/>
          <p:cNvSpPr txBox="1"/>
          <p:nvPr/>
        </p:nvSpPr>
        <p:spPr>
          <a:xfrm>
            <a:off x="2243937" y="1188720"/>
            <a:ext cx="6439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Agente com recuperação (RAG): Knowledge Bases, S3 e AgentCore Runtime</a:t>
            </a:r>
            <a:endParaRPr/>
          </a:p>
        </p:txBody>
      </p:sp>
      <p:sp>
        <p:nvSpPr>
          <p:cNvPr id="1860" name="Google Shape;1860;p74"/>
          <p:cNvSpPr/>
          <p:nvPr/>
        </p:nvSpPr>
        <p:spPr>
          <a:xfrm>
            <a:off x="323697" y="1883664"/>
            <a:ext cx="8496600" cy="603600"/>
          </a:xfrm>
          <a:prstGeom prst="roundRect">
            <a:avLst>
              <a:gd fmla="val 18181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74"/>
          <p:cNvSpPr/>
          <p:nvPr/>
        </p:nvSpPr>
        <p:spPr>
          <a:xfrm>
            <a:off x="460857" y="2048256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74"/>
          <p:cNvSpPr txBox="1"/>
          <p:nvPr/>
        </p:nvSpPr>
        <p:spPr>
          <a:xfrm>
            <a:off x="460857" y="2048256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G2 · SENSORES</a:t>
            </a:r>
            <a:endParaRPr/>
          </a:p>
        </p:txBody>
      </p:sp>
      <p:sp>
        <p:nvSpPr>
          <p:cNvPr id="1863" name="Google Shape;1863;p74"/>
          <p:cNvSpPr txBox="1"/>
          <p:nvPr/>
        </p:nvSpPr>
        <p:spPr>
          <a:xfrm>
            <a:off x="2243937" y="1883664"/>
            <a:ext cx="6439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Workflow orientado a eventos: IoT Core, EventBridge, Lambda e Bedrock</a:t>
            </a:r>
            <a:endParaRPr/>
          </a:p>
        </p:txBody>
      </p:sp>
      <p:sp>
        <p:nvSpPr>
          <p:cNvPr id="1864" name="Google Shape;1864;p74"/>
          <p:cNvSpPr/>
          <p:nvPr/>
        </p:nvSpPr>
        <p:spPr>
          <a:xfrm>
            <a:off x="323697" y="2578608"/>
            <a:ext cx="8496600" cy="603600"/>
          </a:xfrm>
          <a:prstGeom prst="roundRect">
            <a:avLst>
              <a:gd fmla="val 18181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74"/>
          <p:cNvSpPr/>
          <p:nvPr/>
        </p:nvSpPr>
        <p:spPr>
          <a:xfrm>
            <a:off x="460857" y="2743200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74"/>
          <p:cNvSpPr txBox="1"/>
          <p:nvPr/>
        </p:nvSpPr>
        <p:spPr>
          <a:xfrm>
            <a:off x="460857" y="274320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G3 · MATRÍCULAS</a:t>
            </a:r>
            <a:endParaRPr/>
          </a:p>
        </p:txBody>
      </p:sp>
      <p:sp>
        <p:nvSpPr>
          <p:cNvPr id="1867" name="Google Shape;1867;p74"/>
          <p:cNvSpPr txBox="1"/>
          <p:nvPr/>
        </p:nvSpPr>
        <p:spPr>
          <a:xfrm>
            <a:off x="2243937" y="2578608"/>
            <a:ext cx="6439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Agente com ferramentas: AgentCore Runtime, Code Interpreter e Athena</a:t>
            </a:r>
            <a:endParaRPr/>
          </a:p>
        </p:txBody>
      </p:sp>
      <p:sp>
        <p:nvSpPr>
          <p:cNvPr id="1868" name="Google Shape;1868;p74"/>
          <p:cNvSpPr/>
          <p:nvPr/>
        </p:nvSpPr>
        <p:spPr>
          <a:xfrm>
            <a:off x="323697" y="3273552"/>
            <a:ext cx="8496600" cy="603600"/>
          </a:xfrm>
          <a:prstGeom prst="roundRect">
            <a:avLst>
              <a:gd fmla="val 18181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74"/>
          <p:cNvSpPr/>
          <p:nvPr/>
        </p:nvSpPr>
        <p:spPr>
          <a:xfrm>
            <a:off x="460857" y="3438144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74"/>
          <p:cNvSpPr txBox="1"/>
          <p:nvPr/>
        </p:nvSpPr>
        <p:spPr>
          <a:xfrm>
            <a:off x="460857" y="3438144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G4 · HELPDESK</a:t>
            </a:r>
            <a:endParaRPr/>
          </a:p>
        </p:txBody>
      </p:sp>
      <p:sp>
        <p:nvSpPr>
          <p:cNvPr id="1871" name="Google Shape;1871;p74"/>
          <p:cNvSpPr txBox="1"/>
          <p:nvPr/>
        </p:nvSpPr>
        <p:spPr>
          <a:xfrm>
            <a:off x="2243937" y="3273552"/>
            <a:ext cx="6439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Multiagente: orquestrador e especialistas com Memory e Gateway</a:t>
            </a:r>
            <a:endParaRPr/>
          </a:p>
        </p:txBody>
      </p:sp>
      <p:sp>
        <p:nvSpPr>
          <p:cNvPr id="1872" name="Google Shape;1872;p74"/>
          <p:cNvSpPr/>
          <p:nvPr/>
        </p:nvSpPr>
        <p:spPr>
          <a:xfrm>
            <a:off x="323697" y="3968496"/>
            <a:ext cx="8496600" cy="603600"/>
          </a:xfrm>
          <a:prstGeom prst="roundRect">
            <a:avLst>
              <a:gd fmla="val 18181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74"/>
          <p:cNvSpPr/>
          <p:nvPr/>
        </p:nvSpPr>
        <p:spPr>
          <a:xfrm>
            <a:off x="460857" y="4133087"/>
            <a:ext cx="1600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74"/>
          <p:cNvSpPr txBox="1"/>
          <p:nvPr/>
        </p:nvSpPr>
        <p:spPr>
          <a:xfrm>
            <a:off x="460857" y="4133087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G5 · DADOS</a:t>
            </a:r>
            <a:endParaRPr/>
          </a:p>
        </p:txBody>
      </p:sp>
      <p:sp>
        <p:nvSpPr>
          <p:cNvPr id="1875" name="Google Shape;1875;p74"/>
          <p:cNvSpPr txBox="1"/>
          <p:nvPr/>
        </p:nvSpPr>
        <p:spPr>
          <a:xfrm>
            <a:off x="2243937" y="3968496"/>
            <a:ext cx="6439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Avaliador e otimizador: Step Functions, Glue Data Quality e Bedrock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7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QUE UM PLANO RESPONDE</a:t>
            </a:r>
            <a:endParaRPr/>
          </a:p>
        </p:txBody>
      </p:sp>
      <p:sp>
        <p:nvSpPr>
          <p:cNvPr id="1881" name="Google Shape;1881;p7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882" name="Google Shape;1882;p75"/>
          <p:cNvSpPr/>
          <p:nvPr/>
        </p:nvSpPr>
        <p:spPr>
          <a:xfrm>
            <a:off x="323697" y="118872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75"/>
          <p:cNvSpPr/>
          <p:nvPr/>
        </p:nvSpPr>
        <p:spPr>
          <a:xfrm>
            <a:off x="598017" y="143103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75"/>
          <p:cNvSpPr txBox="1"/>
          <p:nvPr/>
        </p:nvSpPr>
        <p:spPr>
          <a:xfrm>
            <a:off x="598017" y="14310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1885" name="Google Shape;1885;p75"/>
          <p:cNvSpPr txBox="1"/>
          <p:nvPr/>
        </p:nvSpPr>
        <p:spPr>
          <a:xfrm>
            <a:off x="1375257" y="118872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Problema e usuário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Quem usa e o que resolve.</a:t>
            </a:r>
            <a:endParaRPr/>
          </a:p>
        </p:txBody>
      </p:sp>
      <p:sp>
        <p:nvSpPr>
          <p:cNvPr id="1886" name="Google Shape;1886;p75"/>
          <p:cNvSpPr/>
          <p:nvPr/>
        </p:nvSpPr>
        <p:spPr>
          <a:xfrm>
            <a:off x="4709160" y="118872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75"/>
          <p:cNvSpPr/>
          <p:nvPr/>
        </p:nvSpPr>
        <p:spPr>
          <a:xfrm>
            <a:off x="4983480" y="143103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75"/>
          <p:cNvSpPr txBox="1"/>
          <p:nvPr/>
        </p:nvSpPr>
        <p:spPr>
          <a:xfrm>
            <a:off x="4983480" y="14310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1889" name="Google Shape;1889;p75"/>
          <p:cNvSpPr txBox="1"/>
          <p:nvPr/>
        </p:nvSpPr>
        <p:spPr>
          <a:xfrm>
            <a:off x="5760720" y="118872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Padrão escolhido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Workflow ou agente, e por quê.</a:t>
            </a:r>
            <a:endParaRPr/>
          </a:p>
        </p:txBody>
      </p:sp>
      <p:sp>
        <p:nvSpPr>
          <p:cNvPr id="1890" name="Google Shape;1890;p75"/>
          <p:cNvSpPr/>
          <p:nvPr/>
        </p:nvSpPr>
        <p:spPr>
          <a:xfrm>
            <a:off x="323697" y="242316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75"/>
          <p:cNvSpPr/>
          <p:nvPr/>
        </p:nvSpPr>
        <p:spPr>
          <a:xfrm>
            <a:off x="598017" y="266547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75"/>
          <p:cNvSpPr txBox="1"/>
          <p:nvPr/>
        </p:nvSpPr>
        <p:spPr>
          <a:xfrm>
            <a:off x="598017" y="266547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893" name="Google Shape;1893;p75"/>
          <p:cNvSpPr txBox="1"/>
          <p:nvPr/>
        </p:nvSpPr>
        <p:spPr>
          <a:xfrm>
            <a:off x="1375257" y="242316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Modelo e dados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Qual modelo e de onde vêm os dados.</a:t>
            </a:r>
            <a:endParaRPr/>
          </a:p>
        </p:txBody>
      </p:sp>
      <p:sp>
        <p:nvSpPr>
          <p:cNvPr id="1894" name="Google Shape;1894;p75"/>
          <p:cNvSpPr/>
          <p:nvPr/>
        </p:nvSpPr>
        <p:spPr>
          <a:xfrm>
            <a:off x="4709160" y="242316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75"/>
          <p:cNvSpPr/>
          <p:nvPr/>
        </p:nvSpPr>
        <p:spPr>
          <a:xfrm>
            <a:off x="4983480" y="266547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75"/>
          <p:cNvSpPr txBox="1"/>
          <p:nvPr/>
        </p:nvSpPr>
        <p:spPr>
          <a:xfrm>
            <a:off x="4983480" y="266547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1897" name="Google Shape;1897;p75"/>
          <p:cNvSpPr txBox="1"/>
          <p:nvPr/>
        </p:nvSpPr>
        <p:spPr>
          <a:xfrm>
            <a:off x="5760720" y="242316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Tools e integrações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que o agente pode chamar.</a:t>
            </a:r>
            <a:endParaRPr/>
          </a:p>
        </p:txBody>
      </p:sp>
      <p:sp>
        <p:nvSpPr>
          <p:cNvPr id="1898" name="Google Shape;1898;p75"/>
          <p:cNvSpPr/>
          <p:nvPr/>
        </p:nvSpPr>
        <p:spPr>
          <a:xfrm>
            <a:off x="323697" y="365760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75"/>
          <p:cNvSpPr/>
          <p:nvPr/>
        </p:nvSpPr>
        <p:spPr>
          <a:xfrm>
            <a:off x="598017" y="389991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75"/>
          <p:cNvSpPr txBox="1"/>
          <p:nvPr/>
        </p:nvSpPr>
        <p:spPr>
          <a:xfrm>
            <a:off x="598017" y="389991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901" name="Google Shape;1901;p75"/>
          <p:cNvSpPr txBox="1"/>
          <p:nvPr/>
        </p:nvSpPr>
        <p:spPr>
          <a:xfrm>
            <a:off x="1375257" y="365760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Guardrails e governança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Limites, dados pessoais, segredos.</a:t>
            </a:r>
            <a:endParaRPr/>
          </a:p>
        </p:txBody>
      </p:sp>
      <p:sp>
        <p:nvSpPr>
          <p:cNvPr id="1902" name="Google Shape;1902;p75"/>
          <p:cNvSpPr/>
          <p:nvPr/>
        </p:nvSpPr>
        <p:spPr>
          <a:xfrm>
            <a:off x="4709160" y="365760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75"/>
          <p:cNvSpPr/>
          <p:nvPr/>
        </p:nvSpPr>
        <p:spPr>
          <a:xfrm>
            <a:off x="4983480" y="389991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75"/>
          <p:cNvSpPr txBox="1"/>
          <p:nvPr/>
        </p:nvSpPr>
        <p:spPr>
          <a:xfrm>
            <a:off x="4983480" y="389991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/>
          </a:p>
        </p:txBody>
      </p:sp>
      <p:sp>
        <p:nvSpPr>
          <p:cNvPr id="1905" name="Google Shape;1905;p75"/>
          <p:cNvSpPr txBox="1"/>
          <p:nvPr/>
        </p:nvSpPr>
        <p:spPr>
          <a:xfrm>
            <a:off x="5760720" y="365760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Custo e métrica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Quanto custa e como medir.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76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EXEMPLO: PLANO DO G1</a:t>
            </a:r>
            <a:endParaRPr/>
          </a:p>
        </p:txBody>
      </p:sp>
      <p:sp>
        <p:nvSpPr>
          <p:cNvPr id="1911" name="Google Shape;1911;p76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pic>
        <p:nvPicPr>
          <p:cNvPr descr="tarde-c-rag-crop.png" id="1912" name="Google Shape;1912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697" y="1234440"/>
            <a:ext cx="8496603" cy="3068816"/>
          </a:xfrm>
          <a:prstGeom prst="rect">
            <a:avLst/>
          </a:prstGeom>
          <a:noFill/>
          <a:ln>
            <a:noFill/>
          </a:ln>
        </p:spPr>
      </p:pic>
      <p:sp>
        <p:nvSpPr>
          <p:cNvPr id="1913" name="Google Shape;1913;p76"/>
          <p:cNvSpPr/>
          <p:nvPr/>
        </p:nvSpPr>
        <p:spPr>
          <a:xfrm>
            <a:off x="323697" y="4416552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76"/>
          <p:cNvSpPr txBox="1"/>
          <p:nvPr/>
        </p:nvSpPr>
        <p:spPr>
          <a:xfrm>
            <a:off x="323697" y="4416552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1915" name="Google Shape;1915;p76"/>
          <p:cNvSpPr txBox="1"/>
          <p:nvPr/>
        </p:nvSpPr>
        <p:spPr>
          <a:xfrm>
            <a:off x="634593" y="4416552"/>
            <a:ext cx="133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Pergunta</a:t>
            </a:r>
            <a:endParaRPr/>
          </a:p>
        </p:txBody>
      </p:sp>
      <p:sp>
        <p:nvSpPr>
          <p:cNvPr id="1916" name="Google Shape;1916;p76"/>
          <p:cNvSpPr/>
          <p:nvPr/>
        </p:nvSpPr>
        <p:spPr>
          <a:xfrm>
            <a:off x="2023018" y="4416552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76"/>
          <p:cNvSpPr txBox="1"/>
          <p:nvPr/>
        </p:nvSpPr>
        <p:spPr>
          <a:xfrm>
            <a:off x="2023018" y="4416552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1918" name="Google Shape;1918;p76"/>
          <p:cNvSpPr txBox="1"/>
          <p:nvPr/>
        </p:nvSpPr>
        <p:spPr>
          <a:xfrm>
            <a:off x="2333914" y="4416552"/>
            <a:ext cx="133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Login</a:t>
            </a:r>
            <a:endParaRPr/>
          </a:p>
        </p:txBody>
      </p:sp>
      <p:sp>
        <p:nvSpPr>
          <p:cNvPr id="1919" name="Google Shape;1919;p76"/>
          <p:cNvSpPr/>
          <p:nvPr/>
        </p:nvSpPr>
        <p:spPr>
          <a:xfrm>
            <a:off x="3722339" y="4416552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76"/>
          <p:cNvSpPr txBox="1"/>
          <p:nvPr/>
        </p:nvSpPr>
        <p:spPr>
          <a:xfrm>
            <a:off x="3722339" y="4416552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921" name="Google Shape;1921;p76"/>
          <p:cNvSpPr txBox="1"/>
          <p:nvPr/>
        </p:nvSpPr>
        <p:spPr>
          <a:xfrm>
            <a:off x="4033235" y="4416552"/>
            <a:ext cx="133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Chama o agente</a:t>
            </a:r>
            <a:endParaRPr/>
          </a:p>
        </p:txBody>
      </p:sp>
      <p:sp>
        <p:nvSpPr>
          <p:cNvPr id="1922" name="Google Shape;1922;p76"/>
          <p:cNvSpPr/>
          <p:nvPr/>
        </p:nvSpPr>
        <p:spPr>
          <a:xfrm>
            <a:off x="5421660" y="4416552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76"/>
          <p:cNvSpPr txBox="1"/>
          <p:nvPr/>
        </p:nvSpPr>
        <p:spPr>
          <a:xfrm>
            <a:off x="5421660" y="4416552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1924" name="Google Shape;1924;p76"/>
          <p:cNvSpPr txBox="1"/>
          <p:nvPr/>
        </p:nvSpPr>
        <p:spPr>
          <a:xfrm>
            <a:off x="5732556" y="4416552"/>
            <a:ext cx="133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Busca trechos</a:t>
            </a:r>
            <a:endParaRPr/>
          </a:p>
        </p:txBody>
      </p:sp>
      <p:sp>
        <p:nvSpPr>
          <p:cNvPr id="1925" name="Google Shape;1925;p76"/>
          <p:cNvSpPr/>
          <p:nvPr/>
        </p:nvSpPr>
        <p:spPr>
          <a:xfrm>
            <a:off x="7120981" y="4416552"/>
            <a:ext cx="237600" cy="237600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76"/>
          <p:cNvSpPr txBox="1"/>
          <p:nvPr/>
        </p:nvSpPr>
        <p:spPr>
          <a:xfrm>
            <a:off x="7120981" y="4416552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927" name="Google Shape;1927;p76"/>
          <p:cNvSpPr txBox="1"/>
          <p:nvPr/>
        </p:nvSpPr>
        <p:spPr>
          <a:xfrm>
            <a:off x="7431877" y="4416552"/>
            <a:ext cx="133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 resposta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77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DESIGN SYSTEM E GERADOR</a:t>
            </a:r>
            <a:endParaRPr/>
          </a:p>
        </p:txBody>
      </p:sp>
      <p:sp>
        <p:nvSpPr>
          <p:cNvPr id="1933" name="Google Shape;1933;p77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 padrão visual vira código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78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SLIDES COM IA: A PESQUISA</a:t>
            </a:r>
            <a:endParaRPr/>
          </a:p>
        </p:txBody>
      </p:sp>
      <p:sp>
        <p:nvSpPr>
          <p:cNvPr id="1939" name="Google Shape;1939;p78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940" name="Google Shape;1940;p78"/>
          <p:cNvSpPr/>
          <p:nvPr/>
        </p:nvSpPr>
        <p:spPr>
          <a:xfrm>
            <a:off x="754380" y="1440179"/>
            <a:ext cx="1326000" cy="13260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78"/>
          <p:cNvSpPr/>
          <p:nvPr/>
        </p:nvSpPr>
        <p:spPr>
          <a:xfrm>
            <a:off x="847191" y="1532991"/>
            <a:ext cx="1140300" cy="1140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78"/>
          <p:cNvSpPr txBox="1"/>
          <p:nvPr/>
        </p:nvSpPr>
        <p:spPr>
          <a:xfrm>
            <a:off x="847191" y="1532991"/>
            <a:ext cx="11403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310</a:t>
            </a:r>
            <a:endParaRPr/>
          </a:p>
        </p:txBody>
      </p:sp>
      <p:sp>
        <p:nvSpPr>
          <p:cNvPr id="1943" name="Google Shape;1943;p78"/>
          <p:cNvSpPr txBox="1"/>
          <p:nvPr/>
        </p:nvSpPr>
        <p:spPr>
          <a:xfrm>
            <a:off x="411479" y="285750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decks no SlidesBench</a:t>
            </a:r>
            <a:endParaRPr/>
          </a:p>
        </p:txBody>
      </p:sp>
      <p:sp>
        <p:nvSpPr>
          <p:cNvPr id="1944" name="Google Shape;1944;p78"/>
          <p:cNvSpPr/>
          <p:nvPr/>
        </p:nvSpPr>
        <p:spPr>
          <a:xfrm>
            <a:off x="3040379" y="1440179"/>
            <a:ext cx="1326000" cy="13260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78"/>
          <p:cNvSpPr/>
          <p:nvPr/>
        </p:nvSpPr>
        <p:spPr>
          <a:xfrm>
            <a:off x="3133191" y="1532991"/>
            <a:ext cx="1140300" cy="1140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78"/>
          <p:cNvSpPr txBox="1"/>
          <p:nvPr/>
        </p:nvSpPr>
        <p:spPr>
          <a:xfrm>
            <a:off x="3133191" y="1532991"/>
            <a:ext cx="11403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585</a:t>
            </a:r>
            <a:endParaRPr/>
          </a:p>
        </p:txBody>
      </p:sp>
      <p:sp>
        <p:nvSpPr>
          <p:cNvPr id="1947" name="Google Shape;1947;p78"/>
          <p:cNvSpPr txBox="1"/>
          <p:nvPr/>
        </p:nvSpPr>
        <p:spPr>
          <a:xfrm>
            <a:off x="2697479" y="285750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exemplos de teste</a:t>
            </a:r>
            <a:endParaRPr/>
          </a:p>
        </p:txBody>
      </p:sp>
      <p:sp>
        <p:nvSpPr>
          <p:cNvPr id="1948" name="Google Shape;1948;p78"/>
          <p:cNvSpPr/>
          <p:nvPr/>
        </p:nvSpPr>
        <p:spPr>
          <a:xfrm>
            <a:off x="4892040" y="1188720"/>
            <a:ext cx="1872600" cy="2148900"/>
          </a:xfrm>
          <a:prstGeom prst="roundRect">
            <a:avLst>
              <a:gd fmla="val 7812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78"/>
          <p:cNvSpPr/>
          <p:nvPr/>
        </p:nvSpPr>
        <p:spPr>
          <a:xfrm>
            <a:off x="5157216" y="1435607"/>
            <a:ext cx="603600" cy="6036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Code_FFFFFF.png" id="1950" name="Google Shape;195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6021" y="157441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1951" name="Google Shape;1951;p78"/>
          <p:cNvSpPr txBox="1"/>
          <p:nvPr/>
        </p:nvSpPr>
        <p:spPr>
          <a:xfrm>
            <a:off x="5166359" y="2167128"/>
            <a:ext cx="132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AUTOPRESENT</a:t>
            </a:r>
            <a:endParaRPr/>
          </a:p>
        </p:txBody>
      </p:sp>
      <p:sp>
        <p:nvSpPr>
          <p:cNvPr id="1952" name="Google Shape;1952;p78"/>
          <p:cNvSpPr txBox="1"/>
          <p:nvPr/>
        </p:nvSpPr>
        <p:spPr>
          <a:xfrm>
            <a:off x="5166359" y="2377440"/>
            <a:ext cx="1324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Código vence</a:t>
            </a:r>
            <a:endParaRPr/>
          </a:p>
        </p:txBody>
      </p:sp>
      <p:sp>
        <p:nvSpPr>
          <p:cNvPr id="1953" name="Google Shape;1953;p78"/>
          <p:cNvSpPr txBox="1"/>
          <p:nvPr/>
        </p:nvSpPr>
        <p:spPr>
          <a:xfrm>
            <a:off x="5166359" y="2724912"/>
            <a:ext cx="136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Slide como programa: melhor e editável.</a:t>
            </a:r>
            <a:endParaRPr/>
          </a:p>
        </p:txBody>
      </p:sp>
      <p:sp>
        <p:nvSpPr>
          <p:cNvPr id="1954" name="Google Shape;1954;p78"/>
          <p:cNvSpPr/>
          <p:nvPr/>
        </p:nvSpPr>
        <p:spPr>
          <a:xfrm>
            <a:off x="6947611" y="1188720"/>
            <a:ext cx="1872600" cy="2148900"/>
          </a:xfrm>
          <a:prstGeom prst="roundRect">
            <a:avLst>
              <a:gd fmla="val 7812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78"/>
          <p:cNvSpPr/>
          <p:nvPr/>
        </p:nvSpPr>
        <p:spPr>
          <a:xfrm>
            <a:off x="7212787" y="1435607"/>
            <a:ext cx="603600" cy="6036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ipboardCheck_FFFFFF.png" id="1956" name="Google Shape;1956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1593" y="1574413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78"/>
          <p:cNvSpPr txBox="1"/>
          <p:nvPr/>
        </p:nvSpPr>
        <p:spPr>
          <a:xfrm>
            <a:off x="7221931" y="2167128"/>
            <a:ext cx="132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PPTAGENT</a:t>
            </a:r>
            <a:endParaRPr/>
          </a:p>
        </p:txBody>
      </p:sp>
      <p:sp>
        <p:nvSpPr>
          <p:cNvPr id="1958" name="Google Shape;1958;p78"/>
          <p:cNvSpPr txBox="1"/>
          <p:nvPr/>
        </p:nvSpPr>
        <p:spPr>
          <a:xfrm>
            <a:off x="7221931" y="2377440"/>
            <a:ext cx="1324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3 eixos</a:t>
            </a:r>
            <a:endParaRPr/>
          </a:p>
        </p:txBody>
      </p:sp>
      <p:sp>
        <p:nvSpPr>
          <p:cNvPr id="1959" name="Google Shape;1959;p78"/>
          <p:cNvSpPr txBox="1"/>
          <p:nvPr/>
        </p:nvSpPr>
        <p:spPr>
          <a:xfrm>
            <a:off x="7221931" y="2724912"/>
            <a:ext cx="1369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Conteúdo, design e coerência.</a:t>
            </a:r>
            <a:endParaRPr/>
          </a:p>
        </p:txBody>
      </p:sp>
      <p:sp>
        <p:nvSpPr>
          <p:cNvPr id="1960" name="Google Shape;1960;p78"/>
          <p:cNvSpPr/>
          <p:nvPr/>
        </p:nvSpPr>
        <p:spPr>
          <a:xfrm>
            <a:off x="323697" y="3566160"/>
            <a:ext cx="8496600" cy="1097400"/>
          </a:xfrm>
          <a:prstGeom prst="roundRect">
            <a:avLst>
              <a:gd fmla="val 11666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78"/>
          <p:cNvSpPr/>
          <p:nvPr/>
        </p:nvSpPr>
        <p:spPr>
          <a:xfrm>
            <a:off x="323697" y="3566160"/>
            <a:ext cx="822900" cy="1097400"/>
          </a:xfrm>
          <a:prstGeom prst="roundRect">
            <a:avLst>
              <a:gd fmla="val 15555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78"/>
          <p:cNvSpPr/>
          <p:nvPr/>
        </p:nvSpPr>
        <p:spPr>
          <a:xfrm>
            <a:off x="872337" y="3566160"/>
            <a:ext cx="274200" cy="1097400"/>
          </a:xfrm>
          <a:prstGeom prst="roundRect">
            <a:avLst>
              <a:gd fmla="val 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78"/>
          <p:cNvSpPr txBox="1"/>
          <p:nvPr/>
        </p:nvSpPr>
        <p:spPr>
          <a:xfrm>
            <a:off x="323697" y="3566160"/>
            <a:ext cx="822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endParaRPr/>
          </a:p>
        </p:txBody>
      </p:sp>
      <p:sp>
        <p:nvSpPr>
          <p:cNvPr id="1964" name="Google Shape;1964;p78"/>
          <p:cNvSpPr txBox="1"/>
          <p:nvPr/>
        </p:nvSpPr>
        <p:spPr>
          <a:xfrm>
            <a:off x="1375257" y="3703320"/>
            <a:ext cx="7216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Métodos programáticos produzem slides de maior qualidade, em formatos que o usuário pode editar.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Ge et al., AutoPresent, 2025 (tradução livre)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79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 IA ESCREVE, O CÓDIGO DESENHA</a:t>
            </a:r>
            <a:endParaRPr/>
          </a:p>
        </p:txBody>
      </p:sp>
      <p:sp>
        <p:nvSpPr>
          <p:cNvPr id="1970" name="Google Shape;1970;p79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1971" name="Google Shape;1971;p79"/>
          <p:cNvSpPr/>
          <p:nvPr/>
        </p:nvSpPr>
        <p:spPr>
          <a:xfrm>
            <a:off x="323697" y="1188720"/>
            <a:ext cx="4051800" cy="2514600"/>
          </a:xfrm>
          <a:prstGeom prst="roundRect">
            <a:avLst>
              <a:gd fmla="val 5818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79"/>
          <p:cNvSpPr/>
          <p:nvPr/>
        </p:nvSpPr>
        <p:spPr>
          <a:xfrm>
            <a:off x="506577" y="1344168"/>
            <a:ext cx="548700" cy="5487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ssageSquare_FFFFFF.png" id="1973" name="Google Shape;197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64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79"/>
          <p:cNvSpPr txBox="1"/>
          <p:nvPr/>
        </p:nvSpPr>
        <p:spPr>
          <a:xfrm>
            <a:off x="1192377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SÓ PROMPT</a:t>
            </a:r>
            <a:endParaRPr/>
          </a:p>
        </p:txBody>
      </p:sp>
      <p:sp>
        <p:nvSpPr>
          <p:cNvPr id="1975" name="Google Shape;1975;p79"/>
          <p:cNvSpPr txBox="1"/>
          <p:nvPr/>
        </p:nvSpPr>
        <p:spPr>
          <a:xfrm>
            <a:off x="1192377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IA faz o PPT inteiro</a:t>
            </a:r>
            <a:endParaRPr/>
          </a:p>
        </p:txBody>
      </p:sp>
      <p:sp>
        <p:nvSpPr>
          <p:cNvPr id="1976" name="Google Shape;1976;p79"/>
          <p:cNvSpPr txBox="1"/>
          <p:nvPr/>
        </p:nvSpPr>
        <p:spPr>
          <a:xfrm>
            <a:off x="598017" y="2148840"/>
            <a:ext cx="141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Visual</a:t>
            </a:r>
            <a:endParaRPr/>
          </a:p>
        </p:txBody>
      </p:sp>
      <p:sp>
        <p:nvSpPr>
          <p:cNvPr id="1977" name="Google Shape;1977;p79"/>
          <p:cNvSpPr txBox="1"/>
          <p:nvPr/>
        </p:nvSpPr>
        <p:spPr>
          <a:xfrm>
            <a:off x="2015337" y="2148840"/>
            <a:ext cx="2177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muda a cada vez</a:t>
            </a:r>
            <a:endParaRPr/>
          </a:p>
        </p:txBody>
      </p:sp>
      <p:sp>
        <p:nvSpPr>
          <p:cNvPr id="1978" name="Google Shape;1978;p79"/>
          <p:cNvSpPr txBox="1"/>
          <p:nvPr/>
        </p:nvSpPr>
        <p:spPr>
          <a:xfrm>
            <a:off x="598017" y="2514600"/>
            <a:ext cx="141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Revisão</a:t>
            </a:r>
            <a:endParaRPr/>
          </a:p>
        </p:txBody>
      </p:sp>
      <p:sp>
        <p:nvSpPr>
          <p:cNvPr id="1979" name="Google Shape;1979;p79"/>
          <p:cNvSpPr txBox="1"/>
          <p:nvPr/>
        </p:nvSpPr>
        <p:spPr>
          <a:xfrm>
            <a:off x="2015337" y="2514600"/>
            <a:ext cx="2177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slide por slide</a:t>
            </a:r>
            <a:endParaRPr/>
          </a:p>
        </p:txBody>
      </p:sp>
      <p:sp>
        <p:nvSpPr>
          <p:cNvPr id="1980" name="Google Shape;1980;p79"/>
          <p:cNvSpPr txBox="1"/>
          <p:nvPr/>
        </p:nvSpPr>
        <p:spPr>
          <a:xfrm>
            <a:off x="598017" y="2880360"/>
            <a:ext cx="141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Créditos</a:t>
            </a:r>
            <a:endParaRPr/>
          </a:p>
        </p:txBody>
      </p:sp>
      <p:sp>
        <p:nvSpPr>
          <p:cNvPr id="1981" name="Google Shape;1981;p79"/>
          <p:cNvSpPr txBox="1"/>
          <p:nvPr/>
        </p:nvSpPr>
        <p:spPr>
          <a:xfrm>
            <a:off x="2015337" y="2880360"/>
            <a:ext cx="2177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gasta a cada ajuste</a:t>
            </a:r>
            <a:endParaRPr/>
          </a:p>
        </p:txBody>
      </p:sp>
      <p:sp>
        <p:nvSpPr>
          <p:cNvPr id="1982" name="Google Shape;1982;p79"/>
          <p:cNvSpPr txBox="1"/>
          <p:nvPr/>
        </p:nvSpPr>
        <p:spPr>
          <a:xfrm>
            <a:off x="598017" y="3246120"/>
            <a:ext cx="141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Padrão</a:t>
            </a:r>
            <a:endParaRPr/>
          </a:p>
        </p:txBody>
      </p:sp>
      <p:sp>
        <p:nvSpPr>
          <p:cNvPr id="1983" name="Google Shape;1983;p79"/>
          <p:cNvSpPr txBox="1"/>
          <p:nvPr/>
        </p:nvSpPr>
        <p:spPr>
          <a:xfrm>
            <a:off x="2015337" y="3246120"/>
            <a:ext cx="2177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depende do prompt</a:t>
            </a:r>
            <a:endParaRPr/>
          </a:p>
        </p:txBody>
      </p:sp>
      <p:sp>
        <p:nvSpPr>
          <p:cNvPr id="1984" name="Google Shape;1984;p79"/>
          <p:cNvSpPr txBox="1"/>
          <p:nvPr/>
        </p:nvSpPr>
        <p:spPr>
          <a:xfrm>
            <a:off x="4375404" y="2263139"/>
            <a:ext cx="39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/>
          </a:p>
        </p:txBody>
      </p:sp>
      <p:sp>
        <p:nvSpPr>
          <p:cNvPr id="1985" name="Google Shape;1985;p79"/>
          <p:cNvSpPr/>
          <p:nvPr/>
        </p:nvSpPr>
        <p:spPr>
          <a:xfrm>
            <a:off x="4768596" y="1188720"/>
            <a:ext cx="4051800" cy="2514600"/>
          </a:xfrm>
          <a:prstGeom prst="roundRect">
            <a:avLst>
              <a:gd fmla="val 5818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79"/>
          <p:cNvSpPr/>
          <p:nvPr/>
        </p:nvSpPr>
        <p:spPr>
          <a:xfrm>
            <a:off x="4951476" y="1344168"/>
            <a:ext cx="548700" cy="5487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Code_FFFFFF.png" id="1987" name="Google Shape;1987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663" y="14703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8" name="Google Shape;1988;p79"/>
          <p:cNvSpPr txBox="1"/>
          <p:nvPr/>
        </p:nvSpPr>
        <p:spPr>
          <a:xfrm>
            <a:off x="5637276" y="1389888"/>
            <a:ext cx="304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YAML + SCRIPT</a:t>
            </a:r>
            <a:endParaRPr/>
          </a:p>
        </p:txBody>
      </p:sp>
      <p:sp>
        <p:nvSpPr>
          <p:cNvPr id="1989" name="Google Shape;1989;p79"/>
          <p:cNvSpPr txBox="1"/>
          <p:nvPr/>
        </p:nvSpPr>
        <p:spPr>
          <a:xfrm>
            <a:off x="5637276" y="1591056"/>
            <a:ext cx="304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IA escreve, código desenha</a:t>
            </a:r>
            <a:endParaRPr/>
          </a:p>
        </p:txBody>
      </p:sp>
      <p:sp>
        <p:nvSpPr>
          <p:cNvPr id="1990" name="Google Shape;1990;p79"/>
          <p:cNvSpPr txBox="1"/>
          <p:nvPr/>
        </p:nvSpPr>
        <p:spPr>
          <a:xfrm>
            <a:off x="5042916" y="2148840"/>
            <a:ext cx="141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Visual</a:t>
            </a:r>
            <a:endParaRPr/>
          </a:p>
        </p:txBody>
      </p:sp>
      <p:sp>
        <p:nvSpPr>
          <p:cNvPr id="1991" name="Google Shape;1991;p79"/>
          <p:cNvSpPr txBox="1"/>
          <p:nvPr/>
        </p:nvSpPr>
        <p:spPr>
          <a:xfrm>
            <a:off x="6460236" y="2148840"/>
            <a:ext cx="2177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sempre igual</a:t>
            </a:r>
            <a:endParaRPr/>
          </a:p>
        </p:txBody>
      </p:sp>
      <p:sp>
        <p:nvSpPr>
          <p:cNvPr id="1992" name="Google Shape;1992;p79"/>
          <p:cNvSpPr txBox="1"/>
          <p:nvPr/>
        </p:nvSpPr>
        <p:spPr>
          <a:xfrm>
            <a:off x="5042916" y="2514600"/>
            <a:ext cx="141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Revisão</a:t>
            </a:r>
            <a:endParaRPr/>
          </a:p>
        </p:txBody>
      </p:sp>
      <p:sp>
        <p:nvSpPr>
          <p:cNvPr id="1993" name="Google Shape;1993;p79"/>
          <p:cNvSpPr txBox="1"/>
          <p:nvPr/>
        </p:nvSpPr>
        <p:spPr>
          <a:xfrm>
            <a:off x="6460236" y="2514600"/>
            <a:ext cx="2177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pelo validador</a:t>
            </a:r>
            <a:endParaRPr/>
          </a:p>
        </p:txBody>
      </p:sp>
      <p:sp>
        <p:nvSpPr>
          <p:cNvPr id="1994" name="Google Shape;1994;p79"/>
          <p:cNvSpPr txBox="1"/>
          <p:nvPr/>
        </p:nvSpPr>
        <p:spPr>
          <a:xfrm>
            <a:off x="5042916" y="2880360"/>
            <a:ext cx="141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Créditos</a:t>
            </a:r>
            <a:endParaRPr/>
          </a:p>
        </p:txBody>
      </p:sp>
      <p:sp>
        <p:nvSpPr>
          <p:cNvPr id="1995" name="Google Shape;1995;p79"/>
          <p:cNvSpPr txBox="1"/>
          <p:nvPr/>
        </p:nvSpPr>
        <p:spPr>
          <a:xfrm>
            <a:off x="6460236" y="2880360"/>
            <a:ext cx="2177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regenerar é grátis</a:t>
            </a:r>
            <a:endParaRPr/>
          </a:p>
        </p:txBody>
      </p:sp>
      <p:sp>
        <p:nvSpPr>
          <p:cNvPr id="1996" name="Google Shape;1996;p79"/>
          <p:cNvSpPr txBox="1"/>
          <p:nvPr/>
        </p:nvSpPr>
        <p:spPr>
          <a:xfrm>
            <a:off x="5042916" y="3246120"/>
            <a:ext cx="141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Padrão</a:t>
            </a:r>
            <a:endParaRPr/>
          </a:p>
        </p:txBody>
      </p:sp>
      <p:sp>
        <p:nvSpPr>
          <p:cNvPr id="1997" name="Google Shape;1997;p79"/>
          <p:cNvSpPr txBox="1"/>
          <p:nvPr/>
        </p:nvSpPr>
        <p:spPr>
          <a:xfrm>
            <a:off x="6460236" y="3246120"/>
            <a:ext cx="2177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está no código</a:t>
            </a:r>
            <a:endParaRPr/>
          </a:p>
        </p:txBody>
      </p:sp>
      <p:sp>
        <p:nvSpPr>
          <p:cNvPr id="1998" name="Google Shape;1998;p79"/>
          <p:cNvSpPr/>
          <p:nvPr/>
        </p:nvSpPr>
        <p:spPr>
          <a:xfrm>
            <a:off x="323697" y="3886200"/>
            <a:ext cx="8496600" cy="822900"/>
          </a:xfrm>
          <a:prstGeom prst="roundRect">
            <a:avLst>
              <a:gd fmla="val 1777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79"/>
          <p:cNvSpPr/>
          <p:nvPr/>
        </p:nvSpPr>
        <p:spPr>
          <a:xfrm>
            <a:off x="506577" y="406908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eat_FFFFFF.png" id="2000" name="Google Shape;2000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733" y="41742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79"/>
          <p:cNvSpPr txBox="1"/>
          <p:nvPr/>
        </p:nvSpPr>
        <p:spPr>
          <a:xfrm>
            <a:off x="1192377" y="3886200"/>
            <a:ext cx="7399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Igual à manhã: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 IA escrevia o YAML da arquitetura e o renderizador desenhava.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80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DESIGN SYSTEM EM 4 CAMADAS</a:t>
            </a:r>
            <a:endParaRPr/>
          </a:p>
        </p:txBody>
      </p:sp>
      <p:sp>
        <p:nvSpPr>
          <p:cNvPr id="2007" name="Google Shape;2007;p8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008" name="Google Shape;2008;p80"/>
          <p:cNvSpPr/>
          <p:nvPr/>
        </p:nvSpPr>
        <p:spPr>
          <a:xfrm>
            <a:off x="506577" y="3154679"/>
            <a:ext cx="1881900" cy="822900"/>
          </a:xfrm>
          <a:prstGeom prst="roundRect">
            <a:avLst>
              <a:gd fmla="val 11111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80"/>
          <p:cNvSpPr txBox="1"/>
          <p:nvPr/>
        </p:nvSpPr>
        <p:spPr>
          <a:xfrm>
            <a:off x="506577" y="3264408"/>
            <a:ext cx="18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NÍVEL 1</a:t>
            </a:r>
            <a:endParaRPr/>
          </a:p>
        </p:txBody>
      </p:sp>
      <p:pic>
        <p:nvPicPr>
          <p:cNvPr descr="Palette_FFFFFF.png" id="2010" name="Google Shape;201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903" y="35661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80"/>
          <p:cNvSpPr txBox="1"/>
          <p:nvPr/>
        </p:nvSpPr>
        <p:spPr>
          <a:xfrm>
            <a:off x="506577" y="4069079"/>
            <a:ext cx="18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Tokens</a:t>
            </a:r>
            <a:endParaRPr/>
          </a:p>
        </p:txBody>
      </p:sp>
      <p:sp>
        <p:nvSpPr>
          <p:cNvPr id="2012" name="Google Shape;2012;p80"/>
          <p:cNvSpPr txBox="1"/>
          <p:nvPr/>
        </p:nvSpPr>
        <p:spPr>
          <a:xfrm>
            <a:off x="552297" y="4325112"/>
            <a:ext cx="179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Cor, fonte, tamanho</a:t>
            </a:r>
            <a:endParaRPr/>
          </a:p>
        </p:txBody>
      </p:sp>
      <p:sp>
        <p:nvSpPr>
          <p:cNvPr id="2013" name="Google Shape;2013;p80"/>
          <p:cNvSpPr/>
          <p:nvPr/>
        </p:nvSpPr>
        <p:spPr>
          <a:xfrm>
            <a:off x="2589580" y="2636519"/>
            <a:ext cx="1881900" cy="1341000"/>
          </a:xfrm>
          <a:prstGeom prst="roundRect">
            <a:avLst>
              <a:gd fmla="val 6818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80"/>
          <p:cNvSpPr txBox="1"/>
          <p:nvPr/>
        </p:nvSpPr>
        <p:spPr>
          <a:xfrm>
            <a:off x="2589580" y="2746247"/>
            <a:ext cx="18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NÍVEL 2</a:t>
            </a:r>
            <a:endParaRPr/>
          </a:p>
        </p:txBody>
      </p:sp>
      <p:pic>
        <p:nvPicPr>
          <p:cNvPr descr="Type_FFFFFF.png" id="2015" name="Google Shape;2015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5906" y="3047999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80"/>
          <p:cNvSpPr txBox="1"/>
          <p:nvPr/>
        </p:nvSpPr>
        <p:spPr>
          <a:xfrm>
            <a:off x="2589580" y="4069079"/>
            <a:ext cx="18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Estilos</a:t>
            </a:r>
            <a:endParaRPr/>
          </a:p>
        </p:txBody>
      </p:sp>
      <p:sp>
        <p:nvSpPr>
          <p:cNvPr id="2017" name="Google Shape;2017;p80"/>
          <p:cNvSpPr txBox="1"/>
          <p:nvPr/>
        </p:nvSpPr>
        <p:spPr>
          <a:xfrm>
            <a:off x="2635300" y="4325112"/>
            <a:ext cx="179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Título, corpo, rótulo</a:t>
            </a:r>
            <a:endParaRPr/>
          </a:p>
        </p:txBody>
      </p:sp>
      <p:sp>
        <p:nvSpPr>
          <p:cNvPr id="2018" name="Google Shape;2018;p80"/>
          <p:cNvSpPr/>
          <p:nvPr/>
        </p:nvSpPr>
        <p:spPr>
          <a:xfrm>
            <a:off x="4672584" y="2118360"/>
            <a:ext cx="1881900" cy="1859400"/>
          </a:xfrm>
          <a:prstGeom prst="roundRect">
            <a:avLst>
              <a:gd fmla="val 4918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80"/>
          <p:cNvSpPr txBox="1"/>
          <p:nvPr/>
        </p:nvSpPr>
        <p:spPr>
          <a:xfrm>
            <a:off x="4672584" y="2228088"/>
            <a:ext cx="18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NÍVEL 3</a:t>
            </a:r>
            <a:endParaRPr/>
          </a:p>
        </p:txBody>
      </p:sp>
      <p:pic>
        <p:nvPicPr>
          <p:cNvPr descr="Component_FFFFFF.png" id="2020" name="Google Shape;2020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8909" y="252984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21" name="Google Shape;2021;p80"/>
          <p:cNvSpPr txBox="1"/>
          <p:nvPr/>
        </p:nvSpPr>
        <p:spPr>
          <a:xfrm>
            <a:off x="4672584" y="4069079"/>
            <a:ext cx="18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Componentes</a:t>
            </a:r>
            <a:endParaRPr/>
          </a:p>
        </p:txBody>
      </p:sp>
      <p:sp>
        <p:nvSpPr>
          <p:cNvPr id="2022" name="Google Shape;2022;p80"/>
          <p:cNvSpPr txBox="1"/>
          <p:nvPr/>
        </p:nvSpPr>
        <p:spPr>
          <a:xfrm>
            <a:off x="4718304" y="4325112"/>
            <a:ext cx="179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Card, pill, destaque</a:t>
            </a:r>
            <a:endParaRPr/>
          </a:p>
        </p:txBody>
      </p:sp>
      <p:sp>
        <p:nvSpPr>
          <p:cNvPr id="2023" name="Google Shape;2023;p80"/>
          <p:cNvSpPr/>
          <p:nvPr/>
        </p:nvSpPr>
        <p:spPr>
          <a:xfrm>
            <a:off x="6755587" y="1600199"/>
            <a:ext cx="1881900" cy="2377500"/>
          </a:xfrm>
          <a:prstGeom prst="roundRect">
            <a:avLst>
              <a:gd fmla="val 4859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80"/>
          <p:cNvSpPr txBox="1"/>
          <p:nvPr/>
        </p:nvSpPr>
        <p:spPr>
          <a:xfrm>
            <a:off x="6755587" y="1709927"/>
            <a:ext cx="188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NÍVEL 4</a:t>
            </a:r>
            <a:endParaRPr/>
          </a:p>
        </p:txBody>
      </p:sp>
      <p:pic>
        <p:nvPicPr>
          <p:cNvPr descr="LayoutTemplate_FFFFFF.png" id="2025" name="Google Shape;2025;p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1912" y="2011679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26" name="Google Shape;2026;p80"/>
          <p:cNvSpPr txBox="1"/>
          <p:nvPr/>
        </p:nvSpPr>
        <p:spPr>
          <a:xfrm>
            <a:off x="6755587" y="4069079"/>
            <a:ext cx="18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Layouts</a:t>
            </a:r>
            <a:endParaRPr/>
          </a:p>
        </p:txBody>
      </p:sp>
      <p:sp>
        <p:nvSpPr>
          <p:cNvPr id="2027" name="Google Shape;2027;p80"/>
          <p:cNvSpPr txBox="1"/>
          <p:nvPr/>
        </p:nvSpPr>
        <p:spPr>
          <a:xfrm>
            <a:off x="6801307" y="4325112"/>
            <a:ext cx="179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Os 6 tipos de slide</a:t>
            </a:r>
            <a:endParaRPr/>
          </a:p>
        </p:txBody>
      </p:sp>
      <p:cxnSp>
        <p:nvCxnSpPr>
          <p:cNvPr id="2028" name="Google Shape;2028;p80"/>
          <p:cNvCxnSpPr/>
          <p:nvPr/>
        </p:nvCxnSpPr>
        <p:spPr>
          <a:xfrm>
            <a:off x="415137" y="3995927"/>
            <a:ext cx="8313600" cy="0"/>
          </a:xfrm>
          <a:prstGeom prst="straightConnector1">
            <a:avLst/>
          </a:prstGeom>
          <a:noFill/>
          <a:ln cap="flat" cmpd="sng" w="19050">
            <a:solidFill>
              <a:srgbClr val="C9CAD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81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GRID E ÁREA SEGURA</a:t>
            </a:r>
            <a:endParaRPr/>
          </a:p>
        </p:txBody>
      </p:sp>
      <p:sp>
        <p:nvSpPr>
          <p:cNvPr id="2034" name="Google Shape;2034;p81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035" name="Google Shape;2035;p81"/>
          <p:cNvSpPr/>
          <p:nvPr/>
        </p:nvSpPr>
        <p:spPr>
          <a:xfrm>
            <a:off x="323697" y="1280160"/>
            <a:ext cx="4755000" cy="2674500"/>
          </a:xfrm>
          <a:prstGeom prst="roundRect">
            <a:avLst>
              <a:gd fmla="val 2051" name="adj"/>
            </a:avLst>
          </a:prstGeom>
          <a:solidFill>
            <a:srgbClr val="F7F7F9"/>
          </a:solidFill>
          <a:ln cap="flat" cmpd="sng" w="12700">
            <a:solidFill>
              <a:srgbClr val="737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81"/>
          <p:cNvSpPr/>
          <p:nvPr/>
        </p:nvSpPr>
        <p:spPr>
          <a:xfrm>
            <a:off x="598017" y="1508760"/>
            <a:ext cx="4206300" cy="2217300"/>
          </a:xfrm>
          <a:prstGeom prst="roundRect">
            <a:avLst>
              <a:gd fmla="val 1649" name="adj"/>
            </a:avLst>
          </a:prstGeom>
          <a:noFill/>
          <a:ln cap="flat" cmpd="sng" w="15875">
            <a:solidFill>
              <a:srgbClr val="C71D8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81"/>
          <p:cNvSpPr/>
          <p:nvPr/>
        </p:nvSpPr>
        <p:spPr>
          <a:xfrm>
            <a:off x="735177" y="1645920"/>
            <a:ext cx="3931800" cy="411600"/>
          </a:xfrm>
          <a:prstGeom prst="roundRect">
            <a:avLst>
              <a:gd fmla="val 1333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81"/>
          <p:cNvSpPr txBox="1"/>
          <p:nvPr/>
        </p:nvSpPr>
        <p:spPr>
          <a:xfrm>
            <a:off x="735177" y="164592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Título: 32 pt, sempre aqui</a:t>
            </a:r>
            <a:endParaRPr/>
          </a:p>
        </p:txBody>
      </p:sp>
      <p:sp>
        <p:nvSpPr>
          <p:cNvPr id="2039" name="Google Shape;2039;p81"/>
          <p:cNvSpPr/>
          <p:nvPr/>
        </p:nvSpPr>
        <p:spPr>
          <a:xfrm>
            <a:off x="735177" y="2194560"/>
            <a:ext cx="1897500" cy="1394400"/>
          </a:xfrm>
          <a:prstGeom prst="roundRect">
            <a:avLst>
              <a:gd fmla="val 3934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p81"/>
          <p:cNvSpPr txBox="1"/>
          <p:nvPr/>
        </p:nvSpPr>
        <p:spPr>
          <a:xfrm>
            <a:off x="735177" y="2194560"/>
            <a:ext cx="1897500" cy="13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Corpo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18 pt</a:t>
            </a:r>
            <a:endParaRPr/>
          </a:p>
        </p:txBody>
      </p:sp>
      <p:sp>
        <p:nvSpPr>
          <p:cNvPr id="2041" name="Google Shape;2041;p81"/>
          <p:cNvSpPr/>
          <p:nvPr/>
        </p:nvSpPr>
        <p:spPr>
          <a:xfrm>
            <a:off x="2769717" y="2194560"/>
            <a:ext cx="1897500" cy="1394400"/>
          </a:xfrm>
          <a:prstGeom prst="roundRect">
            <a:avLst>
              <a:gd fmla="val 3934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81"/>
          <p:cNvSpPr txBox="1"/>
          <p:nvPr/>
        </p:nvSpPr>
        <p:spPr>
          <a:xfrm>
            <a:off x="2769717" y="2194560"/>
            <a:ext cx="1897500" cy="13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Imagem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ou diagrama</a:t>
            </a:r>
            <a:endParaRPr/>
          </a:p>
        </p:txBody>
      </p:sp>
      <p:sp>
        <p:nvSpPr>
          <p:cNvPr id="2043" name="Google Shape;2043;p81"/>
          <p:cNvSpPr txBox="1"/>
          <p:nvPr/>
        </p:nvSpPr>
        <p:spPr>
          <a:xfrm>
            <a:off x="323697" y="4046220"/>
            <a:ext cx="475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Linha rosa tracejada: área segura</a:t>
            </a:r>
            <a:endParaRPr/>
          </a:p>
        </p:txBody>
      </p:sp>
      <p:sp>
        <p:nvSpPr>
          <p:cNvPr id="2044" name="Google Shape;2044;p81"/>
          <p:cNvSpPr/>
          <p:nvPr/>
        </p:nvSpPr>
        <p:spPr>
          <a:xfrm>
            <a:off x="5440680" y="120700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rame_85228B.png" id="2045" name="Google Shape;204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6867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6" name="Google Shape;2046;p81"/>
          <p:cNvSpPr txBox="1"/>
          <p:nvPr/>
        </p:nvSpPr>
        <p:spPr>
          <a:xfrm>
            <a:off x="6153912" y="1207008"/>
            <a:ext cx="2648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ÁREA SEGURA</a:t>
            </a:r>
            <a:endParaRPr/>
          </a:p>
        </p:txBody>
      </p:sp>
      <p:sp>
        <p:nvSpPr>
          <p:cNvPr id="2047" name="Google Shape;2047;p81"/>
          <p:cNvSpPr txBox="1"/>
          <p:nvPr/>
        </p:nvSpPr>
        <p:spPr>
          <a:xfrm>
            <a:off x="6153912" y="1444752"/>
            <a:ext cx="264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Margem fixa, nada na borda</a:t>
            </a:r>
            <a:endParaRPr/>
          </a:p>
        </p:txBody>
      </p:sp>
      <p:sp>
        <p:nvSpPr>
          <p:cNvPr id="2048" name="Google Shape;2048;p81"/>
          <p:cNvSpPr/>
          <p:nvPr/>
        </p:nvSpPr>
        <p:spPr>
          <a:xfrm>
            <a:off x="5440680" y="207568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nelTop_85228B.png" id="2049" name="Google Shape;2049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6867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050" name="Google Shape;2050;p81"/>
          <p:cNvSpPr txBox="1"/>
          <p:nvPr/>
        </p:nvSpPr>
        <p:spPr>
          <a:xfrm>
            <a:off x="6153912" y="2075688"/>
            <a:ext cx="2648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FAIXA DO TÍTULO</a:t>
            </a:r>
            <a:endParaRPr/>
          </a:p>
        </p:txBody>
      </p:sp>
      <p:sp>
        <p:nvSpPr>
          <p:cNvPr id="2051" name="Google Shape;2051;p81"/>
          <p:cNvSpPr txBox="1"/>
          <p:nvPr/>
        </p:nvSpPr>
        <p:spPr>
          <a:xfrm>
            <a:off x="6153912" y="2313432"/>
            <a:ext cx="264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Mesmo lugar em todo slide</a:t>
            </a:r>
            <a:endParaRPr/>
          </a:p>
        </p:txBody>
      </p:sp>
      <p:sp>
        <p:nvSpPr>
          <p:cNvPr id="2052" name="Google Shape;2052;p81"/>
          <p:cNvSpPr/>
          <p:nvPr/>
        </p:nvSpPr>
        <p:spPr>
          <a:xfrm>
            <a:off x="5440680" y="294436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_85228B.png" id="2053" name="Google Shape;2053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6867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054" name="Google Shape;2054;p81"/>
          <p:cNvSpPr txBox="1"/>
          <p:nvPr/>
        </p:nvSpPr>
        <p:spPr>
          <a:xfrm>
            <a:off x="6153912" y="2944368"/>
            <a:ext cx="2648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6 BULLETS</a:t>
            </a:r>
            <a:endParaRPr/>
          </a:p>
        </p:txBody>
      </p:sp>
      <p:sp>
        <p:nvSpPr>
          <p:cNvPr id="2055" name="Google Shape;2055;p81"/>
          <p:cNvSpPr txBox="1"/>
          <p:nvPr/>
        </p:nvSpPr>
        <p:spPr>
          <a:xfrm>
            <a:off x="6153912" y="3182112"/>
            <a:ext cx="264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No máximo 90 caracteres cada</a:t>
            </a:r>
            <a:endParaRPr/>
          </a:p>
        </p:txBody>
      </p:sp>
      <p:sp>
        <p:nvSpPr>
          <p:cNvPr id="2056" name="Google Shape;2056;p81"/>
          <p:cNvSpPr/>
          <p:nvPr/>
        </p:nvSpPr>
        <p:spPr>
          <a:xfrm>
            <a:off x="5440680" y="381304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_85228B.png" id="2057" name="Google Shape;2057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6867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81"/>
          <p:cNvSpPr txBox="1"/>
          <p:nvPr/>
        </p:nvSpPr>
        <p:spPr>
          <a:xfrm>
            <a:off x="6153912" y="3813047"/>
            <a:ext cx="2648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PROPORÇÃO</a:t>
            </a:r>
            <a:endParaRPr/>
          </a:p>
        </p:txBody>
      </p:sp>
      <p:sp>
        <p:nvSpPr>
          <p:cNvPr id="2059" name="Google Shape;2059;p81"/>
          <p:cNvSpPr txBox="1"/>
          <p:nvPr/>
        </p:nvSpPr>
        <p:spPr>
          <a:xfrm>
            <a:off x="6153912" y="4050791"/>
            <a:ext cx="264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Imagem nunca distorcida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82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OS 6 TIPOS DE SLIDE</a:t>
            </a:r>
            <a:endParaRPr/>
          </a:p>
        </p:txBody>
      </p:sp>
      <p:sp>
        <p:nvSpPr>
          <p:cNvPr id="2065" name="Google Shape;2065;p82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066" name="Google Shape;2066;p82"/>
          <p:cNvSpPr/>
          <p:nvPr/>
        </p:nvSpPr>
        <p:spPr>
          <a:xfrm>
            <a:off x="323697" y="118872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82"/>
          <p:cNvSpPr/>
          <p:nvPr/>
        </p:nvSpPr>
        <p:spPr>
          <a:xfrm>
            <a:off x="598017" y="143103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82"/>
          <p:cNvSpPr txBox="1"/>
          <p:nvPr/>
        </p:nvSpPr>
        <p:spPr>
          <a:xfrm>
            <a:off x="598017" y="14310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2069" name="Google Shape;2069;p82"/>
          <p:cNvSpPr txBox="1"/>
          <p:nvPr/>
        </p:nvSpPr>
        <p:spPr>
          <a:xfrm>
            <a:off x="1375257" y="118872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Capa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Título, grupo e caso.</a:t>
            </a:r>
            <a:endParaRPr/>
          </a:p>
        </p:txBody>
      </p:sp>
      <p:sp>
        <p:nvSpPr>
          <p:cNvPr id="2070" name="Google Shape;2070;p82"/>
          <p:cNvSpPr/>
          <p:nvPr/>
        </p:nvSpPr>
        <p:spPr>
          <a:xfrm>
            <a:off x="4709160" y="118872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82"/>
          <p:cNvSpPr/>
          <p:nvPr/>
        </p:nvSpPr>
        <p:spPr>
          <a:xfrm>
            <a:off x="4983480" y="143103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82"/>
          <p:cNvSpPr txBox="1"/>
          <p:nvPr/>
        </p:nvSpPr>
        <p:spPr>
          <a:xfrm>
            <a:off x="4983480" y="14310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2073" name="Google Shape;2073;p82"/>
          <p:cNvSpPr txBox="1"/>
          <p:nvPr/>
        </p:nvSpPr>
        <p:spPr>
          <a:xfrm>
            <a:off x="5760720" y="118872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Seção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Divide o deck em partes.</a:t>
            </a:r>
            <a:endParaRPr/>
          </a:p>
        </p:txBody>
      </p:sp>
      <p:sp>
        <p:nvSpPr>
          <p:cNvPr id="2074" name="Google Shape;2074;p82"/>
          <p:cNvSpPr/>
          <p:nvPr/>
        </p:nvSpPr>
        <p:spPr>
          <a:xfrm>
            <a:off x="323697" y="242316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82"/>
          <p:cNvSpPr/>
          <p:nvPr/>
        </p:nvSpPr>
        <p:spPr>
          <a:xfrm>
            <a:off x="598017" y="266547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82"/>
          <p:cNvSpPr txBox="1"/>
          <p:nvPr/>
        </p:nvSpPr>
        <p:spPr>
          <a:xfrm>
            <a:off x="598017" y="266547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2077" name="Google Shape;2077;p82"/>
          <p:cNvSpPr txBox="1"/>
          <p:nvPr/>
        </p:nvSpPr>
        <p:spPr>
          <a:xfrm>
            <a:off x="1375257" y="242316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Conteúdo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Título e até 6 bullets.</a:t>
            </a:r>
            <a:endParaRPr/>
          </a:p>
        </p:txBody>
      </p:sp>
      <p:sp>
        <p:nvSpPr>
          <p:cNvPr id="2078" name="Google Shape;2078;p82"/>
          <p:cNvSpPr/>
          <p:nvPr/>
        </p:nvSpPr>
        <p:spPr>
          <a:xfrm>
            <a:off x="4709160" y="242316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82"/>
          <p:cNvSpPr/>
          <p:nvPr/>
        </p:nvSpPr>
        <p:spPr>
          <a:xfrm>
            <a:off x="4983480" y="266547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82"/>
          <p:cNvSpPr txBox="1"/>
          <p:nvPr/>
        </p:nvSpPr>
        <p:spPr>
          <a:xfrm>
            <a:off x="4983480" y="266547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081" name="Google Shape;2081;p82"/>
          <p:cNvSpPr txBox="1"/>
          <p:nvPr/>
        </p:nvSpPr>
        <p:spPr>
          <a:xfrm>
            <a:off x="5760720" y="242316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Diagrama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PNG da arquitetura, sem distorção.</a:t>
            </a:r>
            <a:endParaRPr/>
          </a:p>
        </p:txBody>
      </p:sp>
      <p:sp>
        <p:nvSpPr>
          <p:cNvPr id="2082" name="Google Shape;2082;p82"/>
          <p:cNvSpPr/>
          <p:nvPr/>
        </p:nvSpPr>
        <p:spPr>
          <a:xfrm>
            <a:off x="323697" y="365760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82"/>
          <p:cNvSpPr/>
          <p:nvPr/>
        </p:nvSpPr>
        <p:spPr>
          <a:xfrm>
            <a:off x="598017" y="389991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82"/>
          <p:cNvSpPr txBox="1"/>
          <p:nvPr/>
        </p:nvSpPr>
        <p:spPr>
          <a:xfrm>
            <a:off x="598017" y="389991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2085" name="Google Shape;2085;p82"/>
          <p:cNvSpPr txBox="1"/>
          <p:nvPr/>
        </p:nvSpPr>
        <p:spPr>
          <a:xfrm>
            <a:off x="1375257" y="365760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Comparação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Duas colunas: escolha e alternativa.</a:t>
            </a:r>
            <a:endParaRPr/>
          </a:p>
        </p:txBody>
      </p:sp>
      <p:sp>
        <p:nvSpPr>
          <p:cNvPr id="2086" name="Google Shape;2086;p82"/>
          <p:cNvSpPr/>
          <p:nvPr/>
        </p:nvSpPr>
        <p:spPr>
          <a:xfrm>
            <a:off x="4709160" y="365760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82"/>
          <p:cNvSpPr/>
          <p:nvPr/>
        </p:nvSpPr>
        <p:spPr>
          <a:xfrm>
            <a:off x="4983480" y="389991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82"/>
          <p:cNvSpPr txBox="1"/>
          <p:nvPr/>
        </p:nvSpPr>
        <p:spPr>
          <a:xfrm>
            <a:off x="4983480" y="389991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/>
          </a:p>
        </p:txBody>
      </p:sp>
      <p:sp>
        <p:nvSpPr>
          <p:cNvPr id="2089" name="Google Shape;2089;p82"/>
          <p:cNvSpPr txBox="1"/>
          <p:nvPr/>
        </p:nvSpPr>
        <p:spPr>
          <a:xfrm>
            <a:off x="5760720" y="365760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Fechamento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Números, custo e próximos passos.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p83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 ARQUITETURA DO GERADOR</a:t>
            </a:r>
            <a:endParaRPr/>
          </a:p>
        </p:txBody>
      </p:sp>
      <p:sp>
        <p:nvSpPr>
          <p:cNvPr id="2095" name="Google Shape;2095;p83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096" name="Google Shape;2096;p83"/>
          <p:cNvSpPr/>
          <p:nvPr/>
        </p:nvSpPr>
        <p:spPr>
          <a:xfrm>
            <a:off x="323697" y="1874519"/>
            <a:ext cx="1772400" cy="567000"/>
          </a:xfrm>
          <a:prstGeom prst="homePlate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7" name="Google Shape;2097;p83"/>
          <p:cNvSpPr txBox="1"/>
          <p:nvPr/>
        </p:nvSpPr>
        <p:spPr>
          <a:xfrm>
            <a:off x="506577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/>
          </a:p>
        </p:txBody>
      </p:sp>
      <p:sp>
        <p:nvSpPr>
          <p:cNvPr id="2098" name="Google Shape;2098;p83"/>
          <p:cNvSpPr/>
          <p:nvPr/>
        </p:nvSpPr>
        <p:spPr>
          <a:xfrm>
            <a:off x="899038" y="120700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Text_C96A00.png" id="2099" name="Google Shape;209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812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100" name="Google Shape;2100;p83"/>
          <p:cNvSpPr txBox="1"/>
          <p:nvPr/>
        </p:nvSpPr>
        <p:spPr>
          <a:xfrm>
            <a:off x="396849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deck.yaml</a:t>
            </a:r>
            <a:endParaRPr/>
          </a:p>
        </p:txBody>
      </p:sp>
      <p:sp>
        <p:nvSpPr>
          <p:cNvPr id="2101" name="Google Shape;2101;p83"/>
          <p:cNvSpPr txBox="1"/>
          <p:nvPr/>
        </p:nvSpPr>
        <p:spPr>
          <a:xfrm>
            <a:off x="415137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Conteúdo do plano</a:t>
            </a:r>
            <a:endParaRPr/>
          </a:p>
        </p:txBody>
      </p:sp>
      <p:sp>
        <p:nvSpPr>
          <p:cNvPr id="2102" name="Google Shape;2102;p83"/>
          <p:cNvSpPr/>
          <p:nvPr/>
        </p:nvSpPr>
        <p:spPr>
          <a:xfrm>
            <a:off x="2032162" y="1874519"/>
            <a:ext cx="1772400" cy="567000"/>
          </a:xfrm>
          <a:prstGeom prst="chevron">
            <a:avLst>
              <a:gd fmla="val 28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83"/>
          <p:cNvSpPr txBox="1"/>
          <p:nvPr/>
        </p:nvSpPr>
        <p:spPr>
          <a:xfrm>
            <a:off x="2215042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/>
          </a:p>
        </p:txBody>
      </p:sp>
      <p:sp>
        <p:nvSpPr>
          <p:cNvPr id="2104" name="Google Shape;2104;p83"/>
          <p:cNvSpPr/>
          <p:nvPr/>
        </p:nvSpPr>
        <p:spPr>
          <a:xfrm>
            <a:off x="2607503" y="1207008"/>
            <a:ext cx="512100" cy="5121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lette_C71D81.png" id="2105" name="Google Shape;2105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5277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106" name="Google Shape;2106;p83"/>
          <p:cNvSpPr txBox="1"/>
          <p:nvPr/>
        </p:nvSpPr>
        <p:spPr>
          <a:xfrm>
            <a:off x="2105314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tokens.json</a:t>
            </a:r>
            <a:endParaRPr/>
          </a:p>
        </p:txBody>
      </p:sp>
      <p:sp>
        <p:nvSpPr>
          <p:cNvPr id="2107" name="Google Shape;2107;p83"/>
          <p:cNvSpPr txBox="1"/>
          <p:nvPr/>
        </p:nvSpPr>
        <p:spPr>
          <a:xfrm>
            <a:off x="2123602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Padrão do grupo</a:t>
            </a:r>
            <a:endParaRPr/>
          </a:p>
        </p:txBody>
      </p:sp>
      <p:sp>
        <p:nvSpPr>
          <p:cNvPr id="2108" name="Google Shape;2108;p83"/>
          <p:cNvSpPr/>
          <p:nvPr/>
        </p:nvSpPr>
        <p:spPr>
          <a:xfrm>
            <a:off x="3740627" y="1874519"/>
            <a:ext cx="1772400" cy="567000"/>
          </a:xfrm>
          <a:prstGeom prst="chevron">
            <a:avLst>
              <a:gd fmla="val 28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9" name="Google Shape;2109;p83"/>
          <p:cNvSpPr txBox="1"/>
          <p:nvPr/>
        </p:nvSpPr>
        <p:spPr>
          <a:xfrm>
            <a:off x="3923507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/>
          </a:p>
        </p:txBody>
      </p:sp>
      <p:sp>
        <p:nvSpPr>
          <p:cNvPr id="2110" name="Google Shape;2110;p83"/>
          <p:cNvSpPr/>
          <p:nvPr/>
        </p:nvSpPr>
        <p:spPr>
          <a:xfrm>
            <a:off x="4315968" y="1207008"/>
            <a:ext cx="512100" cy="5121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Check_85228B.png" id="2111" name="Google Shape;2111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3742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112" name="Google Shape;2112;p83"/>
          <p:cNvSpPr txBox="1"/>
          <p:nvPr/>
        </p:nvSpPr>
        <p:spPr>
          <a:xfrm>
            <a:off x="3813779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Validador</a:t>
            </a:r>
            <a:endParaRPr/>
          </a:p>
        </p:txBody>
      </p:sp>
      <p:sp>
        <p:nvSpPr>
          <p:cNvPr id="2113" name="Google Shape;2113;p83"/>
          <p:cNvSpPr txBox="1"/>
          <p:nvPr/>
        </p:nvSpPr>
        <p:spPr>
          <a:xfrm>
            <a:off x="3832067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Contraste e limites</a:t>
            </a:r>
            <a:endParaRPr/>
          </a:p>
        </p:txBody>
      </p:sp>
      <p:sp>
        <p:nvSpPr>
          <p:cNvPr id="2114" name="Google Shape;2114;p83"/>
          <p:cNvSpPr/>
          <p:nvPr/>
        </p:nvSpPr>
        <p:spPr>
          <a:xfrm>
            <a:off x="5449092" y="1874519"/>
            <a:ext cx="1772400" cy="567000"/>
          </a:xfrm>
          <a:prstGeom prst="chevron">
            <a:avLst>
              <a:gd fmla="val 28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5" name="Google Shape;2115;p83"/>
          <p:cNvSpPr txBox="1"/>
          <p:nvPr/>
        </p:nvSpPr>
        <p:spPr>
          <a:xfrm>
            <a:off x="5631972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/>
          </a:p>
        </p:txBody>
      </p:sp>
      <p:sp>
        <p:nvSpPr>
          <p:cNvPr id="2116" name="Google Shape;2116;p83"/>
          <p:cNvSpPr/>
          <p:nvPr/>
        </p:nvSpPr>
        <p:spPr>
          <a:xfrm>
            <a:off x="6024432" y="1207008"/>
            <a:ext cx="512100" cy="5121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Code_0E1D8E.png" id="2117" name="Google Shape;2117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2207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118" name="Google Shape;2118;p83"/>
          <p:cNvSpPr txBox="1"/>
          <p:nvPr/>
        </p:nvSpPr>
        <p:spPr>
          <a:xfrm>
            <a:off x="5522244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</a:t>
            </a:r>
            <a:endParaRPr/>
          </a:p>
        </p:txBody>
      </p:sp>
      <p:sp>
        <p:nvSpPr>
          <p:cNvPr id="2119" name="Google Shape;2119;p83"/>
          <p:cNvSpPr txBox="1"/>
          <p:nvPr/>
        </p:nvSpPr>
        <p:spPr>
          <a:xfrm>
            <a:off x="5540532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python-pptx</a:t>
            </a:r>
            <a:endParaRPr/>
          </a:p>
        </p:txBody>
      </p:sp>
      <p:sp>
        <p:nvSpPr>
          <p:cNvPr id="2120" name="Google Shape;2120;p83"/>
          <p:cNvSpPr/>
          <p:nvPr/>
        </p:nvSpPr>
        <p:spPr>
          <a:xfrm>
            <a:off x="7157557" y="1874519"/>
            <a:ext cx="1662600" cy="567000"/>
          </a:xfrm>
          <a:prstGeom prst="chevron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83"/>
          <p:cNvSpPr txBox="1"/>
          <p:nvPr/>
        </p:nvSpPr>
        <p:spPr>
          <a:xfrm>
            <a:off x="7340437" y="1874519"/>
            <a:ext cx="138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/>
          </a:p>
        </p:txBody>
      </p:sp>
      <p:sp>
        <p:nvSpPr>
          <p:cNvPr id="2122" name="Google Shape;2122;p83"/>
          <p:cNvSpPr/>
          <p:nvPr/>
        </p:nvSpPr>
        <p:spPr>
          <a:xfrm>
            <a:off x="7732897" y="120700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sentation_C96A00.png" id="2123" name="Google Shape;2123;p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0672" y="13247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124" name="Google Shape;2124;p83"/>
          <p:cNvSpPr txBox="1"/>
          <p:nvPr/>
        </p:nvSpPr>
        <p:spPr>
          <a:xfrm>
            <a:off x="7230709" y="2606040"/>
            <a:ext cx="151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deck.pptx</a:t>
            </a:r>
            <a:endParaRPr/>
          </a:p>
        </p:txBody>
      </p:sp>
      <p:sp>
        <p:nvSpPr>
          <p:cNvPr id="2125" name="Google Shape;2125;p83"/>
          <p:cNvSpPr txBox="1"/>
          <p:nvPr/>
        </p:nvSpPr>
        <p:spPr>
          <a:xfrm>
            <a:off x="7248997" y="2898648"/>
            <a:ext cx="147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Pronto para defender</a:t>
            </a:r>
            <a:endParaRPr/>
          </a:p>
        </p:txBody>
      </p:sp>
      <p:sp>
        <p:nvSpPr>
          <p:cNvPr id="2126" name="Google Shape;2126;p83"/>
          <p:cNvSpPr/>
          <p:nvPr/>
        </p:nvSpPr>
        <p:spPr>
          <a:xfrm>
            <a:off x="323697" y="3749039"/>
            <a:ext cx="8496600" cy="914400"/>
          </a:xfrm>
          <a:prstGeom prst="roundRect">
            <a:avLst>
              <a:gd fmla="val 16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83"/>
          <p:cNvSpPr/>
          <p:nvPr/>
        </p:nvSpPr>
        <p:spPr>
          <a:xfrm>
            <a:off x="506577" y="3977639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ctagonX_FFFFFF.png" id="2128" name="Google Shape;2128;p8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1733" y="40827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83"/>
          <p:cNvSpPr txBox="1"/>
          <p:nvPr/>
        </p:nvSpPr>
        <p:spPr>
          <a:xfrm>
            <a:off x="1192377" y="3749039"/>
            <a:ext cx="739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Sem atalho: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se o validador acusa erro, o gerador não gera. Corrige o YAML ou o token.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84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HANDS-ON 3: DESIGN SYSTEM</a:t>
            </a:r>
            <a:endParaRPr/>
          </a:p>
        </p:txBody>
      </p:sp>
      <p:sp>
        <p:nvSpPr>
          <p:cNvPr id="2135" name="Google Shape;2135;p84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 padrão visual e as specs do grupo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8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HANDS-ON 3: ROTEIRO</a:t>
            </a:r>
            <a:endParaRPr/>
          </a:p>
        </p:txBody>
      </p:sp>
      <p:sp>
        <p:nvSpPr>
          <p:cNvPr id="2141" name="Google Shape;2141;p8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142" name="Google Shape;2142;p85"/>
          <p:cNvSpPr/>
          <p:nvPr/>
        </p:nvSpPr>
        <p:spPr>
          <a:xfrm>
            <a:off x="323697" y="1188720"/>
            <a:ext cx="2263200" cy="255900"/>
          </a:xfrm>
          <a:prstGeom prst="roundRect">
            <a:avLst>
              <a:gd fmla="val 5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85"/>
          <p:cNvSpPr txBox="1"/>
          <p:nvPr/>
        </p:nvSpPr>
        <p:spPr>
          <a:xfrm>
            <a:off x="323697" y="1188720"/>
            <a:ext cx="226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13H35 ÀS 13H50  ·  EM GRUPO</a:t>
            </a:r>
            <a:endParaRPr/>
          </a:p>
        </p:txBody>
      </p:sp>
      <p:sp>
        <p:nvSpPr>
          <p:cNvPr id="2144" name="Google Shape;2144;p85"/>
          <p:cNvSpPr/>
          <p:nvPr/>
        </p:nvSpPr>
        <p:spPr>
          <a:xfrm>
            <a:off x="323697" y="1536192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85"/>
          <p:cNvSpPr/>
          <p:nvPr/>
        </p:nvSpPr>
        <p:spPr>
          <a:xfrm>
            <a:off x="460857" y="1673352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85"/>
          <p:cNvSpPr txBox="1"/>
          <p:nvPr/>
        </p:nvSpPr>
        <p:spPr>
          <a:xfrm>
            <a:off x="460857" y="1673352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GUARDIÃO</a:t>
            </a:r>
            <a:endParaRPr/>
          </a:p>
        </p:txBody>
      </p:sp>
      <p:sp>
        <p:nvSpPr>
          <p:cNvPr id="2147" name="Google Shape;2147;p85"/>
          <p:cNvSpPr txBox="1"/>
          <p:nvPr/>
        </p:nvSpPr>
        <p:spPr>
          <a:xfrm>
            <a:off x="2061057" y="1536192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tokens.json e steering design-system.md (cores, fontes, 6 tipos)</a:t>
            </a:r>
            <a:endParaRPr/>
          </a:p>
        </p:txBody>
      </p:sp>
      <p:sp>
        <p:nvSpPr>
          <p:cNvPr id="2148" name="Google Shape;2148;p85"/>
          <p:cNvSpPr/>
          <p:nvPr/>
        </p:nvSpPr>
        <p:spPr>
          <a:xfrm>
            <a:off x="323697" y="2167128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85"/>
          <p:cNvSpPr/>
          <p:nvPr/>
        </p:nvSpPr>
        <p:spPr>
          <a:xfrm>
            <a:off x="460857" y="2304288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85"/>
          <p:cNvSpPr txBox="1"/>
          <p:nvPr/>
        </p:nvSpPr>
        <p:spPr>
          <a:xfrm>
            <a:off x="460857" y="2304288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DEV VALIDADOR</a:t>
            </a:r>
            <a:endParaRPr/>
          </a:p>
        </p:txBody>
      </p:sp>
      <p:sp>
        <p:nvSpPr>
          <p:cNvPr id="2151" name="Google Shape;2151;p85"/>
          <p:cNvSpPr txBox="1"/>
          <p:nvPr/>
        </p:nvSpPr>
        <p:spPr>
          <a:xfrm>
            <a:off x="2061057" y="2167128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Spec validador-design em EARS: contraste, limites, fontes, área</a:t>
            </a:r>
            <a:endParaRPr/>
          </a:p>
        </p:txBody>
      </p:sp>
      <p:sp>
        <p:nvSpPr>
          <p:cNvPr id="2152" name="Google Shape;2152;p85"/>
          <p:cNvSpPr/>
          <p:nvPr/>
        </p:nvSpPr>
        <p:spPr>
          <a:xfrm>
            <a:off x="323697" y="2798063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85"/>
          <p:cNvSpPr/>
          <p:nvPr/>
        </p:nvSpPr>
        <p:spPr>
          <a:xfrm>
            <a:off x="460857" y="2935223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p85"/>
          <p:cNvSpPr txBox="1"/>
          <p:nvPr/>
        </p:nvSpPr>
        <p:spPr>
          <a:xfrm>
            <a:off x="460857" y="2935223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DEV GERADOR</a:t>
            </a:r>
            <a:endParaRPr/>
          </a:p>
        </p:txBody>
      </p:sp>
      <p:sp>
        <p:nvSpPr>
          <p:cNvPr id="2155" name="Google Shape;2155;p85"/>
          <p:cNvSpPr txBox="1"/>
          <p:nvPr/>
        </p:nvSpPr>
        <p:spPr>
          <a:xfrm>
            <a:off x="2061057" y="2798063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Spec gerador-slides: um tipo de slide por task</a:t>
            </a:r>
            <a:endParaRPr/>
          </a:p>
        </p:txBody>
      </p:sp>
      <p:sp>
        <p:nvSpPr>
          <p:cNvPr id="2156" name="Google Shape;2156;p85"/>
          <p:cNvSpPr/>
          <p:nvPr/>
        </p:nvSpPr>
        <p:spPr>
          <a:xfrm>
            <a:off x="323697" y="3429000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7" name="Google Shape;2157;p85"/>
          <p:cNvSpPr/>
          <p:nvPr/>
        </p:nvSpPr>
        <p:spPr>
          <a:xfrm>
            <a:off x="460857" y="3566160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85"/>
          <p:cNvSpPr txBox="1"/>
          <p:nvPr/>
        </p:nvSpPr>
        <p:spPr>
          <a:xfrm>
            <a:off x="460857" y="3566160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PESQUISADOR</a:t>
            </a:r>
            <a:endParaRPr/>
          </a:p>
        </p:txBody>
      </p:sp>
      <p:sp>
        <p:nvSpPr>
          <p:cNvPr id="2159" name="Google Shape;2159;p85"/>
          <p:cNvSpPr txBox="1"/>
          <p:nvPr/>
        </p:nvSpPr>
        <p:spPr>
          <a:xfrm>
            <a:off x="2061057" y="3429000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Confirma no MCP as peças do padrão do caso</a:t>
            </a:r>
            <a:endParaRPr/>
          </a:p>
        </p:txBody>
      </p:sp>
      <p:sp>
        <p:nvSpPr>
          <p:cNvPr id="2160" name="Google Shape;2160;p85"/>
          <p:cNvSpPr/>
          <p:nvPr/>
        </p:nvSpPr>
        <p:spPr>
          <a:xfrm>
            <a:off x="323697" y="4059935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85"/>
          <p:cNvSpPr/>
          <p:nvPr/>
        </p:nvSpPr>
        <p:spPr>
          <a:xfrm>
            <a:off x="460857" y="4197095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85"/>
          <p:cNvSpPr txBox="1"/>
          <p:nvPr/>
        </p:nvSpPr>
        <p:spPr>
          <a:xfrm>
            <a:off x="460857" y="4197095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RELATOR</a:t>
            </a:r>
            <a:endParaRPr/>
          </a:p>
        </p:txBody>
      </p:sp>
      <p:sp>
        <p:nvSpPr>
          <p:cNvPr id="2163" name="Google Shape;2163;p85"/>
          <p:cNvSpPr txBox="1"/>
          <p:nvPr/>
        </p:nvSpPr>
        <p:spPr>
          <a:xfrm>
            <a:off x="2061057" y="4059935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Esqueleto do deck.yaml com as 6 perguntas do plano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86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ESTUDO AWS ACADEMY 2</a:t>
            </a:r>
            <a:endParaRPr/>
          </a:p>
        </p:txBody>
      </p:sp>
      <p:sp>
        <p:nvSpPr>
          <p:cNvPr id="2169" name="Google Shape;2169;p86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AWS Cloud Quest: Generative AI Practitioner</a:t>
            </a:r>
            <a:endParaRPr/>
          </a:p>
        </p:txBody>
      </p:sp>
      <p:sp>
        <p:nvSpPr>
          <p:cNvPr id="2170" name="Google Shape;2170;p86"/>
          <p:cNvSpPr/>
          <p:nvPr/>
        </p:nvSpPr>
        <p:spPr>
          <a:xfrm>
            <a:off x="4137660" y="754380"/>
            <a:ext cx="868800" cy="86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duationCap_85228B.png" id="2171" name="Google Shape;2171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7456" y="954176"/>
            <a:ext cx="469087" cy="469087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86"/>
          <p:cNvSpPr/>
          <p:nvPr/>
        </p:nvSpPr>
        <p:spPr>
          <a:xfrm>
            <a:off x="3707891" y="3127248"/>
            <a:ext cx="1728300" cy="3291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86"/>
          <p:cNvSpPr txBox="1"/>
          <p:nvPr/>
        </p:nvSpPr>
        <p:spPr>
          <a:xfrm>
            <a:off x="3707891" y="3127248"/>
            <a:ext cx="1728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13H50 ÀS 14H10</a:t>
            </a:r>
            <a:endParaRPr/>
          </a:p>
        </p:txBody>
      </p:sp>
      <p:sp>
        <p:nvSpPr>
          <p:cNvPr id="2174" name="Google Shape;2174;p86"/>
          <p:cNvSpPr txBox="1"/>
          <p:nvPr/>
        </p:nvSpPr>
        <p:spPr>
          <a:xfrm>
            <a:off x="1371600" y="3657600"/>
            <a:ext cx="6400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Fones de ouvido, uma aba só: o LMS.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87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QUE ESTUDAR AGORA</a:t>
            </a:r>
            <a:endParaRPr/>
          </a:p>
        </p:txBody>
      </p:sp>
      <p:sp>
        <p:nvSpPr>
          <p:cNvPr id="2180" name="Google Shape;2180;p87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181" name="Google Shape;2181;p87"/>
          <p:cNvSpPr/>
          <p:nvPr/>
        </p:nvSpPr>
        <p:spPr>
          <a:xfrm>
            <a:off x="323697" y="1188720"/>
            <a:ext cx="2880300" cy="255900"/>
          </a:xfrm>
          <a:prstGeom prst="roundRect">
            <a:avLst>
              <a:gd fmla="val 5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87"/>
          <p:cNvSpPr txBox="1"/>
          <p:nvPr/>
        </p:nvSpPr>
        <p:spPr>
          <a:xfrm>
            <a:off x="323697" y="118872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13H50 ÀS 14H10  ·  ESTUDO INDIVIDUAL</a:t>
            </a:r>
            <a:endParaRPr/>
          </a:p>
        </p:txBody>
      </p:sp>
      <p:sp>
        <p:nvSpPr>
          <p:cNvPr id="2183" name="Google Shape;2183;p87"/>
          <p:cNvSpPr/>
          <p:nvPr/>
        </p:nvSpPr>
        <p:spPr>
          <a:xfrm>
            <a:off x="323697" y="1572768"/>
            <a:ext cx="1890900" cy="2148900"/>
          </a:xfrm>
          <a:prstGeom prst="roundRect">
            <a:avLst>
              <a:gd fmla="val 7736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87"/>
          <p:cNvSpPr/>
          <p:nvPr/>
        </p:nvSpPr>
        <p:spPr>
          <a:xfrm>
            <a:off x="940003" y="1810512"/>
            <a:ext cx="658500" cy="6585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In_FFFFFF.png" id="2185" name="Google Shape;2185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427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186" name="Google Shape;2186;p87"/>
          <p:cNvSpPr txBox="1"/>
          <p:nvPr/>
        </p:nvSpPr>
        <p:spPr>
          <a:xfrm>
            <a:off x="460857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/>
          </a:p>
        </p:txBody>
      </p:sp>
      <p:sp>
        <p:nvSpPr>
          <p:cNvPr id="2187" name="Google Shape;2187;p87"/>
          <p:cNvSpPr txBox="1"/>
          <p:nvPr/>
        </p:nvSpPr>
        <p:spPr>
          <a:xfrm>
            <a:off x="460857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Entrar</a:t>
            </a:r>
            <a:endParaRPr/>
          </a:p>
        </p:txBody>
      </p:sp>
      <p:sp>
        <p:nvSpPr>
          <p:cNvPr id="2188" name="Google Shape;2188;p87"/>
          <p:cNvSpPr txBox="1"/>
          <p:nvPr/>
        </p:nvSpPr>
        <p:spPr>
          <a:xfrm>
            <a:off x="506577" y="3127248"/>
            <a:ext cx="152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LMS do AWS Academy com a conta do SENAI</a:t>
            </a:r>
            <a:endParaRPr/>
          </a:p>
        </p:txBody>
      </p:sp>
      <p:cxnSp>
        <p:nvCxnSpPr>
          <p:cNvPr id="2189" name="Google Shape;2189;p87"/>
          <p:cNvCxnSpPr/>
          <p:nvPr/>
        </p:nvCxnSpPr>
        <p:spPr>
          <a:xfrm>
            <a:off x="2260396" y="2139696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0" name="Google Shape;2190;p87"/>
          <p:cNvSpPr/>
          <p:nvPr/>
        </p:nvSpPr>
        <p:spPr>
          <a:xfrm>
            <a:off x="2525572" y="1572768"/>
            <a:ext cx="1890900" cy="2148900"/>
          </a:xfrm>
          <a:prstGeom prst="roundRect">
            <a:avLst>
              <a:gd fmla="val 7736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87"/>
          <p:cNvSpPr/>
          <p:nvPr/>
        </p:nvSpPr>
        <p:spPr>
          <a:xfrm>
            <a:off x="3141878" y="1810512"/>
            <a:ext cx="658500" cy="6585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okOpen_FFFFFF.png" id="2192" name="Google Shape;2192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3303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193" name="Google Shape;2193;p87"/>
          <p:cNvSpPr txBox="1"/>
          <p:nvPr/>
        </p:nvSpPr>
        <p:spPr>
          <a:xfrm>
            <a:off x="2662732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/>
          </a:p>
        </p:txBody>
      </p:sp>
      <p:sp>
        <p:nvSpPr>
          <p:cNvPr id="2194" name="Google Shape;2194;p87"/>
          <p:cNvSpPr txBox="1"/>
          <p:nvPr/>
        </p:nvSpPr>
        <p:spPr>
          <a:xfrm>
            <a:off x="2662732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Curso</a:t>
            </a:r>
            <a:endParaRPr/>
          </a:p>
        </p:txBody>
      </p:sp>
      <p:sp>
        <p:nvSpPr>
          <p:cNvPr id="2195" name="Google Shape;2195;p87"/>
          <p:cNvSpPr txBox="1"/>
          <p:nvPr/>
        </p:nvSpPr>
        <p:spPr>
          <a:xfrm>
            <a:off x="2708452" y="3127248"/>
            <a:ext cx="152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Generative AI Foundations</a:t>
            </a:r>
            <a:endParaRPr/>
          </a:p>
        </p:txBody>
      </p:sp>
      <p:cxnSp>
        <p:nvCxnSpPr>
          <p:cNvPr id="2196" name="Google Shape;2196;p87"/>
          <p:cNvCxnSpPr/>
          <p:nvPr/>
        </p:nvCxnSpPr>
        <p:spPr>
          <a:xfrm>
            <a:off x="4462272" y="2139696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7" name="Google Shape;2197;p87"/>
          <p:cNvSpPr/>
          <p:nvPr/>
        </p:nvSpPr>
        <p:spPr>
          <a:xfrm>
            <a:off x="4727448" y="1572768"/>
            <a:ext cx="1890900" cy="2148900"/>
          </a:xfrm>
          <a:prstGeom prst="roundRect">
            <a:avLst>
              <a:gd fmla="val 7736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87"/>
          <p:cNvSpPr/>
          <p:nvPr/>
        </p:nvSpPr>
        <p:spPr>
          <a:xfrm>
            <a:off x="5343753" y="1810512"/>
            <a:ext cx="658500" cy="6585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in_FFFFFF.png" id="2199" name="Google Shape;2199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5178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87"/>
          <p:cNvSpPr txBox="1"/>
          <p:nvPr/>
        </p:nvSpPr>
        <p:spPr>
          <a:xfrm>
            <a:off x="4864608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/>
          </a:p>
        </p:txBody>
      </p:sp>
      <p:sp>
        <p:nvSpPr>
          <p:cNvPr id="2201" name="Google Shape;2201;p87"/>
          <p:cNvSpPr txBox="1"/>
          <p:nvPr/>
        </p:nvSpPr>
        <p:spPr>
          <a:xfrm>
            <a:off x="4864608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Tópico</a:t>
            </a:r>
            <a:endParaRPr/>
          </a:p>
        </p:txBody>
      </p:sp>
      <p:sp>
        <p:nvSpPr>
          <p:cNvPr id="2202" name="Google Shape;2202;p87"/>
          <p:cNvSpPr txBox="1"/>
          <p:nvPr/>
        </p:nvSpPr>
        <p:spPr>
          <a:xfrm>
            <a:off x="4910328" y="3127248"/>
            <a:ext cx="152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Amazon Bedrock, RAG e agentes</a:t>
            </a:r>
            <a:endParaRPr/>
          </a:p>
        </p:txBody>
      </p:sp>
      <p:cxnSp>
        <p:nvCxnSpPr>
          <p:cNvPr id="2203" name="Google Shape;2203;p87"/>
          <p:cNvCxnSpPr/>
          <p:nvPr/>
        </p:nvCxnSpPr>
        <p:spPr>
          <a:xfrm>
            <a:off x="6664147" y="2139696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4" name="Google Shape;2204;p87"/>
          <p:cNvSpPr/>
          <p:nvPr/>
        </p:nvSpPr>
        <p:spPr>
          <a:xfrm>
            <a:off x="6929323" y="1572768"/>
            <a:ext cx="1890900" cy="2148900"/>
          </a:xfrm>
          <a:prstGeom prst="roundRect">
            <a:avLst>
              <a:gd fmla="val 7736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87"/>
          <p:cNvSpPr/>
          <p:nvPr/>
        </p:nvSpPr>
        <p:spPr>
          <a:xfrm>
            <a:off x="7545628" y="1810512"/>
            <a:ext cx="658500" cy="6585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enLine_FFFFFF.png" id="2206" name="Google Shape;2206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97053" y="1961936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87"/>
          <p:cNvSpPr txBox="1"/>
          <p:nvPr/>
        </p:nvSpPr>
        <p:spPr>
          <a:xfrm>
            <a:off x="7066483" y="2578608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PASSO 4</a:t>
            </a:r>
            <a:endParaRPr/>
          </a:p>
        </p:txBody>
      </p:sp>
      <p:sp>
        <p:nvSpPr>
          <p:cNvPr id="2208" name="Google Shape;2208;p87"/>
          <p:cNvSpPr txBox="1"/>
          <p:nvPr/>
        </p:nvSpPr>
        <p:spPr>
          <a:xfrm>
            <a:off x="7066483" y="2798064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Anotar</a:t>
            </a:r>
            <a:endParaRPr/>
          </a:p>
        </p:txBody>
      </p:sp>
      <p:sp>
        <p:nvSpPr>
          <p:cNvPr id="2209" name="Google Shape;2209;p87"/>
          <p:cNvSpPr txBox="1"/>
          <p:nvPr/>
        </p:nvSpPr>
        <p:spPr>
          <a:xfrm>
            <a:off x="7112203" y="3127248"/>
            <a:ext cx="152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 argumento para o plano do grupo</a:t>
            </a:r>
            <a:endParaRPr/>
          </a:p>
        </p:txBody>
      </p:sp>
      <p:sp>
        <p:nvSpPr>
          <p:cNvPr id="2210" name="Google Shape;2210;p87"/>
          <p:cNvSpPr/>
          <p:nvPr/>
        </p:nvSpPr>
        <p:spPr>
          <a:xfrm>
            <a:off x="323697" y="3931920"/>
            <a:ext cx="8496600" cy="777300"/>
          </a:xfrm>
          <a:prstGeom prst="roundRect">
            <a:avLst>
              <a:gd fmla="val 1882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87"/>
          <p:cNvSpPr/>
          <p:nvPr/>
        </p:nvSpPr>
        <p:spPr>
          <a:xfrm>
            <a:off x="506577" y="4091939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ssageSquare_FFFFFF.png" id="2212" name="Google Shape;2212;p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733" y="41970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213" name="Google Shape;2213;p87"/>
          <p:cNvSpPr txBox="1"/>
          <p:nvPr/>
        </p:nvSpPr>
        <p:spPr>
          <a:xfrm>
            <a:off x="1192377" y="3931920"/>
            <a:ext cx="7399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Na volta: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argumento anotado entra no deck do plano.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88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SPRINT 1: ROTEIRO</a:t>
            </a:r>
            <a:endParaRPr/>
          </a:p>
        </p:txBody>
      </p:sp>
      <p:sp>
        <p:nvSpPr>
          <p:cNvPr id="2219" name="Google Shape;2219;p88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220" name="Google Shape;2220;p88"/>
          <p:cNvSpPr/>
          <p:nvPr/>
        </p:nvSpPr>
        <p:spPr>
          <a:xfrm>
            <a:off x="323697" y="1188720"/>
            <a:ext cx="2811900" cy="255900"/>
          </a:xfrm>
          <a:prstGeom prst="roundRect">
            <a:avLst>
              <a:gd fmla="val 50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1" name="Google Shape;2221;p88"/>
          <p:cNvSpPr txBox="1"/>
          <p:nvPr/>
        </p:nvSpPr>
        <p:spPr>
          <a:xfrm>
            <a:off x="323697" y="1188720"/>
            <a:ext cx="281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14H10 ÀS 15H15  ·  CHECKPOINT 14H45</a:t>
            </a:r>
            <a:endParaRPr/>
          </a:p>
        </p:txBody>
      </p:sp>
      <p:sp>
        <p:nvSpPr>
          <p:cNvPr id="2222" name="Google Shape;2222;p88"/>
          <p:cNvSpPr/>
          <p:nvPr/>
        </p:nvSpPr>
        <p:spPr>
          <a:xfrm>
            <a:off x="323697" y="1536192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88"/>
          <p:cNvSpPr/>
          <p:nvPr/>
        </p:nvSpPr>
        <p:spPr>
          <a:xfrm>
            <a:off x="460857" y="1673352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4" name="Google Shape;2224;p88"/>
          <p:cNvSpPr txBox="1"/>
          <p:nvPr/>
        </p:nvSpPr>
        <p:spPr>
          <a:xfrm>
            <a:off x="460857" y="1673352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DEV GERADOR</a:t>
            </a:r>
            <a:endParaRPr/>
          </a:p>
        </p:txBody>
      </p:sp>
      <p:sp>
        <p:nvSpPr>
          <p:cNvPr id="2225" name="Google Shape;2225;p88"/>
          <p:cNvSpPr txBox="1"/>
          <p:nvPr/>
        </p:nvSpPr>
        <p:spPr>
          <a:xfrm>
            <a:off x="2061057" y="1536192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Roda as tasks da spec: um tipo de slide por vez, testando com o exemplo</a:t>
            </a:r>
            <a:endParaRPr/>
          </a:p>
        </p:txBody>
      </p:sp>
      <p:sp>
        <p:nvSpPr>
          <p:cNvPr id="2226" name="Google Shape;2226;p88"/>
          <p:cNvSpPr/>
          <p:nvPr/>
        </p:nvSpPr>
        <p:spPr>
          <a:xfrm>
            <a:off x="323697" y="2167128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88"/>
          <p:cNvSpPr/>
          <p:nvPr/>
        </p:nvSpPr>
        <p:spPr>
          <a:xfrm>
            <a:off x="460857" y="2304288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88"/>
          <p:cNvSpPr txBox="1"/>
          <p:nvPr/>
        </p:nvSpPr>
        <p:spPr>
          <a:xfrm>
            <a:off x="460857" y="2304288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DEV VALIDADOR</a:t>
            </a:r>
            <a:endParaRPr/>
          </a:p>
        </p:txBody>
      </p:sp>
      <p:sp>
        <p:nvSpPr>
          <p:cNvPr id="2229" name="Google Shape;2229;p88"/>
          <p:cNvSpPr txBox="1"/>
          <p:nvPr/>
        </p:nvSpPr>
        <p:spPr>
          <a:xfrm>
            <a:off x="2061057" y="2167128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validar_design.py com testes; contraste com par que passa e que falha</a:t>
            </a:r>
            <a:endParaRPr/>
          </a:p>
        </p:txBody>
      </p:sp>
      <p:sp>
        <p:nvSpPr>
          <p:cNvPr id="2230" name="Google Shape;2230;p88"/>
          <p:cNvSpPr/>
          <p:nvPr/>
        </p:nvSpPr>
        <p:spPr>
          <a:xfrm>
            <a:off x="323697" y="2798063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1" name="Google Shape;2231;p88"/>
          <p:cNvSpPr/>
          <p:nvPr/>
        </p:nvSpPr>
        <p:spPr>
          <a:xfrm>
            <a:off x="460857" y="2935223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88"/>
          <p:cNvSpPr txBox="1"/>
          <p:nvPr/>
        </p:nvSpPr>
        <p:spPr>
          <a:xfrm>
            <a:off x="460857" y="2935223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GUARDIÃO</a:t>
            </a:r>
            <a:endParaRPr/>
          </a:p>
        </p:txBody>
      </p:sp>
      <p:sp>
        <p:nvSpPr>
          <p:cNvPr id="2233" name="Google Shape;2233;p88"/>
          <p:cNvSpPr txBox="1"/>
          <p:nvPr/>
        </p:nvSpPr>
        <p:spPr>
          <a:xfrm>
            <a:off x="2061057" y="2798063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Skill gerador-slides e hook de validar e gerar ao salvar</a:t>
            </a:r>
            <a:endParaRPr/>
          </a:p>
        </p:txBody>
      </p:sp>
      <p:sp>
        <p:nvSpPr>
          <p:cNvPr id="2234" name="Google Shape;2234;p88"/>
          <p:cNvSpPr/>
          <p:nvPr/>
        </p:nvSpPr>
        <p:spPr>
          <a:xfrm>
            <a:off x="323697" y="3429000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88"/>
          <p:cNvSpPr/>
          <p:nvPr/>
        </p:nvSpPr>
        <p:spPr>
          <a:xfrm>
            <a:off x="460857" y="3566160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88"/>
          <p:cNvSpPr txBox="1"/>
          <p:nvPr/>
        </p:nvSpPr>
        <p:spPr>
          <a:xfrm>
            <a:off x="460857" y="3566160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PESQUISADOR</a:t>
            </a:r>
            <a:endParaRPr/>
          </a:p>
        </p:txBody>
      </p:sp>
      <p:sp>
        <p:nvSpPr>
          <p:cNvPr id="2237" name="Google Shape;2237;p88"/>
          <p:cNvSpPr txBox="1"/>
          <p:nvPr/>
        </p:nvSpPr>
        <p:spPr>
          <a:xfrm>
            <a:off x="2061057" y="3429000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Diagrama do plano com a skill gerador-arquitetura da manhã</a:t>
            </a:r>
            <a:endParaRPr/>
          </a:p>
        </p:txBody>
      </p:sp>
      <p:sp>
        <p:nvSpPr>
          <p:cNvPr id="2238" name="Google Shape;2238;p88"/>
          <p:cNvSpPr/>
          <p:nvPr/>
        </p:nvSpPr>
        <p:spPr>
          <a:xfrm>
            <a:off x="323697" y="4059935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9" name="Google Shape;2239;p88"/>
          <p:cNvSpPr/>
          <p:nvPr/>
        </p:nvSpPr>
        <p:spPr>
          <a:xfrm>
            <a:off x="460857" y="4197095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0" name="Google Shape;2240;p88"/>
          <p:cNvSpPr txBox="1"/>
          <p:nvPr/>
        </p:nvSpPr>
        <p:spPr>
          <a:xfrm>
            <a:off x="460857" y="4197095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RELATOR</a:t>
            </a:r>
            <a:endParaRPr/>
          </a:p>
        </p:txBody>
      </p:sp>
      <p:sp>
        <p:nvSpPr>
          <p:cNvPr id="2241" name="Google Shape;2241;p88"/>
          <p:cNvSpPr txBox="1"/>
          <p:nvPr/>
        </p:nvSpPr>
        <p:spPr>
          <a:xfrm>
            <a:off x="2061057" y="4059935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Conteúdo do deck.yaml, com a URL da fonte de cada serviço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89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SE DER ERRO</a:t>
            </a:r>
            <a:endParaRPr/>
          </a:p>
        </p:txBody>
      </p:sp>
      <p:sp>
        <p:nvSpPr>
          <p:cNvPr id="2247" name="Google Shape;2247;p89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248" name="Google Shape;2248;p89"/>
          <p:cNvSpPr/>
          <p:nvPr/>
        </p:nvSpPr>
        <p:spPr>
          <a:xfrm>
            <a:off x="323697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9" name="Google Shape;2249;p89"/>
          <p:cNvSpPr/>
          <p:nvPr/>
        </p:nvSpPr>
        <p:spPr>
          <a:xfrm>
            <a:off x="534009" y="1399032"/>
            <a:ext cx="585300" cy="5853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ype_FFFFFF.png" id="2250" name="Google Shape;225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609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9"/>
          <p:cNvSpPr txBox="1"/>
          <p:nvPr/>
        </p:nvSpPr>
        <p:spPr>
          <a:xfrm>
            <a:off x="1283817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FONTE</a:t>
            </a:r>
            <a:endParaRPr/>
          </a:p>
        </p:txBody>
      </p:sp>
      <p:sp>
        <p:nvSpPr>
          <p:cNvPr id="2252" name="Google Shape;2252;p89"/>
          <p:cNvSpPr txBox="1"/>
          <p:nvPr/>
        </p:nvSpPr>
        <p:spPr>
          <a:xfrm>
            <a:off x="1283817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Aparece outra fonte</a:t>
            </a:r>
            <a:endParaRPr/>
          </a:p>
        </p:txBody>
      </p:sp>
      <p:sp>
        <p:nvSpPr>
          <p:cNvPr id="2253" name="Google Shape;2253;p89"/>
          <p:cNvSpPr txBox="1"/>
          <p:nvPr/>
        </p:nvSpPr>
        <p:spPr>
          <a:xfrm>
            <a:off x="643737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FAÇA</a:t>
            </a:r>
            <a:endParaRPr/>
          </a:p>
        </p:txBody>
      </p:sp>
      <p:sp>
        <p:nvSpPr>
          <p:cNvPr id="2254" name="Google Shape;2254;p89"/>
          <p:cNvSpPr txBox="1"/>
          <p:nvPr/>
        </p:nvSpPr>
        <p:spPr>
          <a:xfrm>
            <a:off x="643737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Use só fontes da lista instalada no lab.</a:t>
            </a:r>
            <a:endParaRPr/>
          </a:p>
        </p:txBody>
      </p:sp>
      <p:sp>
        <p:nvSpPr>
          <p:cNvPr id="2255" name="Google Shape;2255;p89"/>
          <p:cNvSpPr/>
          <p:nvPr/>
        </p:nvSpPr>
        <p:spPr>
          <a:xfrm>
            <a:off x="4768596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89"/>
          <p:cNvSpPr/>
          <p:nvPr/>
        </p:nvSpPr>
        <p:spPr>
          <a:xfrm>
            <a:off x="4978908" y="1399032"/>
            <a:ext cx="585300" cy="5853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_FFFFFF.png" id="2257" name="Google Shape;2257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3507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58" name="Google Shape;2258;p89"/>
          <p:cNvSpPr txBox="1"/>
          <p:nvPr/>
        </p:nvSpPr>
        <p:spPr>
          <a:xfrm>
            <a:off x="5728716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IMAGEM</a:t>
            </a:r>
            <a:endParaRPr/>
          </a:p>
        </p:txBody>
      </p:sp>
      <p:sp>
        <p:nvSpPr>
          <p:cNvPr id="2259" name="Google Shape;2259;p89"/>
          <p:cNvSpPr txBox="1"/>
          <p:nvPr/>
        </p:nvSpPr>
        <p:spPr>
          <a:xfrm>
            <a:off x="5728716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Diagrama esticado</a:t>
            </a:r>
            <a:endParaRPr/>
          </a:p>
        </p:txBody>
      </p:sp>
      <p:sp>
        <p:nvSpPr>
          <p:cNvPr id="2260" name="Google Shape;2260;p89"/>
          <p:cNvSpPr txBox="1"/>
          <p:nvPr/>
        </p:nvSpPr>
        <p:spPr>
          <a:xfrm>
            <a:off x="5088636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FAÇA</a:t>
            </a:r>
            <a:endParaRPr/>
          </a:p>
        </p:txBody>
      </p:sp>
      <p:sp>
        <p:nvSpPr>
          <p:cNvPr id="2261" name="Google Shape;2261;p89"/>
          <p:cNvSpPr txBox="1"/>
          <p:nvPr/>
        </p:nvSpPr>
        <p:spPr>
          <a:xfrm>
            <a:off x="5088636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Altura = largura x proporção do PNG.</a:t>
            </a:r>
            <a:endParaRPr/>
          </a:p>
        </p:txBody>
      </p:sp>
      <p:sp>
        <p:nvSpPr>
          <p:cNvPr id="2262" name="Google Shape;2262;p89"/>
          <p:cNvSpPr/>
          <p:nvPr/>
        </p:nvSpPr>
        <p:spPr>
          <a:xfrm>
            <a:off x="323697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89"/>
          <p:cNvSpPr/>
          <p:nvPr/>
        </p:nvSpPr>
        <p:spPr>
          <a:xfrm>
            <a:off x="534009" y="3250692"/>
            <a:ext cx="585300" cy="5853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CursorInput_FFFFFF.png" id="2264" name="Google Shape;2264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609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65" name="Google Shape;2265;p89"/>
          <p:cNvSpPr txBox="1"/>
          <p:nvPr/>
        </p:nvSpPr>
        <p:spPr>
          <a:xfrm>
            <a:off x="1283817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TEXTO</a:t>
            </a:r>
            <a:endParaRPr/>
          </a:p>
        </p:txBody>
      </p:sp>
      <p:sp>
        <p:nvSpPr>
          <p:cNvPr id="2266" name="Google Shape;2266;p89"/>
          <p:cNvSpPr txBox="1"/>
          <p:nvPr/>
        </p:nvSpPr>
        <p:spPr>
          <a:xfrm>
            <a:off x="1283817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Sai da caixa</a:t>
            </a:r>
            <a:endParaRPr/>
          </a:p>
        </p:txBody>
      </p:sp>
      <p:sp>
        <p:nvSpPr>
          <p:cNvPr id="2267" name="Google Shape;2267;p89"/>
          <p:cNvSpPr txBox="1"/>
          <p:nvPr/>
        </p:nvSpPr>
        <p:spPr>
          <a:xfrm>
            <a:off x="643737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FAÇA</a:t>
            </a:r>
            <a:endParaRPr/>
          </a:p>
        </p:txBody>
      </p:sp>
      <p:sp>
        <p:nvSpPr>
          <p:cNvPr id="2268" name="Google Shape;2268;p89"/>
          <p:cNvSpPr txBox="1"/>
          <p:nvPr/>
        </p:nvSpPr>
        <p:spPr>
          <a:xfrm>
            <a:off x="643737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Encurte no YAML e reforce o limite no validador.</a:t>
            </a:r>
            <a:endParaRPr/>
          </a:p>
        </p:txBody>
      </p:sp>
      <p:sp>
        <p:nvSpPr>
          <p:cNvPr id="2269" name="Google Shape;2269;p89"/>
          <p:cNvSpPr/>
          <p:nvPr/>
        </p:nvSpPr>
        <p:spPr>
          <a:xfrm>
            <a:off x="4768596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89"/>
          <p:cNvSpPr/>
          <p:nvPr/>
        </p:nvSpPr>
        <p:spPr>
          <a:xfrm>
            <a:off x="4978908" y="3250692"/>
            <a:ext cx="585300" cy="5853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ckageX_FFFFFF.png" id="2271" name="Google Shape;2271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13507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72" name="Google Shape;2272;p89"/>
          <p:cNvSpPr txBox="1"/>
          <p:nvPr/>
        </p:nvSpPr>
        <p:spPr>
          <a:xfrm>
            <a:off x="5728716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PIP</a:t>
            </a:r>
            <a:endParaRPr/>
          </a:p>
        </p:txBody>
      </p:sp>
      <p:sp>
        <p:nvSpPr>
          <p:cNvPr id="2273" name="Google Shape;2273;p89"/>
          <p:cNvSpPr txBox="1"/>
          <p:nvPr/>
        </p:nvSpPr>
        <p:spPr>
          <a:xfrm>
            <a:off x="5728716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python-pptx não instala</a:t>
            </a:r>
            <a:endParaRPr/>
          </a:p>
        </p:txBody>
      </p:sp>
      <p:sp>
        <p:nvSpPr>
          <p:cNvPr id="2274" name="Google Shape;2274;p89"/>
          <p:cNvSpPr txBox="1"/>
          <p:nvPr/>
        </p:nvSpPr>
        <p:spPr>
          <a:xfrm>
            <a:off x="5088636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FAÇA</a:t>
            </a:r>
            <a:endParaRPr/>
          </a:p>
        </p:txBody>
      </p:sp>
      <p:sp>
        <p:nvSpPr>
          <p:cNvPr id="2275" name="Google Shape;2275;p89"/>
          <p:cNvSpPr txBox="1"/>
          <p:nvPr/>
        </p:nvSpPr>
        <p:spPr>
          <a:xfrm>
            <a:off x="5088636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Pacote offline com o instrutor.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90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CHECKPOINT 14H45</a:t>
            </a:r>
            <a:endParaRPr/>
          </a:p>
        </p:txBody>
      </p:sp>
      <p:sp>
        <p:nvSpPr>
          <p:cNvPr id="2281" name="Google Shape;2281;p9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282" name="Google Shape;2282;p90"/>
          <p:cNvSpPr/>
          <p:nvPr/>
        </p:nvSpPr>
        <p:spPr>
          <a:xfrm>
            <a:off x="323697" y="118872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90"/>
          <p:cNvSpPr/>
          <p:nvPr/>
        </p:nvSpPr>
        <p:spPr>
          <a:xfrm>
            <a:off x="598017" y="173964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90"/>
          <p:cNvSpPr txBox="1"/>
          <p:nvPr/>
        </p:nvSpPr>
        <p:spPr>
          <a:xfrm>
            <a:off x="598017" y="173964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2285" name="Google Shape;2285;p90"/>
          <p:cNvSpPr txBox="1"/>
          <p:nvPr/>
        </p:nvSpPr>
        <p:spPr>
          <a:xfrm>
            <a:off x="1375257" y="118872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Tokens e steering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tokens.json e design-system.md no Git.</a:t>
            </a:r>
            <a:endParaRPr/>
          </a:p>
        </p:txBody>
      </p:sp>
      <p:sp>
        <p:nvSpPr>
          <p:cNvPr id="2286" name="Google Shape;2286;p90"/>
          <p:cNvSpPr/>
          <p:nvPr/>
        </p:nvSpPr>
        <p:spPr>
          <a:xfrm>
            <a:off x="4709160" y="118872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90"/>
          <p:cNvSpPr/>
          <p:nvPr/>
        </p:nvSpPr>
        <p:spPr>
          <a:xfrm>
            <a:off x="4983480" y="173964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8" name="Google Shape;2288;p90"/>
          <p:cNvSpPr txBox="1"/>
          <p:nvPr/>
        </p:nvSpPr>
        <p:spPr>
          <a:xfrm>
            <a:off x="4983480" y="173964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2289" name="Google Shape;2289;p90"/>
          <p:cNvSpPr txBox="1"/>
          <p:nvPr/>
        </p:nvSpPr>
        <p:spPr>
          <a:xfrm>
            <a:off x="5760720" y="118872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Validador com testes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Contraste testado e passando.</a:t>
            </a:r>
            <a:endParaRPr/>
          </a:p>
        </p:txBody>
      </p:sp>
      <p:sp>
        <p:nvSpPr>
          <p:cNvPr id="2290" name="Google Shape;2290;p90"/>
          <p:cNvSpPr/>
          <p:nvPr/>
        </p:nvSpPr>
        <p:spPr>
          <a:xfrm>
            <a:off x="323697" y="304038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90"/>
          <p:cNvSpPr/>
          <p:nvPr/>
        </p:nvSpPr>
        <p:spPr>
          <a:xfrm>
            <a:off x="598017" y="359130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90"/>
          <p:cNvSpPr txBox="1"/>
          <p:nvPr/>
        </p:nvSpPr>
        <p:spPr>
          <a:xfrm>
            <a:off x="598017" y="359130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2293" name="Google Shape;2293;p90"/>
          <p:cNvSpPr txBox="1"/>
          <p:nvPr/>
        </p:nvSpPr>
        <p:spPr>
          <a:xfrm>
            <a:off x="1375257" y="304038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rodando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Pelo menos capa, conteúdo e diagrama.</a:t>
            </a:r>
            <a:endParaRPr/>
          </a:p>
        </p:txBody>
      </p:sp>
      <p:sp>
        <p:nvSpPr>
          <p:cNvPr id="2294" name="Google Shape;2294;p90"/>
          <p:cNvSpPr/>
          <p:nvPr/>
        </p:nvSpPr>
        <p:spPr>
          <a:xfrm>
            <a:off x="4709160" y="304038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90"/>
          <p:cNvSpPr/>
          <p:nvPr/>
        </p:nvSpPr>
        <p:spPr>
          <a:xfrm>
            <a:off x="4983480" y="359130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90"/>
          <p:cNvSpPr txBox="1"/>
          <p:nvPr/>
        </p:nvSpPr>
        <p:spPr>
          <a:xfrm>
            <a:off x="4983480" y="359130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297" name="Google Shape;2297;p90"/>
          <p:cNvSpPr txBox="1"/>
          <p:nvPr/>
        </p:nvSpPr>
        <p:spPr>
          <a:xfrm>
            <a:off x="5760720" y="304038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Diagrama do plano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PNG do padrão do caso em saida/.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91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INTERVALO</a:t>
            </a:r>
            <a:endParaRPr/>
          </a:p>
        </p:txBody>
      </p:sp>
      <p:sp>
        <p:nvSpPr>
          <p:cNvPr id="2303" name="Google Shape;2303;p91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Pausa para descanso</a:t>
            </a:r>
            <a:endParaRPr/>
          </a:p>
        </p:txBody>
      </p:sp>
      <p:sp>
        <p:nvSpPr>
          <p:cNvPr id="2304" name="Google Shape;2304;p91"/>
          <p:cNvSpPr/>
          <p:nvPr/>
        </p:nvSpPr>
        <p:spPr>
          <a:xfrm>
            <a:off x="4137660" y="754380"/>
            <a:ext cx="868800" cy="86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ffee_85228B.png" id="2305" name="Google Shape;2305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7456" y="954176"/>
            <a:ext cx="469087" cy="469087"/>
          </a:xfrm>
          <a:prstGeom prst="rect">
            <a:avLst/>
          </a:prstGeom>
          <a:noFill/>
          <a:ln>
            <a:noFill/>
          </a:ln>
        </p:spPr>
      </p:pic>
      <p:sp>
        <p:nvSpPr>
          <p:cNvPr id="2306" name="Google Shape;2306;p91"/>
          <p:cNvSpPr/>
          <p:nvPr/>
        </p:nvSpPr>
        <p:spPr>
          <a:xfrm>
            <a:off x="3707891" y="3127248"/>
            <a:ext cx="1728300" cy="3291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91"/>
          <p:cNvSpPr txBox="1"/>
          <p:nvPr/>
        </p:nvSpPr>
        <p:spPr>
          <a:xfrm>
            <a:off x="3707891" y="3127248"/>
            <a:ext cx="1728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15H15 ÀS 15H35</a:t>
            </a:r>
            <a:endParaRPr/>
          </a:p>
        </p:txBody>
      </p:sp>
      <p:sp>
        <p:nvSpPr>
          <p:cNvPr id="2308" name="Google Shape;2308;p91"/>
          <p:cNvSpPr txBox="1"/>
          <p:nvPr/>
        </p:nvSpPr>
        <p:spPr>
          <a:xfrm>
            <a:off x="1371600" y="3657600"/>
            <a:ext cx="6400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Na volta: deck do plano, revisão cruzada e ensaio.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p92"/>
          <p:cNvSpPr txBox="1"/>
          <p:nvPr>
            <p:ph type="title"/>
          </p:nvPr>
        </p:nvSpPr>
        <p:spPr>
          <a:xfrm>
            <a:off x="914400" y="1874519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 TRIBUNAL DO PLANO</a:t>
            </a:r>
            <a:endParaRPr/>
          </a:p>
        </p:txBody>
      </p:sp>
      <p:sp>
        <p:nvSpPr>
          <p:cNvPr id="2314" name="Google Shape;2314;p92"/>
          <p:cNvSpPr txBox="1"/>
          <p:nvPr/>
        </p:nvSpPr>
        <p:spPr>
          <a:xfrm>
            <a:off x="914400" y="26060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Arquitetura e design em julgamento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93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COMO FUNCIONA</a:t>
            </a:r>
            <a:endParaRPr/>
          </a:p>
        </p:txBody>
      </p:sp>
      <p:sp>
        <p:nvSpPr>
          <p:cNvPr id="2320" name="Google Shape;2320;p93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321" name="Google Shape;2321;p93"/>
          <p:cNvSpPr/>
          <p:nvPr/>
        </p:nvSpPr>
        <p:spPr>
          <a:xfrm>
            <a:off x="3154680" y="1527048"/>
            <a:ext cx="2834700" cy="2834700"/>
          </a:xfrm>
          <a:prstGeom prst="blockArc">
            <a:avLst>
              <a:gd fmla="val 16290000" name="adj1"/>
              <a:gd fmla="val 20430000" name="adj2"/>
              <a:gd fmla="val 20000" name="adj3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p93"/>
          <p:cNvSpPr/>
          <p:nvPr/>
        </p:nvSpPr>
        <p:spPr>
          <a:xfrm>
            <a:off x="5129747" y="1720371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p93"/>
          <p:cNvSpPr txBox="1"/>
          <p:nvPr/>
        </p:nvSpPr>
        <p:spPr>
          <a:xfrm>
            <a:off x="5129747" y="1720371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2324" name="Google Shape;2324;p93"/>
          <p:cNvSpPr txBox="1"/>
          <p:nvPr/>
        </p:nvSpPr>
        <p:spPr>
          <a:xfrm>
            <a:off x="6580022" y="1403715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1. G1 defende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G2 ataca</a:t>
            </a:r>
            <a:endParaRPr/>
          </a:p>
        </p:txBody>
      </p:sp>
      <p:sp>
        <p:nvSpPr>
          <p:cNvPr id="2325" name="Google Shape;2325;p93"/>
          <p:cNvSpPr/>
          <p:nvPr/>
        </p:nvSpPr>
        <p:spPr>
          <a:xfrm>
            <a:off x="3154680" y="1527048"/>
            <a:ext cx="2834700" cy="2834700"/>
          </a:xfrm>
          <a:prstGeom prst="blockArc">
            <a:avLst>
              <a:gd fmla="val 20610000" name="adj1"/>
              <a:gd fmla="val 3150000" name="adj2"/>
              <a:gd fmla="val 20000" name="adj3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93"/>
          <p:cNvSpPr/>
          <p:nvPr/>
        </p:nvSpPr>
        <p:spPr>
          <a:xfrm>
            <a:off x="5593132" y="3146522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93"/>
          <p:cNvSpPr txBox="1"/>
          <p:nvPr/>
        </p:nvSpPr>
        <p:spPr>
          <a:xfrm>
            <a:off x="5593132" y="314652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2328" name="Google Shape;2328;p93"/>
          <p:cNvSpPr txBox="1"/>
          <p:nvPr/>
        </p:nvSpPr>
        <p:spPr>
          <a:xfrm>
            <a:off x="6580022" y="3090560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2. G2 defende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G3 ataca</a:t>
            </a:r>
            <a:endParaRPr/>
          </a:p>
        </p:txBody>
      </p:sp>
      <p:sp>
        <p:nvSpPr>
          <p:cNvPr id="2329" name="Google Shape;2329;p93"/>
          <p:cNvSpPr/>
          <p:nvPr/>
        </p:nvSpPr>
        <p:spPr>
          <a:xfrm>
            <a:off x="3154680" y="1527048"/>
            <a:ext cx="2834700" cy="2834700"/>
          </a:xfrm>
          <a:prstGeom prst="blockArc">
            <a:avLst>
              <a:gd fmla="val 3329999" name="adj1"/>
              <a:gd fmla="val 7470000" name="adj2"/>
              <a:gd fmla="val 20000" name="adj3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93"/>
          <p:cNvSpPr/>
          <p:nvPr/>
        </p:nvSpPr>
        <p:spPr>
          <a:xfrm>
            <a:off x="4379976" y="4027932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1" name="Google Shape;2331;p93"/>
          <p:cNvSpPr txBox="1"/>
          <p:nvPr/>
        </p:nvSpPr>
        <p:spPr>
          <a:xfrm>
            <a:off x="4379976" y="402793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2332" name="Google Shape;2332;p93"/>
          <p:cNvSpPr txBox="1"/>
          <p:nvPr/>
        </p:nvSpPr>
        <p:spPr>
          <a:xfrm>
            <a:off x="6580022" y="4069080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3. G3 defende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G4 ataca</a:t>
            </a:r>
            <a:endParaRPr/>
          </a:p>
        </p:txBody>
      </p:sp>
      <p:sp>
        <p:nvSpPr>
          <p:cNvPr id="2333" name="Google Shape;2333;p93"/>
          <p:cNvSpPr/>
          <p:nvPr/>
        </p:nvSpPr>
        <p:spPr>
          <a:xfrm>
            <a:off x="3154680" y="1527048"/>
            <a:ext cx="2834700" cy="2834700"/>
          </a:xfrm>
          <a:prstGeom prst="blockArc">
            <a:avLst>
              <a:gd fmla="val 7650000" name="adj1"/>
              <a:gd fmla="val 11790000" name="adj2"/>
              <a:gd fmla="val 20000" name="adj3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93"/>
          <p:cNvSpPr/>
          <p:nvPr/>
        </p:nvSpPr>
        <p:spPr>
          <a:xfrm>
            <a:off x="3166819" y="3146522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93"/>
          <p:cNvSpPr txBox="1"/>
          <p:nvPr/>
        </p:nvSpPr>
        <p:spPr>
          <a:xfrm>
            <a:off x="3166819" y="314652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336" name="Google Shape;2336;p93"/>
          <p:cNvSpPr txBox="1"/>
          <p:nvPr/>
        </p:nvSpPr>
        <p:spPr>
          <a:xfrm>
            <a:off x="323697" y="3090560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4. G4 defende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G5 ataca</a:t>
            </a:r>
            <a:endParaRPr/>
          </a:p>
        </p:txBody>
      </p:sp>
      <p:sp>
        <p:nvSpPr>
          <p:cNvPr id="2337" name="Google Shape;2337;p93"/>
          <p:cNvSpPr/>
          <p:nvPr/>
        </p:nvSpPr>
        <p:spPr>
          <a:xfrm>
            <a:off x="3154680" y="1527048"/>
            <a:ext cx="2834700" cy="2834700"/>
          </a:xfrm>
          <a:prstGeom prst="blockArc">
            <a:avLst>
              <a:gd fmla="val 11969999" name="adj1"/>
              <a:gd fmla="val 16110000" name="adj2"/>
              <a:gd fmla="val 20000" name="adj3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8" name="Google Shape;2338;p93"/>
          <p:cNvSpPr/>
          <p:nvPr/>
        </p:nvSpPr>
        <p:spPr>
          <a:xfrm>
            <a:off x="3630204" y="1720371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9" name="Google Shape;2339;p93"/>
          <p:cNvSpPr txBox="1"/>
          <p:nvPr/>
        </p:nvSpPr>
        <p:spPr>
          <a:xfrm>
            <a:off x="3630204" y="1720371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2340" name="Google Shape;2340;p93"/>
          <p:cNvSpPr txBox="1"/>
          <p:nvPr/>
        </p:nvSpPr>
        <p:spPr>
          <a:xfrm>
            <a:off x="323697" y="1403715"/>
            <a:ext cx="224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5. G5 defende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G1 ataca</a:t>
            </a:r>
            <a:endParaRPr/>
          </a:p>
        </p:txBody>
      </p:sp>
      <p:sp>
        <p:nvSpPr>
          <p:cNvPr id="2341" name="Google Shape;2341;p93"/>
          <p:cNvSpPr txBox="1"/>
          <p:nvPr/>
        </p:nvSpPr>
        <p:spPr>
          <a:xfrm>
            <a:off x="3703320" y="2487168"/>
            <a:ext cx="173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Tribunal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94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A RODADA DE 9 MINUTOS</a:t>
            </a:r>
            <a:endParaRPr/>
          </a:p>
        </p:txBody>
      </p:sp>
      <p:sp>
        <p:nvSpPr>
          <p:cNvPr id="2347" name="Google Shape;2347;p94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348" name="Google Shape;2348;p94"/>
          <p:cNvSpPr txBox="1"/>
          <p:nvPr/>
        </p:nvSpPr>
        <p:spPr>
          <a:xfrm>
            <a:off x="1466697" y="1188720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2349" name="Google Shape;2349;p94"/>
          <p:cNvSpPr txBox="1"/>
          <p:nvPr/>
        </p:nvSpPr>
        <p:spPr>
          <a:xfrm>
            <a:off x="3689299" y="1188720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3 min</a:t>
            </a:r>
            <a:endParaRPr/>
          </a:p>
        </p:txBody>
      </p:sp>
      <p:cxnSp>
        <p:nvCxnSpPr>
          <p:cNvPr id="2350" name="Google Shape;2350;p94"/>
          <p:cNvCxnSpPr/>
          <p:nvPr/>
        </p:nvCxnSpPr>
        <p:spPr>
          <a:xfrm>
            <a:off x="3917899" y="1408176"/>
            <a:ext cx="0" cy="621900"/>
          </a:xfrm>
          <a:prstGeom prst="straightConnector1">
            <a:avLst/>
          </a:prstGeom>
          <a:noFill/>
          <a:ln cap="flat" cmpd="sng" w="9525">
            <a:solidFill>
              <a:srgbClr val="D9D9D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51" name="Google Shape;2351;p94"/>
          <p:cNvSpPr txBox="1"/>
          <p:nvPr/>
        </p:nvSpPr>
        <p:spPr>
          <a:xfrm>
            <a:off x="6140500" y="1188720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6 min</a:t>
            </a:r>
            <a:endParaRPr/>
          </a:p>
        </p:txBody>
      </p:sp>
      <p:cxnSp>
        <p:nvCxnSpPr>
          <p:cNvPr id="2352" name="Google Shape;2352;p94"/>
          <p:cNvCxnSpPr/>
          <p:nvPr/>
        </p:nvCxnSpPr>
        <p:spPr>
          <a:xfrm>
            <a:off x="6369100" y="1408176"/>
            <a:ext cx="0" cy="621900"/>
          </a:xfrm>
          <a:prstGeom prst="straightConnector1">
            <a:avLst/>
          </a:prstGeom>
          <a:noFill/>
          <a:ln cap="flat" cmpd="sng" w="9525">
            <a:solidFill>
              <a:srgbClr val="D9D9D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53" name="Google Shape;2353;p94"/>
          <p:cNvSpPr txBox="1"/>
          <p:nvPr/>
        </p:nvSpPr>
        <p:spPr>
          <a:xfrm>
            <a:off x="8363102" y="1188720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9 min</a:t>
            </a:r>
            <a:endParaRPr/>
          </a:p>
        </p:txBody>
      </p:sp>
      <p:sp>
        <p:nvSpPr>
          <p:cNvPr id="2354" name="Google Shape;2354;p94"/>
          <p:cNvSpPr/>
          <p:nvPr/>
        </p:nvSpPr>
        <p:spPr>
          <a:xfrm>
            <a:off x="323697" y="1609344"/>
            <a:ext cx="987600" cy="310800"/>
          </a:xfrm>
          <a:prstGeom prst="roundRect">
            <a:avLst>
              <a:gd fmla="val 50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94"/>
          <p:cNvSpPr txBox="1"/>
          <p:nvPr/>
        </p:nvSpPr>
        <p:spPr>
          <a:xfrm>
            <a:off x="323697" y="1609344"/>
            <a:ext cx="98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RODADA</a:t>
            </a:r>
            <a:endParaRPr/>
          </a:p>
        </p:txBody>
      </p:sp>
      <p:sp>
        <p:nvSpPr>
          <p:cNvPr id="2356" name="Google Shape;2356;p94"/>
          <p:cNvSpPr/>
          <p:nvPr/>
        </p:nvSpPr>
        <p:spPr>
          <a:xfrm>
            <a:off x="1480413" y="1499616"/>
            <a:ext cx="3240900" cy="530400"/>
          </a:xfrm>
          <a:prstGeom prst="roundRect">
            <a:avLst>
              <a:gd fmla="val 10344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94"/>
          <p:cNvSpPr txBox="1"/>
          <p:nvPr/>
        </p:nvSpPr>
        <p:spPr>
          <a:xfrm>
            <a:off x="1466697" y="1499616"/>
            <a:ext cx="3268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Defesa: 4 min</a:t>
            </a:r>
            <a:endParaRPr/>
          </a:p>
        </p:txBody>
      </p:sp>
      <p:sp>
        <p:nvSpPr>
          <p:cNvPr id="2358" name="Google Shape;2358;p94"/>
          <p:cNvSpPr/>
          <p:nvPr/>
        </p:nvSpPr>
        <p:spPr>
          <a:xfrm>
            <a:off x="4748682" y="1499616"/>
            <a:ext cx="3240900" cy="530400"/>
          </a:xfrm>
          <a:prstGeom prst="roundRect">
            <a:avLst>
              <a:gd fmla="val 10344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94"/>
          <p:cNvSpPr txBox="1"/>
          <p:nvPr/>
        </p:nvSpPr>
        <p:spPr>
          <a:xfrm>
            <a:off x="4734966" y="1499616"/>
            <a:ext cx="3268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Ataque: 4 min</a:t>
            </a:r>
            <a:endParaRPr/>
          </a:p>
        </p:txBody>
      </p:sp>
      <p:sp>
        <p:nvSpPr>
          <p:cNvPr id="2360" name="Google Shape;2360;p94"/>
          <p:cNvSpPr/>
          <p:nvPr/>
        </p:nvSpPr>
        <p:spPr>
          <a:xfrm>
            <a:off x="8016951" y="1499616"/>
            <a:ext cx="789600" cy="530400"/>
          </a:xfrm>
          <a:prstGeom prst="roundRect">
            <a:avLst>
              <a:gd fmla="val 10344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94"/>
          <p:cNvSpPr/>
          <p:nvPr/>
        </p:nvSpPr>
        <p:spPr>
          <a:xfrm>
            <a:off x="323697" y="2231135"/>
            <a:ext cx="146400" cy="146400"/>
          </a:xfrm>
          <a:prstGeom prst="roundRect">
            <a:avLst>
              <a:gd fmla="val 25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2" name="Google Shape;2362;p94"/>
          <p:cNvSpPr txBox="1"/>
          <p:nvPr/>
        </p:nvSpPr>
        <p:spPr>
          <a:xfrm>
            <a:off x="524865" y="2185415"/>
            <a:ext cx="502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Defesa</a:t>
            </a:r>
            <a:endParaRPr/>
          </a:p>
        </p:txBody>
      </p:sp>
      <p:sp>
        <p:nvSpPr>
          <p:cNvPr id="2363" name="Google Shape;2363;p94"/>
          <p:cNvSpPr/>
          <p:nvPr/>
        </p:nvSpPr>
        <p:spPr>
          <a:xfrm>
            <a:off x="1210665" y="2231135"/>
            <a:ext cx="146400" cy="146400"/>
          </a:xfrm>
          <a:prstGeom prst="roundRect">
            <a:avLst>
              <a:gd fmla="val 25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94"/>
          <p:cNvSpPr txBox="1"/>
          <p:nvPr/>
        </p:nvSpPr>
        <p:spPr>
          <a:xfrm>
            <a:off x="1411833" y="2185415"/>
            <a:ext cx="502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Ataque</a:t>
            </a:r>
            <a:endParaRPr/>
          </a:p>
        </p:txBody>
      </p:sp>
      <p:sp>
        <p:nvSpPr>
          <p:cNvPr id="2365" name="Google Shape;2365;p94"/>
          <p:cNvSpPr/>
          <p:nvPr/>
        </p:nvSpPr>
        <p:spPr>
          <a:xfrm>
            <a:off x="2097633" y="2231135"/>
            <a:ext cx="146400" cy="146400"/>
          </a:xfrm>
          <a:prstGeom prst="roundRect">
            <a:avLst>
              <a:gd fmla="val 25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94"/>
          <p:cNvSpPr txBox="1"/>
          <p:nvPr/>
        </p:nvSpPr>
        <p:spPr>
          <a:xfrm>
            <a:off x="2298801" y="2185415"/>
            <a:ext cx="1188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Veredito (1 min)</a:t>
            </a:r>
            <a:endParaRPr/>
          </a:p>
        </p:txBody>
      </p:sp>
      <p:sp>
        <p:nvSpPr>
          <p:cNvPr id="2367" name="Google Shape;2367;p94"/>
          <p:cNvSpPr/>
          <p:nvPr/>
        </p:nvSpPr>
        <p:spPr>
          <a:xfrm>
            <a:off x="323697" y="2551175"/>
            <a:ext cx="2649300" cy="2157900"/>
          </a:xfrm>
          <a:prstGeom prst="roundRect">
            <a:avLst>
              <a:gd fmla="val 6779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94"/>
          <p:cNvSpPr/>
          <p:nvPr/>
        </p:nvSpPr>
        <p:spPr>
          <a:xfrm>
            <a:off x="588873" y="2798063"/>
            <a:ext cx="603600" cy="6036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sentation_FFFFFF.png" id="2369" name="Google Shape;236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679" y="2936869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2370" name="Google Shape;2370;p94"/>
          <p:cNvSpPr txBox="1"/>
          <p:nvPr/>
        </p:nvSpPr>
        <p:spPr>
          <a:xfrm>
            <a:off x="598017" y="3529583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DEFESA</a:t>
            </a:r>
            <a:endParaRPr/>
          </a:p>
        </p:txBody>
      </p:sp>
      <p:sp>
        <p:nvSpPr>
          <p:cNvPr id="2371" name="Google Shape;2371;p94"/>
          <p:cNvSpPr txBox="1"/>
          <p:nvPr/>
        </p:nvSpPr>
        <p:spPr>
          <a:xfrm>
            <a:off x="598017" y="3739896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Deck do gerador</a:t>
            </a:r>
            <a:endParaRPr/>
          </a:p>
        </p:txBody>
      </p:sp>
      <p:sp>
        <p:nvSpPr>
          <p:cNvPr id="2372" name="Google Shape;2372;p94"/>
          <p:cNvSpPr txBox="1"/>
          <p:nvPr/>
        </p:nvSpPr>
        <p:spPr>
          <a:xfrm>
            <a:off x="598017" y="4087368"/>
            <a:ext cx="2146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Plano apresentado e geração ao vivo no fim.</a:t>
            </a:r>
            <a:endParaRPr/>
          </a:p>
        </p:txBody>
      </p:sp>
      <p:sp>
        <p:nvSpPr>
          <p:cNvPr id="2373" name="Google Shape;2373;p94"/>
          <p:cNvSpPr/>
          <p:nvPr/>
        </p:nvSpPr>
        <p:spPr>
          <a:xfrm>
            <a:off x="3247339" y="2551175"/>
            <a:ext cx="2649300" cy="2157900"/>
          </a:xfrm>
          <a:prstGeom prst="roundRect">
            <a:avLst>
              <a:gd fmla="val 6779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4" name="Google Shape;2374;p94"/>
          <p:cNvSpPr/>
          <p:nvPr/>
        </p:nvSpPr>
        <p:spPr>
          <a:xfrm>
            <a:off x="3512515" y="2798063"/>
            <a:ext cx="603600" cy="6036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words_FFFFFF.png" id="2375" name="Google Shape;2375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321" y="2936869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2376" name="Google Shape;2376;p94"/>
          <p:cNvSpPr txBox="1"/>
          <p:nvPr/>
        </p:nvSpPr>
        <p:spPr>
          <a:xfrm>
            <a:off x="3521659" y="3529583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ATAQUE</a:t>
            </a:r>
            <a:endParaRPr/>
          </a:p>
        </p:txBody>
      </p:sp>
      <p:sp>
        <p:nvSpPr>
          <p:cNvPr id="2377" name="Google Shape;2377;p94"/>
          <p:cNvSpPr txBox="1"/>
          <p:nvPr/>
        </p:nvSpPr>
        <p:spPr>
          <a:xfrm>
            <a:off x="3521659" y="3739896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2 cartas</a:t>
            </a:r>
            <a:endParaRPr/>
          </a:p>
        </p:txBody>
      </p:sp>
      <p:sp>
        <p:nvSpPr>
          <p:cNvPr id="2378" name="Google Shape;2378;p94"/>
          <p:cNvSpPr txBox="1"/>
          <p:nvPr/>
        </p:nvSpPr>
        <p:spPr>
          <a:xfrm>
            <a:off x="3521659" y="4087368"/>
            <a:ext cx="2146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Uma de pilar e uma de design, sorteadas.</a:t>
            </a:r>
            <a:endParaRPr/>
          </a:p>
        </p:txBody>
      </p:sp>
      <p:sp>
        <p:nvSpPr>
          <p:cNvPr id="2379" name="Google Shape;2379;p94"/>
          <p:cNvSpPr/>
          <p:nvPr/>
        </p:nvSpPr>
        <p:spPr>
          <a:xfrm>
            <a:off x="6170980" y="2551175"/>
            <a:ext cx="2649300" cy="2157900"/>
          </a:xfrm>
          <a:prstGeom prst="roundRect">
            <a:avLst>
              <a:gd fmla="val 6779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94"/>
          <p:cNvSpPr/>
          <p:nvPr/>
        </p:nvSpPr>
        <p:spPr>
          <a:xfrm>
            <a:off x="6436156" y="2798063"/>
            <a:ext cx="603600" cy="6036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avel_FFFFFF.png" id="2381" name="Google Shape;2381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962" y="2936869"/>
            <a:ext cx="325892" cy="325892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94"/>
          <p:cNvSpPr txBox="1"/>
          <p:nvPr/>
        </p:nvSpPr>
        <p:spPr>
          <a:xfrm>
            <a:off x="6445300" y="3529583"/>
            <a:ext cx="210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VEREDITO</a:t>
            </a:r>
            <a:endParaRPr/>
          </a:p>
        </p:txBody>
      </p:sp>
      <p:sp>
        <p:nvSpPr>
          <p:cNvPr id="2383" name="Google Shape;2383;p94"/>
          <p:cNvSpPr txBox="1"/>
          <p:nvPr/>
        </p:nvSpPr>
        <p:spPr>
          <a:xfrm>
            <a:off x="6445300" y="3739896"/>
            <a:ext cx="210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Instrutor anota</a:t>
            </a:r>
            <a:endParaRPr/>
          </a:p>
        </p:txBody>
      </p:sp>
      <p:sp>
        <p:nvSpPr>
          <p:cNvPr id="2384" name="Google Shape;2384;p94"/>
          <p:cNvSpPr txBox="1"/>
          <p:nvPr/>
        </p:nvSpPr>
        <p:spPr>
          <a:xfrm>
            <a:off x="6445300" y="4087368"/>
            <a:ext cx="2146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Nota pela rubrica, sem discussão na hora.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9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OS 6 SLIDES DA DEFESA</a:t>
            </a:r>
            <a:endParaRPr/>
          </a:p>
        </p:txBody>
      </p:sp>
      <p:sp>
        <p:nvSpPr>
          <p:cNvPr id="2390" name="Google Shape;2390;p9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391" name="Google Shape;2391;p95"/>
          <p:cNvSpPr/>
          <p:nvPr/>
        </p:nvSpPr>
        <p:spPr>
          <a:xfrm>
            <a:off x="323697" y="118872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p95"/>
          <p:cNvSpPr/>
          <p:nvPr/>
        </p:nvSpPr>
        <p:spPr>
          <a:xfrm>
            <a:off x="598017" y="143103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95"/>
          <p:cNvSpPr txBox="1"/>
          <p:nvPr/>
        </p:nvSpPr>
        <p:spPr>
          <a:xfrm>
            <a:off x="598017" y="14310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2394" name="Google Shape;2394;p95"/>
          <p:cNvSpPr txBox="1"/>
          <p:nvPr/>
        </p:nvSpPr>
        <p:spPr>
          <a:xfrm>
            <a:off x="1375257" y="118872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Capa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Grupo, caso e integrantes.</a:t>
            </a:r>
            <a:endParaRPr/>
          </a:p>
        </p:txBody>
      </p:sp>
      <p:sp>
        <p:nvSpPr>
          <p:cNvPr id="2395" name="Google Shape;2395;p95"/>
          <p:cNvSpPr/>
          <p:nvPr/>
        </p:nvSpPr>
        <p:spPr>
          <a:xfrm>
            <a:off x="4709160" y="118872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6" name="Google Shape;2396;p95"/>
          <p:cNvSpPr/>
          <p:nvPr/>
        </p:nvSpPr>
        <p:spPr>
          <a:xfrm>
            <a:off x="4983480" y="143103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7" name="Google Shape;2397;p95"/>
          <p:cNvSpPr txBox="1"/>
          <p:nvPr/>
        </p:nvSpPr>
        <p:spPr>
          <a:xfrm>
            <a:off x="4983480" y="14310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2398" name="Google Shape;2398;p95"/>
          <p:cNvSpPr txBox="1"/>
          <p:nvPr/>
        </p:nvSpPr>
        <p:spPr>
          <a:xfrm>
            <a:off x="5760720" y="118872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Problema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Usuário, pedido e restrições.</a:t>
            </a:r>
            <a:endParaRPr/>
          </a:p>
        </p:txBody>
      </p:sp>
      <p:sp>
        <p:nvSpPr>
          <p:cNvPr id="2399" name="Google Shape;2399;p95"/>
          <p:cNvSpPr/>
          <p:nvPr/>
        </p:nvSpPr>
        <p:spPr>
          <a:xfrm>
            <a:off x="323697" y="242316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0" name="Google Shape;2400;p95"/>
          <p:cNvSpPr/>
          <p:nvPr/>
        </p:nvSpPr>
        <p:spPr>
          <a:xfrm>
            <a:off x="598017" y="266547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95"/>
          <p:cNvSpPr txBox="1"/>
          <p:nvPr/>
        </p:nvSpPr>
        <p:spPr>
          <a:xfrm>
            <a:off x="598017" y="266547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2402" name="Google Shape;2402;p95"/>
          <p:cNvSpPr txBox="1"/>
          <p:nvPr/>
        </p:nvSpPr>
        <p:spPr>
          <a:xfrm>
            <a:off x="1375257" y="242316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Padrão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Workflow ou agente, e por quê.</a:t>
            </a:r>
            <a:endParaRPr/>
          </a:p>
        </p:txBody>
      </p:sp>
      <p:sp>
        <p:nvSpPr>
          <p:cNvPr id="2403" name="Google Shape;2403;p95"/>
          <p:cNvSpPr/>
          <p:nvPr/>
        </p:nvSpPr>
        <p:spPr>
          <a:xfrm>
            <a:off x="4709160" y="242316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95"/>
          <p:cNvSpPr/>
          <p:nvPr/>
        </p:nvSpPr>
        <p:spPr>
          <a:xfrm>
            <a:off x="4983480" y="266547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95"/>
          <p:cNvSpPr txBox="1"/>
          <p:nvPr/>
        </p:nvSpPr>
        <p:spPr>
          <a:xfrm>
            <a:off x="4983480" y="266547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406" name="Google Shape;2406;p95"/>
          <p:cNvSpPr txBox="1"/>
          <p:nvPr/>
        </p:nvSpPr>
        <p:spPr>
          <a:xfrm>
            <a:off x="5760720" y="242316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Arquitetura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PNG gerado pela skill da manhã.</a:t>
            </a:r>
            <a:endParaRPr/>
          </a:p>
        </p:txBody>
      </p:sp>
      <p:sp>
        <p:nvSpPr>
          <p:cNvPr id="2407" name="Google Shape;2407;p95"/>
          <p:cNvSpPr/>
          <p:nvPr/>
        </p:nvSpPr>
        <p:spPr>
          <a:xfrm>
            <a:off x="323697" y="365760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Google Shape;2408;p95"/>
          <p:cNvSpPr/>
          <p:nvPr/>
        </p:nvSpPr>
        <p:spPr>
          <a:xfrm>
            <a:off x="598017" y="389991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p95"/>
          <p:cNvSpPr txBox="1"/>
          <p:nvPr/>
        </p:nvSpPr>
        <p:spPr>
          <a:xfrm>
            <a:off x="598017" y="389991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2410" name="Google Shape;2410;p95"/>
          <p:cNvSpPr txBox="1"/>
          <p:nvPr/>
        </p:nvSpPr>
        <p:spPr>
          <a:xfrm>
            <a:off x="1375257" y="365760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Governança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Guardrails, dados e segredos.</a:t>
            </a:r>
            <a:endParaRPr/>
          </a:p>
        </p:txBody>
      </p:sp>
      <p:sp>
        <p:nvSpPr>
          <p:cNvPr id="2411" name="Google Shape;2411;p95"/>
          <p:cNvSpPr/>
          <p:nvPr/>
        </p:nvSpPr>
        <p:spPr>
          <a:xfrm>
            <a:off x="4709160" y="365760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95"/>
          <p:cNvSpPr/>
          <p:nvPr/>
        </p:nvSpPr>
        <p:spPr>
          <a:xfrm>
            <a:off x="4983480" y="389991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3" name="Google Shape;2413;p95"/>
          <p:cNvSpPr txBox="1"/>
          <p:nvPr/>
        </p:nvSpPr>
        <p:spPr>
          <a:xfrm>
            <a:off x="4983480" y="389991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/>
          </a:p>
        </p:txBody>
      </p:sp>
      <p:sp>
        <p:nvSpPr>
          <p:cNvPr id="2414" name="Google Shape;2414;p95"/>
          <p:cNvSpPr txBox="1"/>
          <p:nvPr/>
        </p:nvSpPr>
        <p:spPr>
          <a:xfrm>
            <a:off x="5760720" y="365760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Custo e métrica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Quanto custa e como medir.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p96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CARTAS DE ATAQUE</a:t>
            </a:r>
            <a:endParaRPr/>
          </a:p>
        </p:txBody>
      </p:sp>
      <p:sp>
        <p:nvSpPr>
          <p:cNvPr id="2420" name="Google Shape;2420;p96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421" name="Google Shape;2421;p96"/>
          <p:cNvSpPr/>
          <p:nvPr/>
        </p:nvSpPr>
        <p:spPr>
          <a:xfrm>
            <a:off x="323697" y="1188720"/>
            <a:ext cx="3246000" cy="3520500"/>
          </a:xfrm>
          <a:prstGeom prst="roundRect">
            <a:avLst>
              <a:gd fmla="val 4507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2" name="Google Shape;2422;p96"/>
          <p:cNvSpPr/>
          <p:nvPr/>
        </p:nvSpPr>
        <p:spPr>
          <a:xfrm>
            <a:off x="552297" y="1417320"/>
            <a:ext cx="548700" cy="5487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uilding2_FFFFFF.png" id="2423" name="Google Shape;2423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484" y="1543507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424" name="Google Shape;2424;p96"/>
          <p:cNvSpPr txBox="1"/>
          <p:nvPr/>
        </p:nvSpPr>
        <p:spPr>
          <a:xfrm>
            <a:off x="552297" y="210312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CARTA DE PILAR (SORTEIA 1)</a:t>
            </a:r>
            <a:endParaRPr/>
          </a:p>
        </p:txBody>
      </p:sp>
      <p:pic>
        <p:nvPicPr>
          <p:cNvPr descr="Settings_0E1D8E.png" id="2425" name="Google Shape;2425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297" y="24048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26" name="Google Shape;2426;p96"/>
          <p:cNvSpPr txBox="1"/>
          <p:nvPr/>
        </p:nvSpPr>
        <p:spPr>
          <a:xfrm>
            <a:off x="890625" y="237744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Excelência operacional</a:t>
            </a:r>
            <a:endParaRPr/>
          </a:p>
        </p:txBody>
      </p:sp>
      <p:pic>
        <p:nvPicPr>
          <p:cNvPr descr="ShieldCheck_0E1D8E.png" id="2427" name="Google Shape;2427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297" y="27797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28" name="Google Shape;2428;p96"/>
          <p:cNvSpPr txBox="1"/>
          <p:nvPr/>
        </p:nvSpPr>
        <p:spPr>
          <a:xfrm>
            <a:off x="890625" y="275234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Segurança</a:t>
            </a:r>
            <a:endParaRPr/>
          </a:p>
        </p:txBody>
      </p:sp>
      <p:pic>
        <p:nvPicPr>
          <p:cNvPr descr="LifeBuoy_0E1D8E.png" id="2429" name="Google Shape;2429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297" y="3154679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30" name="Google Shape;2430;p96"/>
          <p:cNvSpPr txBox="1"/>
          <p:nvPr/>
        </p:nvSpPr>
        <p:spPr>
          <a:xfrm>
            <a:off x="890625" y="3127248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Confiabilidade</a:t>
            </a:r>
            <a:endParaRPr/>
          </a:p>
        </p:txBody>
      </p:sp>
      <p:pic>
        <p:nvPicPr>
          <p:cNvPr descr="Gauge_0E1D8E.png" id="2431" name="Google Shape;2431;p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2297" y="3529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32" name="Google Shape;2432;p96"/>
          <p:cNvSpPr txBox="1"/>
          <p:nvPr/>
        </p:nvSpPr>
        <p:spPr>
          <a:xfrm>
            <a:off x="890625" y="350215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Eficiência de performance</a:t>
            </a:r>
            <a:endParaRPr/>
          </a:p>
        </p:txBody>
      </p:sp>
      <p:pic>
        <p:nvPicPr>
          <p:cNvPr descr="Coins_0E1D8E.png" id="2433" name="Google Shape;2433;p9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2297" y="39044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34" name="Google Shape;2434;p96"/>
          <p:cNvSpPr txBox="1"/>
          <p:nvPr/>
        </p:nvSpPr>
        <p:spPr>
          <a:xfrm>
            <a:off x="890625" y="387705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Custos</a:t>
            </a:r>
            <a:endParaRPr/>
          </a:p>
        </p:txBody>
      </p:sp>
      <p:pic>
        <p:nvPicPr>
          <p:cNvPr descr="Leaf_0E1D8E.png" id="2435" name="Google Shape;2435;p9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2297" y="42793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36" name="Google Shape;2436;p96"/>
          <p:cNvSpPr txBox="1"/>
          <p:nvPr/>
        </p:nvSpPr>
        <p:spPr>
          <a:xfrm>
            <a:off x="890625" y="425196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Sustentabilidade</a:t>
            </a:r>
            <a:endParaRPr/>
          </a:p>
        </p:txBody>
      </p:sp>
      <p:sp>
        <p:nvSpPr>
          <p:cNvPr id="2437" name="Google Shape;2437;p96"/>
          <p:cNvSpPr/>
          <p:nvPr/>
        </p:nvSpPr>
        <p:spPr>
          <a:xfrm>
            <a:off x="3798417" y="1188720"/>
            <a:ext cx="2419500" cy="1677900"/>
          </a:xfrm>
          <a:prstGeom prst="roundRect">
            <a:avLst>
              <a:gd fmla="val 7629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96"/>
          <p:cNvSpPr/>
          <p:nvPr/>
        </p:nvSpPr>
        <p:spPr>
          <a:xfrm>
            <a:off x="3981297" y="1371600"/>
            <a:ext cx="457200" cy="457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ntrast_FFFFFF.png" id="2439" name="Google Shape;2439;p9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86453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0" name="Google Shape;2440;p96"/>
          <p:cNvSpPr txBox="1"/>
          <p:nvPr/>
        </p:nvSpPr>
        <p:spPr>
          <a:xfrm>
            <a:off x="4575657" y="1371600"/>
            <a:ext cx="150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Contraste</a:t>
            </a:r>
            <a:endParaRPr/>
          </a:p>
        </p:txBody>
      </p:sp>
      <p:sp>
        <p:nvSpPr>
          <p:cNvPr id="2441" name="Google Shape;2441;p96"/>
          <p:cNvSpPr txBox="1"/>
          <p:nvPr/>
        </p:nvSpPr>
        <p:spPr>
          <a:xfrm>
            <a:off x="4027017" y="1965960"/>
            <a:ext cx="2007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Dá para ler no projetor? Qual a razão?</a:t>
            </a:r>
            <a:endParaRPr/>
          </a:p>
        </p:txBody>
      </p:sp>
      <p:sp>
        <p:nvSpPr>
          <p:cNvPr id="2442" name="Google Shape;2442;p96"/>
          <p:cNvSpPr/>
          <p:nvPr/>
        </p:nvSpPr>
        <p:spPr>
          <a:xfrm>
            <a:off x="6400800" y="1188720"/>
            <a:ext cx="2419500" cy="1677900"/>
          </a:xfrm>
          <a:prstGeom prst="roundRect">
            <a:avLst>
              <a:gd fmla="val 7629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3" name="Google Shape;2443;p96"/>
          <p:cNvSpPr/>
          <p:nvPr/>
        </p:nvSpPr>
        <p:spPr>
          <a:xfrm>
            <a:off x="6583680" y="137160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stOrdered_FFFFFF.png" id="2444" name="Google Shape;2444;p9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88836" y="1476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5" name="Google Shape;2445;p96"/>
          <p:cNvSpPr txBox="1"/>
          <p:nvPr/>
        </p:nvSpPr>
        <p:spPr>
          <a:xfrm>
            <a:off x="7178040" y="1371600"/>
            <a:ext cx="150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Hierarquia</a:t>
            </a:r>
            <a:endParaRPr/>
          </a:p>
        </p:txBody>
      </p:sp>
      <p:sp>
        <p:nvSpPr>
          <p:cNvPr id="2446" name="Google Shape;2446;p96"/>
          <p:cNvSpPr txBox="1"/>
          <p:nvPr/>
        </p:nvSpPr>
        <p:spPr>
          <a:xfrm>
            <a:off x="6629400" y="1965960"/>
            <a:ext cx="2007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que o olho vê primeiro? É o mais importante?</a:t>
            </a:r>
            <a:endParaRPr/>
          </a:p>
        </p:txBody>
      </p:sp>
      <p:sp>
        <p:nvSpPr>
          <p:cNvPr id="2447" name="Google Shape;2447;p96"/>
          <p:cNvSpPr/>
          <p:nvPr/>
        </p:nvSpPr>
        <p:spPr>
          <a:xfrm>
            <a:off x="3798417" y="3031236"/>
            <a:ext cx="2419500" cy="1677900"/>
          </a:xfrm>
          <a:prstGeom prst="roundRect">
            <a:avLst>
              <a:gd fmla="val 7629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96"/>
          <p:cNvSpPr/>
          <p:nvPr/>
        </p:nvSpPr>
        <p:spPr>
          <a:xfrm>
            <a:off x="3981297" y="3214116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py_FFFFFF.png" id="2449" name="Google Shape;2449;p9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086453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50" name="Google Shape;2450;p96"/>
          <p:cNvSpPr txBox="1"/>
          <p:nvPr/>
        </p:nvSpPr>
        <p:spPr>
          <a:xfrm>
            <a:off x="4575657" y="3214116"/>
            <a:ext cx="150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Consistência</a:t>
            </a:r>
            <a:endParaRPr/>
          </a:p>
        </p:txBody>
      </p:sp>
      <p:sp>
        <p:nvSpPr>
          <p:cNvPr id="2451" name="Google Shape;2451;p96"/>
          <p:cNvSpPr txBox="1"/>
          <p:nvPr/>
        </p:nvSpPr>
        <p:spPr>
          <a:xfrm>
            <a:off x="4027017" y="3808476"/>
            <a:ext cx="2007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Todo slide segue o mesmo padrão?</a:t>
            </a:r>
            <a:endParaRPr/>
          </a:p>
        </p:txBody>
      </p:sp>
      <p:sp>
        <p:nvSpPr>
          <p:cNvPr id="2452" name="Google Shape;2452;p96"/>
          <p:cNvSpPr/>
          <p:nvPr/>
        </p:nvSpPr>
        <p:spPr>
          <a:xfrm>
            <a:off x="6400800" y="3031236"/>
            <a:ext cx="2419500" cy="1677900"/>
          </a:xfrm>
          <a:prstGeom prst="roundRect">
            <a:avLst>
              <a:gd fmla="val 7629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96"/>
          <p:cNvSpPr/>
          <p:nvPr/>
        </p:nvSpPr>
        <p:spPr>
          <a:xfrm>
            <a:off x="6583680" y="3214116"/>
            <a:ext cx="457200" cy="4572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ssageSquareText_FFFFFF.png" id="2454" name="Google Shape;2454;p9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88836" y="33192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55" name="Google Shape;2455;p96"/>
          <p:cNvSpPr txBox="1"/>
          <p:nvPr/>
        </p:nvSpPr>
        <p:spPr>
          <a:xfrm>
            <a:off x="7178040" y="3214116"/>
            <a:ext cx="150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Conteúdo</a:t>
            </a:r>
            <a:endParaRPr/>
          </a:p>
        </p:txBody>
      </p:sp>
      <p:sp>
        <p:nvSpPr>
          <p:cNvPr id="2456" name="Google Shape;2456;p96"/>
          <p:cNvSpPr txBox="1"/>
          <p:nvPr/>
        </p:nvSpPr>
        <p:spPr>
          <a:xfrm>
            <a:off x="6629400" y="3808476"/>
            <a:ext cx="2007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Cada slide tem uma mensagem só?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97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RUBRICA E BÔNUS</a:t>
            </a:r>
            <a:endParaRPr/>
          </a:p>
        </p:txBody>
      </p:sp>
      <p:sp>
        <p:nvSpPr>
          <p:cNvPr id="2462" name="Google Shape;2462;p97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463" name="Google Shape;2463;p97"/>
          <p:cNvSpPr/>
          <p:nvPr/>
        </p:nvSpPr>
        <p:spPr>
          <a:xfrm>
            <a:off x="323697" y="1188720"/>
            <a:ext cx="5029200" cy="3520500"/>
          </a:xfrm>
          <a:prstGeom prst="roundRect">
            <a:avLst>
              <a:gd fmla="val 4155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4" name="Google Shape;2464;p97"/>
          <p:cNvSpPr txBox="1"/>
          <p:nvPr/>
        </p:nvSpPr>
        <p:spPr>
          <a:xfrm>
            <a:off x="552297" y="1353312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RUBRICA (100 PONTOS)</a:t>
            </a:r>
            <a:endParaRPr/>
          </a:p>
        </p:txBody>
      </p:sp>
      <p:pic>
        <p:nvPicPr>
          <p:cNvPr id="2465" name="Google Shape;246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137" y="1554480"/>
            <a:ext cx="4846200" cy="30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6" name="Google Shape;2466;p97"/>
          <p:cNvSpPr/>
          <p:nvPr/>
        </p:nvSpPr>
        <p:spPr>
          <a:xfrm>
            <a:off x="5627217" y="1188720"/>
            <a:ext cx="3193200" cy="3520500"/>
          </a:xfrm>
          <a:prstGeom prst="roundRect">
            <a:avLst>
              <a:gd fmla="val 4581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97"/>
          <p:cNvSpPr/>
          <p:nvPr/>
        </p:nvSpPr>
        <p:spPr>
          <a:xfrm>
            <a:off x="5855817" y="1417320"/>
            <a:ext cx="548700" cy="5487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ar_FFFFFF.png" id="2468" name="Google Shape;2468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2004" y="1543507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97"/>
          <p:cNvSpPr txBox="1"/>
          <p:nvPr/>
        </p:nvSpPr>
        <p:spPr>
          <a:xfrm>
            <a:off x="5855817" y="210312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BÔNUS</a:t>
            </a:r>
            <a:endParaRPr/>
          </a:p>
        </p:txBody>
      </p:sp>
      <p:sp>
        <p:nvSpPr>
          <p:cNvPr id="2470" name="Google Shape;2470;p97"/>
          <p:cNvSpPr txBox="1"/>
          <p:nvPr/>
        </p:nvSpPr>
        <p:spPr>
          <a:xfrm>
            <a:off x="5855817" y="2377440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+10</a:t>
            </a:r>
            <a:endParaRPr/>
          </a:p>
        </p:txBody>
      </p:sp>
      <p:sp>
        <p:nvSpPr>
          <p:cNvPr id="2471" name="Google Shape;2471;p97"/>
          <p:cNvSpPr txBox="1"/>
          <p:nvPr/>
        </p:nvSpPr>
        <p:spPr>
          <a:xfrm>
            <a:off x="6495897" y="2377440"/>
            <a:ext cx="218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Geração ao vivo no tribunal</a:t>
            </a:r>
            <a:endParaRPr/>
          </a:p>
        </p:txBody>
      </p:sp>
      <p:sp>
        <p:nvSpPr>
          <p:cNvPr id="2472" name="Google Shape;2472;p97"/>
          <p:cNvSpPr txBox="1"/>
          <p:nvPr/>
        </p:nvSpPr>
        <p:spPr>
          <a:xfrm>
            <a:off x="5855817" y="2926080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+5</a:t>
            </a:r>
            <a:endParaRPr/>
          </a:p>
        </p:txBody>
      </p:sp>
      <p:sp>
        <p:nvSpPr>
          <p:cNvPr id="2473" name="Google Shape;2473;p97"/>
          <p:cNvSpPr txBox="1"/>
          <p:nvPr/>
        </p:nvSpPr>
        <p:spPr>
          <a:xfrm>
            <a:off x="6495897" y="2926080"/>
            <a:ext cx="218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Teste automático de contraste</a:t>
            </a:r>
            <a:endParaRPr/>
          </a:p>
        </p:txBody>
      </p:sp>
      <p:sp>
        <p:nvSpPr>
          <p:cNvPr id="2474" name="Google Shape;2474;p97"/>
          <p:cNvSpPr txBox="1"/>
          <p:nvPr/>
        </p:nvSpPr>
        <p:spPr>
          <a:xfrm>
            <a:off x="5855817" y="3474720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+5</a:t>
            </a:r>
            <a:endParaRPr/>
          </a:p>
        </p:txBody>
      </p:sp>
      <p:sp>
        <p:nvSpPr>
          <p:cNvPr id="2475" name="Google Shape;2475;p97"/>
          <p:cNvSpPr txBox="1"/>
          <p:nvPr/>
        </p:nvSpPr>
        <p:spPr>
          <a:xfrm>
            <a:off x="6495897" y="3474720"/>
            <a:ext cx="218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Revisão cruzada sem ajuste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98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SPRINT 2: ROTEIRO</a:t>
            </a:r>
            <a:endParaRPr/>
          </a:p>
        </p:txBody>
      </p:sp>
      <p:sp>
        <p:nvSpPr>
          <p:cNvPr id="2481" name="Google Shape;2481;p98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482" name="Google Shape;2482;p98"/>
          <p:cNvSpPr/>
          <p:nvPr/>
        </p:nvSpPr>
        <p:spPr>
          <a:xfrm>
            <a:off x="323697" y="1188720"/>
            <a:ext cx="3154800" cy="255900"/>
          </a:xfrm>
          <a:prstGeom prst="roundRect">
            <a:avLst>
              <a:gd fmla="val 50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98"/>
          <p:cNvSpPr txBox="1"/>
          <p:nvPr/>
        </p:nvSpPr>
        <p:spPr>
          <a:xfrm>
            <a:off x="323697" y="1188720"/>
            <a:ext cx="315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15H40 ÀS 16H10  ·  REVISÃO CRUZADA 15H50</a:t>
            </a:r>
            <a:endParaRPr/>
          </a:p>
        </p:txBody>
      </p:sp>
      <p:sp>
        <p:nvSpPr>
          <p:cNvPr id="2484" name="Google Shape;2484;p98"/>
          <p:cNvSpPr/>
          <p:nvPr/>
        </p:nvSpPr>
        <p:spPr>
          <a:xfrm>
            <a:off x="323697" y="1536192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5" name="Google Shape;2485;p98"/>
          <p:cNvSpPr/>
          <p:nvPr/>
        </p:nvSpPr>
        <p:spPr>
          <a:xfrm>
            <a:off x="460857" y="1673352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p98"/>
          <p:cNvSpPr txBox="1"/>
          <p:nvPr/>
        </p:nvSpPr>
        <p:spPr>
          <a:xfrm>
            <a:off x="460857" y="1673352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RELATOR</a:t>
            </a:r>
            <a:endParaRPr/>
          </a:p>
        </p:txBody>
      </p:sp>
      <p:sp>
        <p:nvSpPr>
          <p:cNvPr id="2487" name="Google Shape;2487;p98"/>
          <p:cNvSpPr txBox="1"/>
          <p:nvPr/>
        </p:nvSpPr>
        <p:spPr>
          <a:xfrm>
            <a:off x="2061057" y="1536192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Fecha o deck.yaml e gera o deck com /gerador-slides</a:t>
            </a:r>
            <a:endParaRPr/>
          </a:p>
        </p:txBody>
      </p:sp>
      <p:sp>
        <p:nvSpPr>
          <p:cNvPr id="2488" name="Google Shape;2488;p98"/>
          <p:cNvSpPr/>
          <p:nvPr/>
        </p:nvSpPr>
        <p:spPr>
          <a:xfrm>
            <a:off x="323697" y="2167128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9" name="Google Shape;2489;p98"/>
          <p:cNvSpPr/>
          <p:nvPr/>
        </p:nvSpPr>
        <p:spPr>
          <a:xfrm>
            <a:off x="460857" y="2304288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98"/>
          <p:cNvSpPr txBox="1"/>
          <p:nvPr/>
        </p:nvSpPr>
        <p:spPr>
          <a:xfrm>
            <a:off x="460857" y="2304288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GUARDIÃO</a:t>
            </a:r>
            <a:endParaRPr/>
          </a:p>
        </p:txBody>
      </p:sp>
      <p:sp>
        <p:nvSpPr>
          <p:cNvPr id="2491" name="Google Shape;2491;p98"/>
          <p:cNvSpPr txBox="1"/>
          <p:nvPr/>
        </p:nvSpPr>
        <p:spPr>
          <a:xfrm>
            <a:off x="2061057" y="2167128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Revisão cruzada: confere o deck do grupo que vai atacar</a:t>
            </a:r>
            <a:endParaRPr/>
          </a:p>
        </p:txBody>
      </p:sp>
      <p:sp>
        <p:nvSpPr>
          <p:cNvPr id="2492" name="Google Shape;2492;p98"/>
          <p:cNvSpPr/>
          <p:nvPr/>
        </p:nvSpPr>
        <p:spPr>
          <a:xfrm>
            <a:off x="323697" y="2798063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98"/>
          <p:cNvSpPr/>
          <p:nvPr/>
        </p:nvSpPr>
        <p:spPr>
          <a:xfrm>
            <a:off x="460857" y="2935223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4" name="Google Shape;2494;p98"/>
          <p:cNvSpPr txBox="1"/>
          <p:nvPr/>
        </p:nvSpPr>
        <p:spPr>
          <a:xfrm>
            <a:off x="460857" y="2935223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PESQUISADOR</a:t>
            </a:r>
            <a:endParaRPr/>
          </a:p>
        </p:txBody>
      </p:sp>
      <p:sp>
        <p:nvSpPr>
          <p:cNvPr id="2495" name="Google Shape;2495;p98"/>
          <p:cNvSpPr txBox="1"/>
          <p:nvPr/>
        </p:nvSpPr>
        <p:spPr>
          <a:xfrm>
            <a:off x="2061057" y="2798063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Treina respostas com fonte para as cartas de pilar</a:t>
            </a:r>
            <a:endParaRPr/>
          </a:p>
        </p:txBody>
      </p:sp>
      <p:sp>
        <p:nvSpPr>
          <p:cNvPr id="2496" name="Google Shape;2496;p98"/>
          <p:cNvSpPr/>
          <p:nvPr/>
        </p:nvSpPr>
        <p:spPr>
          <a:xfrm>
            <a:off x="323697" y="3429000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98"/>
          <p:cNvSpPr/>
          <p:nvPr/>
        </p:nvSpPr>
        <p:spPr>
          <a:xfrm>
            <a:off x="460857" y="3566160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98"/>
          <p:cNvSpPr txBox="1"/>
          <p:nvPr/>
        </p:nvSpPr>
        <p:spPr>
          <a:xfrm>
            <a:off x="460857" y="3566160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DEV GERADOR</a:t>
            </a:r>
            <a:endParaRPr/>
          </a:p>
        </p:txBody>
      </p:sp>
      <p:sp>
        <p:nvSpPr>
          <p:cNvPr id="2499" name="Google Shape;2499;p98"/>
          <p:cNvSpPr txBox="1"/>
          <p:nvPr/>
        </p:nvSpPr>
        <p:spPr>
          <a:xfrm>
            <a:off x="2061057" y="3429000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Prepara a geração ao vivo: uma linha do YAML e gerar de novo</a:t>
            </a:r>
            <a:endParaRPr/>
          </a:p>
        </p:txBody>
      </p:sp>
      <p:sp>
        <p:nvSpPr>
          <p:cNvPr id="2500" name="Google Shape;2500;p98"/>
          <p:cNvSpPr/>
          <p:nvPr/>
        </p:nvSpPr>
        <p:spPr>
          <a:xfrm>
            <a:off x="323697" y="4059935"/>
            <a:ext cx="8496600" cy="548700"/>
          </a:xfrm>
          <a:prstGeom prst="roundRect">
            <a:avLst>
              <a:gd fmla="val 2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98"/>
          <p:cNvSpPr/>
          <p:nvPr/>
        </p:nvSpPr>
        <p:spPr>
          <a:xfrm>
            <a:off x="460857" y="4197095"/>
            <a:ext cx="1417200" cy="274200"/>
          </a:xfrm>
          <a:prstGeom prst="roundRect">
            <a:avLst>
              <a:gd fmla="val 50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2" name="Google Shape;2502;p98"/>
          <p:cNvSpPr txBox="1"/>
          <p:nvPr/>
        </p:nvSpPr>
        <p:spPr>
          <a:xfrm>
            <a:off x="460857" y="4197095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DEV VALIDADOR</a:t>
            </a:r>
            <a:endParaRPr/>
          </a:p>
        </p:txBody>
      </p:sp>
      <p:sp>
        <p:nvSpPr>
          <p:cNvPr id="2503" name="Google Shape;2503;p98"/>
          <p:cNvSpPr txBox="1"/>
          <p:nvPr/>
        </p:nvSpPr>
        <p:spPr>
          <a:xfrm>
            <a:off x="2061057" y="4059935"/>
            <a:ext cx="662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Push de tudo até 16h05 e fork para cada integrante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7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99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REVISÃO CRUZADA DE DESIGN</a:t>
            </a:r>
            <a:endParaRPr/>
          </a:p>
        </p:txBody>
      </p:sp>
      <p:sp>
        <p:nvSpPr>
          <p:cNvPr id="2509" name="Google Shape;2509;p99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510" name="Google Shape;2510;p99"/>
          <p:cNvSpPr/>
          <p:nvPr/>
        </p:nvSpPr>
        <p:spPr>
          <a:xfrm>
            <a:off x="323697" y="118872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1" name="Google Shape;2511;p99"/>
          <p:cNvSpPr/>
          <p:nvPr/>
        </p:nvSpPr>
        <p:spPr>
          <a:xfrm>
            <a:off x="598017" y="143103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2" name="Google Shape;2512;p99"/>
          <p:cNvSpPr txBox="1"/>
          <p:nvPr/>
        </p:nvSpPr>
        <p:spPr>
          <a:xfrm>
            <a:off x="598017" y="14310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2513" name="Google Shape;2513;p99"/>
          <p:cNvSpPr txBox="1"/>
          <p:nvPr/>
        </p:nvSpPr>
        <p:spPr>
          <a:xfrm>
            <a:off x="1375257" y="118872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Contraste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Todo texto legível no projetor.</a:t>
            </a:r>
            <a:endParaRPr/>
          </a:p>
        </p:txBody>
      </p:sp>
      <p:sp>
        <p:nvSpPr>
          <p:cNvPr id="2514" name="Google Shape;2514;p99"/>
          <p:cNvSpPr/>
          <p:nvPr/>
        </p:nvSpPr>
        <p:spPr>
          <a:xfrm>
            <a:off x="4709160" y="118872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5" name="Google Shape;2515;p99"/>
          <p:cNvSpPr/>
          <p:nvPr/>
        </p:nvSpPr>
        <p:spPr>
          <a:xfrm>
            <a:off x="4983480" y="143103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6" name="Google Shape;2516;p99"/>
          <p:cNvSpPr txBox="1"/>
          <p:nvPr/>
        </p:nvSpPr>
        <p:spPr>
          <a:xfrm>
            <a:off x="4983480" y="14310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2517" name="Google Shape;2517;p99"/>
          <p:cNvSpPr txBox="1"/>
          <p:nvPr/>
        </p:nvSpPr>
        <p:spPr>
          <a:xfrm>
            <a:off x="5760720" y="118872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Área segura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Nada encostando na borda.</a:t>
            </a:r>
            <a:endParaRPr/>
          </a:p>
        </p:txBody>
      </p:sp>
      <p:sp>
        <p:nvSpPr>
          <p:cNvPr id="2518" name="Google Shape;2518;p99"/>
          <p:cNvSpPr/>
          <p:nvPr/>
        </p:nvSpPr>
        <p:spPr>
          <a:xfrm>
            <a:off x="323697" y="242316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9" name="Google Shape;2519;p99"/>
          <p:cNvSpPr/>
          <p:nvPr/>
        </p:nvSpPr>
        <p:spPr>
          <a:xfrm>
            <a:off x="598017" y="266547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0" name="Google Shape;2520;p99"/>
          <p:cNvSpPr txBox="1"/>
          <p:nvPr/>
        </p:nvSpPr>
        <p:spPr>
          <a:xfrm>
            <a:off x="598017" y="266547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2521" name="Google Shape;2521;p99"/>
          <p:cNvSpPr txBox="1"/>
          <p:nvPr/>
        </p:nvSpPr>
        <p:spPr>
          <a:xfrm>
            <a:off x="1375257" y="242316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Consistência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Título e cores iguais em todos.</a:t>
            </a:r>
            <a:endParaRPr/>
          </a:p>
        </p:txBody>
      </p:sp>
      <p:sp>
        <p:nvSpPr>
          <p:cNvPr id="2522" name="Google Shape;2522;p99"/>
          <p:cNvSpPr/>
          <p:nvPr/>
        </p:nvSpPr>
        <p:spPr>
          <a:xfrm>
            <a:off x="4709160" y="242316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3" name="Google Shape;2523;p99"/>
          <p:cNvSpPr/>
          <p:nvPr/>
        </p:nvSpPr>
        <p:spPr>
          <a:xfrm>
            <a:off x="4983480" y="266547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4" name="Google Shape;2524;p99"/>
          <p:cNvSpPr txBox="1"/>
          <p:nvPr/>
        </p:nvSpPr>
        <p:spPr>
          <a:xfrm>
            <a:off x="4983480" y="266547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525" name="Google Shape;2525;p99"/>
          <p:cNvSpPr txBox="1"/>
          <p:nvPr/>
        </p:nvSpPr>
        <p:spPr>
          <a:xfrm>
            <a:off x="5760720" y="242316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Uma mensagem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Cada slide diz uma coisa só.</a:t>
            </a:r>
            <a:endParaRPr/>
          </a:p>
        </p:txBody>
      </p:sp>
      <p:sp>
        <p:nvSpPr>
          <p:cNvPr id="2526" name="Google Shape;2526;p99"/>
          <p:cNvSpPr/>
          <p:nvPr/>
        </p:nvSpPr>
        <p:spPr>
          <a:xfrm>
            <a:off x="323697" y="365760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7" name="Google Shape;2527;p99"/>
          <p:cNvSpPr/>
          <p:nvPr/>
        </p:nvSpPr>
        <p:spPr>
          <a:xfrm>
            <a:off x="598017" y="389991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8" name="Google Shape;2528;p99"/>
          <p:cNvSpPr txBox="1"/>
          <p:nvPr/>
        </p:nvSpPr>
        <p:spPr>
          <a:xfrm>
            <a:off x="598017" y="389991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2529" name="Google Shape;2529;p99"/>
          <p:cNvSpPr txBox="1"/>
          <p:nvPr/>
        </p:nvSpPr>
        <p:spPr>
          <a:xfrm>
            <a:off x="1375257" y="365760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Diagrama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PNG sem distorção e legível.</a:t>
            </a:r>
            <a:endParaRPr/>
          </a:p>
        </p:txBody>
      </p:sp>
      <p:sp>
        <p:nvSpPr>
          <p:cNvPr id="2530" name="Google Shape;2530;p99"/>
          <p:cNvSpPr/>
          <p:nvPr/>
        </p:nvSpPr>
        <p:spPr>
          <a:xfrm>
            <a:off x="4709160" y="3657600"/>
            <a:ext cx="4111200" cy="1051500"/>
          </a:xfrm>
          <a:prstGeom prst="roundRect">
            <a:avLst>
              <a:gd fmla="val 12173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99"/>
          <p:cNvSpPr/>
          <p:nvPr/>
        </p:nvSpPr>
        <p:spPr>
          <a:xfrm>
            <a:off x="4983480" y="389991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99"/>
          <p:cNvSpPr txBox="1"/>
          <p:nvPr/>
        </p:nvSpPr>
        <p:spPr>
          <a:xfrm>
            <a:off x="4983480" y="389991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/>
          </a:p>
        </p:txBody>
      </p:sp>
      <p:sp>
        <p:nvSpPr>
          <p:cNvPr id="2533" name="Google Shape;2533;p99"/>
          <p:cNvSpPr txBox="1"/>
          <p:nvPr/>
        </p:nvSpPr>
        <p:spPr>
          <a:xfrm>
            <a:off x="5760720" y="3657600"/>
            <a:ext cx="2831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Coerência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As 6 perguntas em ordem lógica.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7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100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ENSAIO DE 4 MINUTOS</a:t>
            </a:r>
            <a:endParaRPr/>
          </a:p>
        </p:txBody>
      </p:sp>
      <p:sp>
        <p:nvSpPr>
          <p:cNvPr id="2539" name="Google Shape;2539;p100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540" name="Google Shape;2540;p100"/>
          <p:cNvSpPr/>
          <p:nvPr/>
        </p:nvSpPr>
        <p:spPr>
          <a:xfrm>
            <a:off x="323697" y="2103120"/>
            <a:ext cx="1487700" cy="567000"/>
          </a:xfrm>
          <a:prstGeom prst="homePlate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100"/>
          <p:cNvSpPr txBox="1"/>
          <p:nvPr/>
        </p:nvSpPr>
        <p:spPr>
          <a:xfrm>
            <a:off x="506577" y="2103120"/>
            <a:ext cx="1103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/>
          </a:p>
        </p:txBody>
      </p:sp>
      <p:sp>
        <p:nvSpPr>
          <p:cNvPr id="2542" name="Google Shape;2542;p100"/>
          <p:cNvSpPr/>
          <p:nvPr/>
        </p:nvSpPr>
        <p:spPr>
          <a:xfrm>
            <a:off x="756666" y="143560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lag_C96A00.png" id="2543" name="Google Shape;254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440" y="15533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544" name="Google Shape;2544;p100"/>
          <p:cNvSpPr txBox="1"/>
          <p:nvPr/>
        </p:nvSpPr>
        <p:spPr>
          <a:xfrm>
            <a:off x="396849" y="2834640"/>
            <a:ext cx="12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Capa</a:t>
            </a:r>
            <a:endParaRPr/>
          </a:p>
        </p:txBody>
      </p:sp>
      <p:sp>
        <p:nvSpPr>
          <p:cNvPr id="2545" name="Google Shape;2545;p100"/>
          <p:cNvSpPr txBox="1"/>
          <p:nvPr/>
        </p:nvSpPr>
        <p:spPr>
          <a:xfrm>
            <a:off x="415137" y="3127248"/>
            <a:ext cx="119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10 s</a:t>
            </a:r>
            <a:endParaRPr/>
          </a:p>
        </p:txBody>
      </p:sp>
      <p:sp>
        <p:nvSpPr>
          <p:cNvPr id="2546" name="Google Shape;2546;p100"/>
          <p:cNvSpPr/>
          <p:nvPr/>
        </p:nvSpPr>
        <p:spPr>
          <a:xfrm>
            <a:off x="1747418" y="2103120"/>
            <a:ext cx="1487700" cy="567000"/>
          </a:xfrm>
          <a:prstGeom prst="chevron">
            <a:avLst>
              <a:gd fmla="val 28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p100"/>
          <p:cNvSpPr txBox="1"/>
          <p:nvPr/>
        </p:nvSpPr>
        <p:spPr>
          <a:xfrm>
            <a:off x="1930298" y="2103120"/>
            <a:ext cx="1103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/>
          </a:p>
        </p:txBody>
      </p:sp>
      <p:sp>
        <p:nvSpPr>
          <p:cNvPr id="2548" name="Google Shape;2548;p100"/>
          <p:cNvSpPr/>
          <p:nvPr/>
        </p:nvSpPr>
        <p:spPr>
          <a:xfrm>
            <a:off x="2180386" y="1435608"/>
            <a:ext cx="512100" cy="5121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_C71D81.png" id="2549" name="Google Shape;2549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8161" y="15533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550" name="Google Shape;2550;p100"/>
          <p:cNvSpPr txBox="1"/>
          <p:nvPr/>
        </p:nvSpPr>
        <p:spPr>
          <a:xfrm>
            <a:off x="1820570" y="2834640"/>
            <a:ext cx="12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Problema</a:t>
            </a:r>
            <a:endParaRPr/>
          </a:p>
        </p:txBody>
      </p:sp>
      <p:sp>
        <p:nvSpPr>
          <p:cNvPr id="2551" name="Google Shape;2551;p100"/>
          <p:cNvSpPr txBox="1"/>
          <p:nvPr/>
        </p:nvSpPr>
        <p:spPr>
          <a:xfrm>
            <a:off x="1838858" y="3127248"/>
            <a:ext cx="119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20 s</a:t>
            </a:r>
            <a:endParaRPr/>
          </a:p>
        </p:txBody>
      </p:sp>
      <p:sp>
        <p:nvSpPr>
          <p:cNvPr id="2552" name="Google Shape;2552;p100"/>
          <p:cNvSpPr/>
          <p:nvPr/>
        </p:nvSpPr>
        <p:spPr>
          <a:xfrm>
            <a:off x="3171139" y="2103120"/>
            <a:ext cx="1487700" cy="567000"/>
          </a:xfrm>
          <a:prstGeom prst="chevron">
            <a:avLst>
              <a:gd fmla="val 28000" name="adj"/>
            </a:avLst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100"/>
          <p:cNvSpPr txBox="1"/>
          <p:nvPr/>
        </p:nvSpPr>
        <p:spPr>
          <a:xfrm>
            <a:off x="3354019" y="2103120"/>
            <a:ext cx="1103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/>
          </a:p>
        </p:txBody>
      </p:sp>
      <p:sp>
        <p:nvSpPr>
          <p:cNvPr id="2554" name="Google Shape;2554;p100"/>
          <p:cNvSpPr/>
          <p:nvPr/>
        </p:nvSpPr>
        <p:spPr>
          <a:xfrm>
            <a:off x="3604107" y="1435608"/>
            <a:ext cx="512100" cy="5121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ute_85228B.png" id="2555" name="Google Shape;2555;p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1882" y="15533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556" name="Google Shape;2556;p100"/>
          <p:cNvSpPr txBox="1"/>
          <p:nvPr/>
        </p:nvSpPr>
        <p:spPr>
          <a:xfrm>
            <a:off x="3244291" y="2834640"/>
            <a:ext cx="12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Padrão</a:t>
            </a:r>
            <a:endParaRPr/>
          </a:p>
        </p:txBody>
      </p:sp>
      <p:sp>
        <p:nvSpPr>
          <p:cNvPr id="2557" name="Google Shape;2557;p100"/>
          <p:cNvSpPr txBox="1"/>
          <p:nvPr/>
        </p:nvSpPr>
        <p:spPr>
          <a:xfrm>
            <a:off x="3262579" y="3127248"/>
            <a:ext cx="119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40 s</a:t>
            </a:r>
            <a:endParaRPr/>
          </a:p>
        </p:txBody>
      </p:sp>
      <p:sp>
        <p:nvSpPr>
          <p:cNvPr id="2558" name="Google Shape;2558;p100"/>
          <p:cNvSpPr/>
          <p:nvPr/>
        </p:nvSpPr>
        <p:spPr>
          <a:xfrm>
            <a:off x="4594860" y="2103120"/>
            <a:ext cx="1487700" cy="567000"/>
          </a:xfrm>
          <a:prstGeom prst="chevron">
            <a:avLst>
              <a:gd fmla="val 28000" name="adj"/>
            </a:avLst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100"/>
          <p:cNvSpPr txBox="1"/>
          <p:nvPr/>
        </p:nvSpPr>
        <p:spPr>
          <a:xfrm>
            <a:off x="4777740" y="2103120"/>
            <a:ext cx="1103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/>
          </a:p>
        </p:txBody>
      </p:sp>
      <p:sp>
        <p:nvSpPr>
          <p:cNvPr id="2560" name="Google Shape;2560;p100"/>
          <p:cNvSpPr/>
          <p:nvPr/>
        </p:nvSpPr>
        <p:spPr>
          <a:xfrm>
            <a:off x="5027828" y="1435608"/>
            <a:ext cx="512100" cy="512100"/>
          </a:xfrm>
          <a:prstGeom prst="ellipse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_0E1D8E.png" id="2561" name="Google Shape;2561;p1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5603" y="15533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562" name="Google Shape;2562;p100"/>
          <p:cNvSpPr txBox="1"/>
          <p:nvPr/>
        </p:nvSpPr>
        <p:spPr>
          <a:xfrm>
            <a:off x="4668012" y="2834640"/>
            <a:ext cx="12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Arquitetura</a:t>
            </a:r>
            <a:endParaRPr/>
          </a:p>
        </p:txBody>
      </p:sp>
      <p:sp>
        <p:nvSpPr>
          <p:cNvPr id="2563" name="Google Shape;2563;p100"/>
          <p:cNvSpPr txBox="1"/>
          <p:nvPr/>
        </p:nvSpPr>
        <p:spPr>
          <a:xfrm>
            <a:off x="4686300" y="3127248"/>
            <a:ext cx="119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50 s</a:t>
            </a:r>
            <a:endParaRPr/>
          </a:p>
        </p:txBody>
      </p:sp>
      <p:sp>
        <p:nvSpPr>
          <p:cNvPr id="2564" name="Google Shape;2564;p100"/>
          <p:cNvSpPr/>
          <p:nvPr/>
        </p:nvSpPr>
        <p:spPr>
          <a:xfrm>
            <a:off x="6018580" y="2103120"/>
            <a:ext cx="1487700" cy="567000"/>
          </a:xfrm>
          <a:prstGeom prst="chevron">
            <a:avLst>
              <a:gd fmla="val 28000" name="adj"/>
            </a:avLst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5" name="Google Shape;2565;p100"/>
          <p:cNvSpPr txBox="1"/>
          <p:nvPr/>
        </p:nvSpPr>
        <p:spPr>
          <a:xfrm>
            <a:off x="6201460" y="2103120"/>
            <a:ext cx="1103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/>
          </a:p>
        </p:txBody>
      </p:sp>
      <p:sp>
        <p:nvSpPr>
          <p:cNvPr id="2566" name="Google Shape;2566;p100"/>
          <p:cNvSpPr/>
          <p:nvPr/>
        </p:nvSpPr>
        <p:spPr>
          <a:xfrm>
            <a:off x="6451549" y="1435608"/>
            <a:ext cx="512100" cy="512100"/>
          </a:xfrm>
          <a:prstGeom prst="ellipse">
            <a:avLst/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Check_C96A00.png" id="2567" name="Google Shape;2567;p1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9323" y="15533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568" name="Google Shape;2568;p100"/>
          <p:cNvSpPr txBox="1"/>
          <p:nvPr/>
        </p:nvSpPr>
        <p:spPr>
          <a:xfrm>
            <a:off x="6091732" y="2834640"/>
            <a:ext cx="12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Governança</a:t>
            </a:r>
            <a:endParaRPr/>
          </a:p>
        </p:txBody>
      </p:sp>
      <p:sp>
        <p:nvSpPr>
          <p:cNvPr id="2569" name="Google Shape;2569;p100"/>
          <p:cNvSpPr txBox="1"/>
          <p:nvPr/>
        </p:nvSpPr>
        <p:spPr>
          <a:xfrm>
            <a:off x="6110020" y="3127248"/>
            <a:ext cx="119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30 s</a:t>
            </a:r>
            <a:endParaRPr/>
          </a:p>
        </p:txBody>
      </p:sp>
      <p:sp>
        <p:nvSpPr>
          <p:cNvPr id="2570" name="Google Shape;2570;p100"/>
          <p:cNvSpPr/>
          <p:nvPr/>
        </p:nvSpPr>
        <p:spPr>
          <a:xfrm>
            <a:off x="7442301" y="2103120"/>
            <a:ext cx="1377900" cy="567000"/>
          </a:xfrm>
          <a:prstGeom prst="chevron">
            <a:avLst>
              <a:gd fmla="val 28000" name="adj"/>
            </a:avLst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1" name="Google Shape;2571;p100"/>
          <p:cNvSpPr txBox="1"/>
          <p:nvPr/>
        </p:nvSpPr>
        <p:spPr>
          <a:xfrm>
            <a:off x="7625181" y="2103120"/>
            <a:ext cx="1103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06</a:t>
            </a:r>
            <a:endParaRPr/>
          </a:p>
        </p:txBody>
      </p:sp>
      <p:sp>
        <p:nvSpPr>
          <p:cNvPr id="2572" name="Google Shape;2572;p100"/>
          <p:cNvSpPr/>
          <p:nvPr/>
        </p:nvSpPr>
        <p:spPr>
          <a:xfrm>
            <a:off x="7875270" y="1435608"/>
            <a:ext cx="512100" cy="512100"/>
          </a:xfrm>
          <a:prstGeom prst="ellipse">
            <a:avLst/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ins_C71D81.png" id="2573" name="Google Shape;2573;p10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93044" y="1553382"/>
            <a:ext cx="276514" cy="27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574" name="Google Shape;2574;p100"/>
          <p:cNvSpPr txBox="1"/>
          <p:nvPr/>
        </p:nvSpPr>
        <p:spPr>
          <a:xfrm>
            <a:off x="7515453" y="2834640"/>
            <a:ext cx="12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Custo e métrica</a:t>
            </a:r>
            <a:endParaRPr/>
          </a:p>
        </p:txBody>
      </p:sp>
      <p:sp>
        <p:nvSpPr>
          <p:cNvPr id="2575" name="Google Shape;2575;p100"/>
          <p:cNvSpPr txBox="1"/>
          <p:nvPr/>
        </p:nvSpPr>
        <p:spPr>
          <a:xfrm>
            <a:off x="7533741" y="3127248"/>
            <a:ext cx="119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30 s</a:t>
            </a:r>
            <a:endParaRPr/>
          </a:p>
        </p:txBody>
      </p:sp>
      <p:sp>
        <p:nvSpPr>
          <p:cNvPr id="2576" name="Google Shape;2576;p100"/>
          <p:cNvSpPr/>
          <p:nvPr/>
        </p:nvSpPr>
        <p:spPr>
          <a:xfrm>
            <a:off x="323697" y="3611880"/>
            <a:ext cx="8496600" cy="914400"/>
          </a:xfrm>
          <a:prstGeom prst="roundRect">
            <a:avLst>
              <a:gd fmla="val 16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7" name="Google Shape;2577;p100"/>
          <p:cNvSpPr/>
          <p:nvPr/>
        </p:nvSpPr>
        <p:spPr>
          <a:xfrm>
            <a:off x="506577" y="3840480"/>
            <a:ext cx="457200" cy="4572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ap_FFFFFF.png" id="2578" name="Google Shape;2578;p10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1733" y="39456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579" name="Google Shape;2579;p100"/>
          <p:cNvSpPr txBox="1"/>
          <p:nvPr/>
        </p:nvSpPr>
        <p:spPr>
          <a:xfrm>
            <a:off x="1192377" y="3611880"/>
            <a:ext cx="739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Último minuto, ao vivo: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mude uma linha do deck.yaml, salve e mostre o deck gerado de novo.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3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101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ORDEM DO TRIBUNAL</a:t>
            </a:r>
            <a:endParaRPr/>
          </a:p>
        </p:txBody>
      </p:sp>
      <p:sp>
        <p:nvSpPr>
          <p:cNvPr id="2585" name="Google Shape;2585;p101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586" name="Google Shape;2586;p101"/>
          <p:cNvSpPr/>
          <p:nvPr/>
        </p:nvSpPr>
        <p:spPr>
          <a:xfrm>
            <a:off x="323697" y="1188720"/>
            <a:ext cx="5074800" cy="512100"/>
          </a:xfrm>
          <a:prstGeom prst="roundRect">
            <a:avLst>
              <a:gd fmla="val 17857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7" name="Google Shape;2587;p101"/>
          <p:cNvSpPr txBox="1"/>
          <p:nvPr/>
        </p:nvSpPr>
        <p:spPr>
          <a:xfrm>
            <a:off x="488289" y="1188720"/>
            <a:ext cx="640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16:10</a:t>
            </a:r>
            <a:endParaRPr/>
          </a:p>
        </p:txBody>
      </p:sp>
      <p:sp>
        <p:nvSpPr>
          <p:cNvPr id="2588" name="Google Shape;2588;p101"/>
          <p:cNvSpPr txBox="1"/>
          <p:nvPr/>
        </p:nvSpPr>
        <p:spPr>
          <a:xfrm>
            <a:off x="1164945" y="1188720"/>
            <a:ext cx="3127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G1 defende · G2 ataca</a:t>
            </a:r>
            <a:endParaRPr/>
          </a:p>
        </p:txBody>
      </p:sp>
      <p:sp>
        <p:nvSpPr>
          <p:cNvPr id="2589" name="Google Shape;2589;p101"/>
          <p:cNvSpPr/>
          <p:nvPr/>
        </p:nvSpPr>
        <p:spPr>
          <a:xfrm>
            <a:off x="4374489" y="1325880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0" name="Google Shape;2590;p101"/>
          <p:cNvSpPr txBox="1"/>
          <p:nvPr/>
        </p:nvSpPr>
        <p:spPr>
          <a:xfrm>
            <a:off x="4374489" y="1325880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RODADA 1</a:t>
            </a:r>
            <a:endParaRPr/>
          </a:p>
        </p:txBody>
      </p:sp>
      <p:sp>
        <p:nvSpPr>
          <p:cNvPr id="2591" name="Google Shape;2591;p101"/>
          <p:cNvSpPr/>
          <p:nvPr/>
        </p:nvSpPr>
        <p:spPr>
          <a:xfrm>
            <a:off x="323697" y="1773936"/>
            <a:ext cx="5074800" cy="512100"/>
          </a:xfrm>
          <a:prstGeom prst="roundRect">
            <a:avLst>
              <a:gd fmla="val 17857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2" name="Google Shape;2592;p101"/>
          <p:cNvSpPr txBox="1"/>
          <p:nvPr/>
        </p:nvSpPr>
        <p:spPr>
          <a:xfrm>
            <a:off x="488289" y="1773936"/>
            <a:ext cx="640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16:19</a:t>
            </a:r>
            <a:endParaRPr/>
          </a:p>
        </p:txBody>
      </p:sp>
      <p:sp>
        <p:nvSpPr>
          <p:cNvPr id="2593" name="Google Shape;2593;p101"/>
          <p:cNvSpPr txBox="1"/>
          <p:nvPr/>
        </p:nvSpPr>
        <p:spPr>
          <a:xfrm>
            <a:off x="1164945" y="1773936"/>
            <a:ext cx="3127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G2 defende · G3 ataca</a:t>
            </a:r>
            <a:endParaRPr/>
          </a:p>
        </p:txBody>
      </p:sp>
      <p:sp>
        <p:nvSpPr>
          <p:cNvPr id="2594" name="Google Shape;2594;p101"/>
          <p:cNvSpPr/>
          <p:nvPr/>
        </p:nvSpPr>
        <p:spPr>
          <a:xfrm>
            <a:off x="4374489" y="1911095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5" name="Google Shape;2595;p101"/>
          <p:cNvSpPr txBox="1"/>
          <p:nvPr/>
        </p:nvSpPr>
        <p:spPr>
          <a:xfrm>
            <a:off x="4374489" y="1911095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RODADA 2</a:t>
            </a:r>
            <a:endParaRPr/>
          </a:p>
        </p:txBody>
      </p:sp>
      <p:sp>
        <p:nvSpPr>
          <p:cNvPr id="2596" name="Google Shape;2596;p101"/>
          <p:cNvSpPr/>
          <p:nvPr/>
        </p:nvSpPr>
        <p:spPr>
          <a:xfrm>
            <a:off x="323697" y="2359152"/>
            <a:ext cx="5074800" cy="512100"/>
          </a:xfrm>
          <a:prstGeom prst="roundRect">
            <a:avLst>
              <a:gd fmla="val 17857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101"/>
          <p:cNvSpPr txBox="1"/>
          <p:nvPr/>
        </p:nvSpPr>
        <p:spPr>
          <a:xfrm>
            <a:off x="488289" y="2359152"/>
            <a:ext cx="640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16:28</a:t>
            </a:r>
            <a:endParaRPr/>
          </a:p>
        </p:txBody>
      </p:sp>
      <p:sp>
        <p:nvSpPr>
          <p:cNvPr id="2598" name="Google Shape;2598;p101"/>
          <p:cNvSpPr txBox="1"/>
          <p:nvPr/>
        </p:nvSpPr>
        <p:spPr>
          <a:xfrm>
            <a:off x="1164945" y="2359152"/>
            <a:ext cx="3127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G3 defende · G4 ataca</a:t>
            </a:r>
            <a:endParaRPr/>
          </a:p>
        </p:txBody>
      </p:sp>
      <p:sp>
        <p:nvSpPr>
          <p:cNvPr id="2599" name="Google Shape;2599;p101"/>
          <p:cNvSpPr/>
          <p:nvPr/>
        </p:nvSpPr>
        <p:spPr>
          <a:xfrm>
            <a:off x="4374489" y="2496312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101"/>
          <p:cNvSpPr txBox="1"/>
          <p:nvPr/>
        </p:nvSpPr>
        <p:spPr>
          <a:xfrm>
            <a:off x="4374489" y="2496312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RODADA 3</a:t>
            </a:r>
            <a:endParaRPr/>
          </a:p>
        </p:txBody>
      </p:sp>
      <p:sp>
        <p:nvSpPr>
          <p:cNvPr id="2601" name="Google Shape;2601;p101"/>
          <p:cNvSpPr/>
          <p:nvPr/>
        </p:nvSpPr>
        <p:spPr>
          <a:xfrm>
            <a:off x="323697" y="2944368"/>
            <a:ext cx="5074800" cy="512100"/>
          </a:xfrm>
          <a:prstGeom prst="roundRect">
            <a:avLst>
              <a:gd fmla="val 17857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2" name="Google Shape;2602;p101"/>
          <p:cNvSpPr txBox="1"/>
          <p:nvPr/>
        </p:nvSpPr>
        <p:spPr>
          <a:xfrm>
            <a:off x="488289" y="2944368"/>
            <a:ext cx="640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16:37</a:t>
            </a:r>
            <a:endParaRPr/>
          </a:p>
        </p:txBody>
      </p:sp>
      <p:sp>
        <p:nvSpPr>
          <p:cNvPr id="2603" name="Google Shape;2603;p101"/>
          <p:cNvSpPr txBox="1"/>
          <p:nvPr/>
        </p:nvSpPr>
        <p:spPr>
          <a:xfrm>
            <a:off x="1164945" y="2944368"/>
            <a:ext cx="3127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G4 defende · G5 ataca</a:t>
            </a:r>
            <a:endParaRPr/>
          </a:p>
        </p:txBody>
      </p:sp>
      <p:sp>
        <p:nvSpPr>
          <p:cNvPr id="2604" name="Google Shape;2604;p101"/>
          <p:cNvSpPr/>
          <p:nvPr/>
        </p:nvSpPr>
        <p:spPr>
          <a:xfrm>
            <a:off x="4374489" y="3081528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101"/>
          <p:cNvSpPr txBox="1"/>
          <p:nvPr/>
        </p:nvSpPr>
        <p:spPr>
          <a:xfrm>
            <a:off x="4374489" y="3081528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RODADA 4</a:t>
            </a:r>
            <a:endParaRPr/>
          </a:p>
        </p:txBody>
      </p:sp>
      <p:sp>
        <p:nvSpPr>
          <p:cNvPr id="2606" name="Google Shape;2606;p101"/>
          <p:cNvSpPr/>
          <p:nvPr/>
        </p:nvSpPr>
        <p:spPr>
          <a:xfrm>
            <a:off x="323697" y="3529584"/>
            <a:ext cx="5074800" cy="512100"/>
          </a:xfrm>
          <a:prstGeom prst="roundRect">
            <a:avLst>
              <a:gd fmla="val 17857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p101"/>
          <p:cNvSpPr txBox="1"/>
          <p:nvPr/>
        </p:nvSpPr>
        <p:spPr>
          <a:xfrm>
            <a:off x="488289" y="3529584"/>
            <a:ext cx="640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16:46</a:t>
            </a:r>
            <a:endParaRPr/>
          </a:p>
        </p:txBody>
      </p:sp>
      <p:sp>
        <p:nvSpPr>
          <p:cNvPr id="2608" name="Google Shape;2608;p101"/>
          <p:cNvSpPr txBox="1"/>
          <p:nvPr/>
        </p:nvSpPr>
        <p:spPr>
          <a:xfrm>
            <a:off x="1164945" y="3529584"/>
            <a:ext cx="3127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G5 defende · G1 ataca</a:t>
            </a:r>
            <a:endParaRPr/>
          </a:p>
        </p:txBody>
      </p:sp>
      <p:sp>
        <p:nvSpPr>
          <p:cNvPr id="2609" name="Google Shape;2609;p101"/>
          <p:cNvSpPr/>
          <p:nvPr/>
        </p:nvSpPr>
        <p:spPr>
          <a:xfrm>
            <a:off x="4374489" y="3666744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101"/>
          <p:cNvSpPr txBox="1"/>
          <p:nvPr/>
        </p:nvSpPr>
        <p:spPr>
          <a:xfrm>
            <a:off x="4374489" y="3666744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RODADA 5</a:t>
            </a:r>
            <a:endParaRPr/>
          </a:p>
        </p:txBody>
      </p:sp>
      <p:sp>
        <p:nvSpPr>
          <p:cNvPr id="2611" name="Google Shape;2611;p101"/>
          <p:cNvSpPr/>
          <p:nvPr/>
        </p:nvSpPr>
        <p:spPr>
          <a:xfrm>
            <a:off x="323697" y="4114800"/>
            <a:ext cx="5074800" cy="512100"/>
          </a:xfrm>
          <a:prstGeom prst="roundRect">
            <a:avLst>
              <a:gd fmla="val 17857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101"/>
          <p:cNvSpPr txBox="1"/>
          <p:nvPr/>
        </p:nvSpPr>
        <p:spPr>
          <a:xfrm>
            <a:off x="488289" y="4114800"/>
            <a:ext cx="640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16:55</a:t>
            </a:r>
            <a:endParaRPr/>
          </a:p>
        </p:txBody>
      </p:sp>
      <p:sp>
        <p:nvSpPr>
          <p:cNvPr id="2613" name="Google Shape;2613;p101"/>
          <p:cNvSpPr txBox="1"/>
          <p:nvPr/>
        </p:nvSpPr>
        <p:spPr>
          <a:xfrm>
            <a:off x="1164945" y="4114800"/>
            <a:ext cx="3127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Resultado e encerramento</a:t>
            </a:r>
            <a:endParaRPr/>
          </a:p>
        </p:txBody>
      </p:sp>
      <p:sp>
        <p:nvSpPr>
          <p:cNvPr id="2614" name="Google Shape;2614;p101"/>
          <p:cNvSpPr/>
          <p:nvPr/>
        </p:nvSpPr>
        <p:spPr>
          <a:xfrm>
            <a:off x="4374489" y="4251960"/>
            <a:ext cx="896100" cy="237600"/>
          </a:xfrm>
          <a:prstGeom prst="roundRect">
            <a:avLst>
              <a:gd fmla="val 50000" name="adj"/>
            </a:avLst>
          </a:prstGeom>
          <a:solidFill>
            <a:srgbClr val="F2F2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101"/>
          <p:cNvSpPr txBox="1"/>
          <p:nvPr/>
        </p:nvSpPr>
        <p:spPr>
          <a:xfrm>
            <a:off x="4374489" y="4251960"/>
            <a:ext cx="89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FIM</a:t>
            </a:r>
            <a:endParaRPr/>
          </a:p>
        </p:txBody>
      </p:sp>
      <p:sp>
        <p:nvSpPr>
          <p:cNvPr id="2616" name="Google Shape;2616;p101"/>
          <p:cNvSpPr/>
          <p:nvPr/>
        </p:nvSpPr>
        <p:spPr>
          <a:xfrm>
            <a:off x="5623560" y="1188720"/>
            <a:ext cx="3196800" cy="3447300"/>
          </a:xfrm>
          <a:prstGeom prst="roundRect">
            <a:avLst>
              <a:gd fmla="val 4576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7" name="Google Shape;2617;p101"/>
          <p:cNvSpPr/>
          <p:nvPr/>
        </p:nvSpPr>
        <p:spPr>
          <a:xfrm>
            <a:off x="5852160" y="1417319"/>
            <a:ext cx="640200" cy="6402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le_FFFFFF.png" id="2618" name="Google Shape;261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9378" y="1564538"/>
            <a:ext cx="345643" cy="345643"/>
          </a:xfrm>
          <a:prstGeom prst="rect">
            <a:avLst/>
          </a:prstGeom>
          <a:noFill/>
          <a:ln>
            <a:noFill/>
          </a:ln>
        </p:spPr>
      </p:pic>
      <p:sp>
        <p:nvSpPr>
          <p:cNvPr id="2619" name="Google Shape;2619;p101"/>
          <p:cNvSpPr txBox="1"/>
          <p:nvPr/>
        </p:nvSpPr>
        <p:spPr>
          <a:xfrm>
            <a:off x="5897880" y="2212848"/>
            <a:ext cx="273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REGRAS DA SALA</a:t>
            </a:r>
            <a:endParaRPr/>
          </a:p>
        </p:txBody>
      </p:sp>
      <p:sp>
        <p:nvSpPr>
          <p:cNvPr id="2620" name="Google Shape;2620;p101"/>
          <p:cNvSpPr txBox="1"/>
          <p:nvPr/>
        </p:nvSpPr>
        <p:spPr>
          <a:xfrm>
            <a:off x="5897880" y="2432304"/>
            <a:ext cx="273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Tribunal justo</a:t>
            </a:r>
            <a:endParaRPr/>
          </a:p>
        </p:txBody>
      </p:sp>
      <p:pic>
        <p:nvPicPr>
          <p:cNvPr descr="CircleCheck_C71D81.png" id="2621" name="Google Shape;2621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29443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22" name="Google Shape;2622;p101"/>
          <p:cNvSpPr txBox="1"/>
          <p:nvPr/>
        </p:nvSpPr>
        <p:spPr>
          <a:xfrm>
            <a:off x="6227064" y="2926080"/>
            <a:ext cx="23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Cronômetro visível</a:t>
            </a:r>
            <a:endParaRPr/>
          </a:p>
        </p:txBody>
      </p:sp>
      <p:pic>
        <p:nvPicPr>
          <p:cNvPr descr="CircleCheck_C71D81.png" id="2623" name="Google Shape;2623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3346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24" name="Google Shape;2624;p101"/>
          <p:cNvSpPr txBox="1"/>
          <p:nvPr/>
        </p:nvSpPr>
        <p:spPr>
          <a:xfrm>
            <a:off x="6227064" y="3328416"/>
            <a:ext cx="23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Deck só do gerador</a:t>
            </a:r>
            <a:endParaRPr/>
          </a:p>
        </p:txBody>
      </p:sp>
      <p:pic>
        <p:nvPicPr>
          <p:cNvPr descr="CircleCheck_C71D81.png" id="2625" name="Google Shape;2625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3749039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26" name="Google Shape;2626;p101"/>
          <p:cNvSpPr txBox="1"/>
          <p:nvPr/>
        </p:nvSpPr>
        <p:spPr>
          <a:xfrm>
            <a:off x="6227064" y="3730752"/>
            <a:ext cx="23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Qualquer um responde</a:t>
            </a:r>
            <a:endParaRPr/>
          </a:p>
        </p:txBody>
      </p:sp>
      <p:pic>
        <p:nvPicPr>
          <p:cNvPr descr="CircleCheck_C71D81.png" id="2627" name="Google Shape;2627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41513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28" name="Google Shape;2628;p101"/>
          <p:cNvSpPr txBox="1"/>
          <p:nvPr/>
        </p:nvSpPr>
        <p:spPr>
          <a:xfrm>
            <a:off x="6227064" y="4133088"/>
            <a:ext cx="23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Critica a ideia, não a pessoa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102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COMO ATACAR BEM</a:t>
            </a:r>
            <a:endParaRPr/>
          </a:p>
        </p:txBody>
      </p:sp>
      <p:sp>
        <p:nvSpPr>
          <p:cNvPr id="2634" name="Google Shape;2634;p102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635" name="Google Shape;2635;p102"/>
          <p:cNvSpPr/>
          <p:nvPr/>
        </p:nvSpPr>
        <p:spPr>
          <a:xfrm>
            <a:off x="323697" y="118872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6" name="Google Shape;2636;p102"/>
          <p:cNvSpPr/>
          <p:nvPr/>
        </p:nvSpPr>
        <p:spPr>
          <a:xfrm>
            <a:off x="598017" y="173964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F083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7" name="Google Shape;2637;p102"/>
          <p:cNvSpPr txBox="1"/>
          <p:nvPr/>
        </p:nvSpPr>
        <p:spPr>
          <a:xfrm>
            <a:off x="598017" y="173964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/>
          </a:p>
        </p:txBody>
      </p:sp>
      <p:sp>
        <p:nvSpPr>
          <p:cNvPr id="2638" name="Google Shape;2638;p102"/>
          <p:cNvSpPr txBox="1"/>
          <p:nvPr/>
        </p:nvSpPr>
        <p:spPr>
          <a:xfrm>
            <a:off x="1375257" y="118872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Pergunte o porquê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Por que agente e não workflow?</a:t>
            </a:r>
            <a:endParaRPr/>
          </a:p>
        </p:txBody>
      </p:sp>
      <p:sp>
        <p:nvSpPr>
          <p:cNvPr id="2639" name="Google Shape;2639;p102"/>
          <p:cNvSpPr/>
          <p:nvPr/>
        </p:nvSpPr>
        <p:spPr>
          <a:xfrm>
            <a:off x="4709160" y="118872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0" name="Google Shape;2640;p102"/>
          <p:cNvSpPr/>
          <p:nvPr/>
        </p:nvSpPr>
        <p:spPr>
          <a:xfrm>
            <a:off x="4983480" y="173964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C71D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1" name="Google Shape;2641;p102"/>
          <p:cNvSpPr txBox="1"/>
          <p:nvPr/>
        </p:nvSpPr>
        <p:spPr>
          <a:xfrm>
            <a:off x="4983480" y="173964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2642" name="Google Shape;2642;p102"/>
          <p:cNvSpPr txBox="1"/>
          <p:nvPr/>
        </p:nvSpPr>
        <p:spPr>
          <a:xfrm>
            <a:off x="5760720" y="118872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Peça a fonte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Onde a documentação diz isso?</a:t>
            </a:r>
            <a:endParaRPr/>
          </a:p>
        </p:txBody>
      </p:sp>
      <p:sp>
        <p:nvSpPr>
          <p:cNvPr id="2643" name="Google Shape;2643;p102"/>
          <p:cNvSpPr/>
          <p:nvPr/>
        </p:nvSpPr>
        <p:spPr>
          <a:xfrm>
            <a:off x="323697" y="304038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4" name="Google Shape;2644;p102"/>
          <p:cNvSpPr/>
          <p:nvPr/>
        </p:nvSpPr>
        <p:spPr>
          <a:xfrm>
            <a:off x="598017" y="359130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852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102"/>
          <p:cNvSpPr txBox="1"/>
          <p:nvPr/>
        </p:nvSpPr>
        <p:spPr>
          <a:xfrm>
            <a:off x="598017" y="359130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2646" name="Google Shape;2646;p102"/>
          <p:cNvSpPr txBox="1"/>
          <p:nvPr/>
        </p:nvSpPr>
        <p:spPr>
          <a:xfrm>
            <a:off x="1375257" y="304038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Peça o número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Qual o contraste? Quanto custa?</a:t>
            </a:r>
            <a:endParaRPr/>
          </a:p>
        </p:txBody>
      </p:sp>
      <p:sp>
        <p:nvSpPr>
          <p:cNvPr id="2647" name="Google Shape;2647;p102"/>
          <p:cNvSpPr/>
          <p:nvPr/>
        </p:nvSpPr>
        <p:spPr>
          <a:xfrm>
            <a:off x="4709160" y="3040380"/>
            <a:ext cx="4111200" cy="1668900"/>
          </a:xfrm>
          <a:prstGeom prst="roundRect">
            <a:avLst>
              <a:gd fmla="val 7671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102"/>
          <p:cNvSpPr/>
          <p:nvPr/>
        </p:nvSpPr>
        <p:spPr>
          <a:xfrm>
            <a:off x="4983480" y="3591306"/>
            <a:ext cx="567000" cy="56700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0E1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102"/>
          <p:cNvSpPr txBox="1"/>
          <p:nvPr/>
        </p:nvSpPr>
        <p:spPr>
          <a:xfrm>
            <a:off x="4983480" y="359130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650" name="Google Shape;2650;p102"/>
          <p:cNvSpPr txBox="1"/>
          <p:nvPr/>
        </p:nvSpPr>
        <p:spPr>
          <a:xfrm>
            <a:off x="5760720" y="3040380"/>
            <a:ext cx="28311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Uma pergunta por vez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Dê tempo para a resposta.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p103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RESULTADO</a:t>
            </a:r>
            <a:endParaRPr/>
          </a:p>
        </p:txBody>
      </p:sp>
      <p:sp>
        <p:nvSpPr>
          <p:cNvPr id="2656" name="Google Shape;2656;p103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657" name="Google Shape;2657;p103"/>
          <p:cNvSpPr/>
          <p:nvPr/>
        </p:nvSpPr>
        <p:spPr>
          <a:xfrm>
            <a:off x="323697" y="1188720"/>
            <a:ext cx="3566100" cy="3520500"/>
          </a:xfrm>
          <a:prstGeom prst="roundRect">
            <a:avLst>
              <a:gd fmla="val 4155" name="adj"/>
            </a:avLst>
          </a:prstGeom>
          <a:solidFill>
            <a:srgbClr val="F7F7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8" name="Google Shape;2658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617" y="1508760"/>
            <a:ext cx="2560200" cy="256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9" name="Google Shape;2659;p103"/>
          <p:cNvSpPr txBox="1"/>
          <p:nvPr/>
        </p:nvSpPr>
        <p:spPr>
          <a:xfrm>
            <a:off x="826617" y="1508760"/>
            <a:ext cx="25602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60/40</a:t>
            </a:r>
            <a:endParaRPr/>
          </a:p>
        </p:txBody>
      </p:sp>
      <p:sp>
        <p:nvSpPr>
          <p:cNvPr id="2660" name="Google Shape;2660;p103"/>
          <p:cNvSpPr txBox="1"/>
          <p:nvPr/>
        </p:nvSpPr>
        <p:spPr>
          <a:xfrm>
            <a:off x="506577" y="4160520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737474"/>
                </a:solidFill>
                <a:latin typeface="Lexend"/>
                <a:ea typeface="Lexend"/>
                <a:cs typeface="Lexend"/>
                <a:sym typeface="Lexend"/>
              </a:rPr>
              <a:t>instrutor · voto dos grupos</a:t>
            </a:r>
            <a:endParaRPr/>
          </a:p>
        </p:txBody>
      </p:sp>
      <p:sp>
        <p:nvSpPr>
          <p:cNvPr id="2661" name="Google Shape;2661;p103"/>
          <p:cNvSpPr/>
          <p:nvPr/>
        </p:nvSpPr>
        <p:spPr>
          <a:xfrm>
            <a:off x="4206240" y="120700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avel_85228B.png" id="2662" name="Google Shape;2662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2427" y="133319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663" name="Google Shape;2663;p103"/>
          <p:cNvSpPr txBox="1"/>
          <p:nvPr/>
        </p:nvSpPr>
        <p:spPr>
          <a:xfrm>
            <a:off x="4919472" y="1207008"/>
            <a:ext cx="388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60% INSTRUTOR</a:t>
            </a:r>
            <a:endParaRPr/>
          </a:p>
        </p:txBody>
      </p:sp>
      <p:sp>
        <p:nvSpPr>
          <p:cNvPr id="2664" name="Google Shape;2664;p103"/>
          <p:cNvSpPr txBox="1"/>
          <p:nvPr/>
        </p:nvSpPr>
        <p:spPr>
          <a:xfrm>
            <a:off x="4919472" y="1444752"/>
            <a:ext cx="388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Rubrica de 100 pontos e bônus</a:t>
            </a:r>
            <a:endParaRPr/>
          </a:p>
        </p:txBody>
      </p:sp>
      <p:sp>
        <p:nvSpPr>
          <p:cNvPr id="2665" name="Google Shape;2665;p103"/>
          <p:cNvSpPr/>
          <p:nvPr/>
        </p:nvSpPr>
        <p:spPr>
          <a:xfrm>
            <a:off x="4206240" y="207568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ote_85228B.png" id="2666" name="Google Shape;2666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2427" y="220187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103"/>
          <p:cNvSpPr txBox="1"/>
          <p:nvPr/>
        </p:nvSpPr>
        <p:spPr>
          <a:xfrm>
            <a:off x="4919472" y="2075688"/>
            <a:ext cx="388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40% GRUPOS</a:t>
            </a:r>
            <a:endParaRPr/>
          </a:p>
        </p:txBody>
      </p:sp>
      <p:sp>
        <p:nvSpPr>
          <p:cNvPr id="2668" name="Google Shape;2668;p103"/>
          <p:cNvSpPr txBox="1"/>
          <p:nvPr/>
        </p:nvSpPr>
        <p:spPr>
          <a:xfrm>
            <a:off x="4919472" y="2313432"/>
            <a:ext cx="388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3 pontos para os outros 4 grupos</a:t>
            </a:r>
            <a:endParaRPr/>
          </a:p>
        </p:txBody>
      </p:sp>
      <p:sp>
        <p:nvSpPr>
          <p:cNvPr id="2669" name="Google Shape;2669;p103"/>
          <p:cNvSpPr/>
          <p:nvPr/>
        </p:nvSpPr>
        <p:spPr>
          <a:xfrm>
            <a:off x="4206240" y="294436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n_85228B.png" id="2670" name="Google Shape;2670;p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2427" y="307055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671" name="Google Shape;2671;p103"/>
          <p:cNvSpPr txBox="1"/>
          <p:nvPr/>
        </p:nvSpPr>
        <p:spPr>
          <a:xfrm>
            <a:off x="4919472" y="2944368"/>
            <a:ext cx="388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SEM VOTO EM SI</a:t>
            </a:r>
            <a:endParaRPr/>
          </a:p>
        </p:txBody>
      </p:sp>
      <p:sp>
        <p:nvSpPr>
          <p:cNvPr id="2672" name="Google Shape;2672;p103"/>
          <p:cNvSpPr txBox="1"/>
          <p:nvPr/>
        </p:nvSpPr>
        <p:spPr>
          <a:xfrm>
            <a:off x="4919472" y="3182112"/>
            <a:ext cx="388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Nem troca combinada de votos</a:t>
            </a:r>
            <a:endParaRPr/>
          </a:p>
        </p:txBody>
      </p:sp>
      <p:sp>
        <p:nvSpPr>
          <p:cNvPr id="2673" name="Google Shape;2673;p103"/>
          <p:cNvSpPr/>
          <p:nvPr/>
        </p:nvSpPr>
        <p:spPr>
          <a:xfrm>
            <a:off x="4206240" y="3813048"/>
            <a:ext cx="548700" cy="548700"/>
          </a:xfrm>
          <a:prstGeom prst="ellipse">
            <a:avLst/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kedin_85228B.png" id="2674" name="Google Shape;2674;p10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2427" y="3939235"/>
            <a:ext cx="296265" cy="29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675" name="Google Shape;2675;p103"/>
          <p:cNvSpPr txBox="1"/>
          <p:nvPr/>
        </p:nvSpPr>
        <p:spPr>
          <a:xfrm>
            <a:off x="4919472" y="3813047"/>
            <a:ext cx="388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RECONHECIMENTO</a:t>
            </a:r>
            <a:endParaRPr/>
          </a:p>
        </p:txBody>
      </p:sp>
      <p:sp>
        <p:nvSpPr>
          <p:cNvPr id="2676" name="Google Shape;2676;p103"/>
          <p:cNvSpPr txBox="1"/>
          <p:nvPr/>
        </p:nvSpPr>
        <p:spPr>
          <a:xfrm>
            <a:off x="4919472" y="4050791"/>
            <a:ext cx="388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Post do SENAI com autorização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0" name="Shape 2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Google Shape;2681;p104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O QUE LEVAR PARA A SALA</a:t>
            </a:r>
            <a:endParaRPr/>
          </a:p>
        </p:txBody>
      </p:sp>
      <p:sp>
        <p:nvSpPr>
          <p:cNvPr id="2682" name="Google Shape;2682;p104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683" name="Google Shape;2683;p104"/>
          <p:cNvSpPr/>
          <p:nvPr/>
        </p:nvSpPr>
        <p:spPr>
          <a:xfrm>
            <a:off x="323697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4" name="Google Shape;2684;p104"/>
          <p:cNvSpPr/>
          <p:nvPr/>
        </p:nvSpPr>
        <p:spPr>
          <a:xfrm>
            <a:off x="534009" y="1399032"/>
            <a:ext cx="585300" cy="5853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sentation_FFFFFF.png" id="2685" name="Google Shape;268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609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86" name="Google Shape;2686;p104"/>
          <p:cNvSpPr txBox="1"/>
          <p:nvPr/>
        </p:nvSpPr>
        <p:spPr>
          <a:xfrm>
            <a:off x="1283817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FERRAMENTA</a:t>
            </a:r>
            <a:endParaRPr/>
          </a:p>
        </p:txBody>
      </p:sp>
      <p:sp>
        <p:nvSpPr>
          <p:cNvPr id="2687" name="Google Shape;2687;p104"/>
          <p:cNvSpPr txBox="1"/>
          <p:nvPr/>
        </p:nvSpPr>
        <p:spPr>
          <a:xfrm>
            <a:off x="1283817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de slides</a:t>
            </a:r>
            <a:endParaRPr/>
          </a:p>
        </p:txBody>
      </p:sp>
      <p:sp>
        <p:nvSpPr>
          <p:cNvPr id="2688" name="Google Shape;2688;p104"/>
          <p:cNvSpPr txBox="1"/>
          <p:nvPr/>
        </p:nvSpPr>
        <p:spPr>
          <a:xfrm>
            <a:off x="643737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EM SALA</a:t>
            </a:r>
            <a:endParaRPr/>
          </a:p>
        </p:txBody>
      </p:sp>
      <p:sp>
        <p:nvSpPr>
          <p:cNvPr id="2689" name="Google Shape;2689;p104"/>
          <p:cNvSpPr txBox="1"/>
          <p:nvPr/>
        </p:nvSpPr>
        <p:spPr>
          <a:xfrm>
            <a:off x="643737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Aulas no padrão da escola: troque os tokens e gere.</a:t>
            </a:r>
            <a:endParaRPr/>
          </a:p>
        </p:txBody>
      </p:sp>
      <p:sp>
        <p:nvSpPr>
          <p:cNvPr id="2690" name="Google Shape;2690;p104"/>
          <p:cNvSpPr/>
          <p:nvPr/>
        </p:nvSpPr>
        <p:spPr>
          <a:xfrm>
            <a:off x="4768596" y="118872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104"/>
          <p:cNvSpPr/>
          <p:nvPr/>
        </p:nvSpPr>
        <p:spPr>
          <a:xfrm>
            <a:off x="4978908" y="1399032"/>
            <a:ext cx="585300" cy="5853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Check_FFFFFF.png" id="2692" name="Google Shape;2692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3507" y="153363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93" name="Google Shape;2693;p104"/>
          <p:cNvSpPr txBox="1"/>
          <p:nvPr/>
        </p:nvSpPr>
        <p:spPr>
          <a:xfrm>
            <a:off x="5728716" y="146304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CRITÉRIO</a:t>
            </a:r>
            <a:endParaRPr/>
          </a:p>
        </p:txBody>
      </p:sp>
      <p:sp>
        <p:nvSpPr>
          <p:cNvPr id="2694" name="Google Shape;2694;p104"/>
          <p:cNvSpPr txBox="1"/>
          <p:nvPr/>
        </p:nvSpPr>
        <p:spPr>
          <a:xfrm>
            <a:off x="5728716" y="166420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Validador de design</a:t>
            </a:r>
            <a:endParaRPr/>
          </a:p>
        </p:txBody>
      </p:sp>
      <p:sp>
        <p:nvSpPr>
          <p:cNvPr id="2695" name="Google Shape;2695;p104"/>
          <p:cNvSpPr txBox="1"/>
          <p:nvPr/>
        </p:nvSpPr>
        <p:spPr>
          <a:xfrm>
            <a:off x="5088636" y="214884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EM SALA</a:t>
            </a:r>
            <a:endParaRPr/>
          </a:p>
        </p:txBody>
      </p:sp>
      <p:sp>
        <p:nvSpPr>
          <p:cNvPr id="2696" name="Google Shape;2696;p104"/>
          <p:cNvSpPr txBox="1"/>
          <p:nvPr/>
        </p:nvSpPr>
        <p:spPr>
          <a:xfrm>
            <a:off x="5088636" y="235000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Contraste e limites como regra objetiva de avaliação.</a:t>
            </a:r>
            <a:endParaRPr/>
          </a:p>
        </p:txBody>
      </p:sp>
      <p:sp>
        <p:nvSpPr>
          <p:cNvPr id="2697" name="Google Shape;2697;p104"/>
          <p:cNvSpPr/>
          <p:nvPr/>
        </p:nvSpPr>
        <p:spPr>
          <a:xfrm>
            <a:off x="323697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8" name="Google Shape;2698;p104"/>
          <p:cNvSpPr/>
          <p:nvPr/>
        </p:nvSpPr>
        <p:spPr>
          <a:xfrm>
            <a:off x="534009" y="3250692"/>
            <a:ext cx="585300" cy="5853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_FFFFFF.png" id="2699" name="Google Shape;2699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609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00" name="Google Shape;2700;p104"/>
          <p:cNvSpPr txBox="1"/>
          <p:nvPr/>
        </p:nvSpPr>
        <p:spPr>
          <a:xfrm>
            <a:off x="1283817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FERRAMENTA</a:t>
            </a:r>
            <a:endParaRPr/>
          </a:p>
        </p:txBody>
      </p:sp>
      <p:sp>
        <p:nvSpPr>
          <p:cNvPr id="2701" name="Google Shape;2701;p104"/>
          <p:cNvSpPr txBox="1"/>
          <p:nvPr/>
        </p:nvSpPr>
        <p:spPr>
          <a:xfrm>
            <a:off x="1283817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Gerador de arquiteturas</a:t>
            </a:r>
            <a:endParaRPr/>
          </a:p>
        </p:txBody>
      </p:sp>
      <p:sp>
        <p:nvSpPr>
          <p:cNvPr id="2702" name="Google Shape;2702;p104"/>
          <p:cNvSpPr txBox="1"/>
          <p:nvPr/>
        </p:nvSpPr>
        <p:spPr>
          <a:xfrm>
            <a:off x="643737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EM SALA</a:t>
            </a:r>
            <a:endParaRPr/>
          </a:p>
        </p:txBody>
      </p:sp>
      <p:sp>
        <p:nvSpPr>
          <p:cNvPr id="2703" name="Google Shape;2703;p104"/>
          <p:cNvSpPr txBox="1"/>
          <p:nvPr/>
        </p:nvSpPr>
        <p:spPr>
          <a:xfrm>
            <a:off x="643737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Diagramas AWS com ícones oficiais.</a:t>
            </a:r>
            <a:endParaRPr/>
          </a:p>
        </p:txBody>
      </p:sp>
      <p:sp>
        <p:nvSpPr>
          <p:cNvPr id="2704" name="Google Shape;2704;p104"/>
          <p:cNvSpPr/>
          <p:nvPr/>
        </p:nvSpPr>
        <p:spPr>
          <a:xfrm>
            <a:off x="4768596" y="3040380"/>
            <a:ext cx="4051800" cy="1668900"/>
          </a:xfrm>
          <a:prstGeom prst="roundRect">
            <a:avLst>
              <a:gd fmla="val 8767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5" name="Google Shape;2705;p104"/>
          <p:cNvSpPr/>
          <p:nvPr/>
        </p:nvSpPr>
        <p:spPr>
          <a:xfrm>
            <a:off x="4978908" y="3250692"/>
            <a:ext cx="585300" cy="5853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le_FFFFFF.png" id="2706" name="Google Shape;2706;p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13507" y="3385291"/>
            <a:ext cx="316016" cy="316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07" name="Google Shape;2707;p104"/>
          <p:cNvSpPr txBox="1"/>
          <p:nvPr/>
        </p:nvSpPr>
        <p:spPr>
          <a:xfrm>
            <a:off x="5728716" y="3314700"/>
            <a:ext cx="286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DINÂMICA</a:t>
            </a:r>
            <a:endParaRPr/>
          </a:p>
        </p:txBody>
      </p:sp>
      <p:sp>
        <p:nvSpPr>
          <p:cNvPr id="2708" name="Google Shape;2708;p104"/>
          <p:cNvSpPr txBox="1"/>
          <p:nvPr/>
        </p:nvSpPr>
        <p:spPr>
          <a:xfrm>
            <a:off x="5728716" y="3515868"/>
            <a:ext cx="286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Tribunal com rubrica</a:t>
            </a:r>
            <a:endParaRPr/>
          </a:p>
        </p:txBody>
      </p:sp>
      <p:sp>
        <p:nvSpPr>
          <p:cNvPr id="2709" name="Google Shape;2709;p104"/>
          <p:cNvSpPr txBox="1"/>
          <p:nvPr/>
        </p:nvSpPr>
        <p:spPr>
          <a:xfrm>
            <a:off x="5088636" y="4000500"/>
            <a:ext cx="3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EM SALA</a:t>
            </a:r>
            <a:endParaRPr/>
          </a:p>
        </p:txBody>
      </p:sp>
      <p:sp>
        <p:nvSpPr>
          <p:cNvPr id="2710" name="Google Shape;2710;p104"/>
          <p:cNvSpPr txBox="1"/>
          <p:nvPr/>
        </p:nvSpPr>
        <p:spPr>
          <a:xfrm>
            <a:off x="5088636" y="4201668"/>
            <a:ext cx="3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Defesa e ataque com nota objetiva.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4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p105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PRÓXIMOS PASSOS</a:t>
            </a:r>
            <a:endParaRPr/>
          </a:p>
        </p:txBody>
      </p:sp>
      <p:sp>
        <p:nvSpPr>
          <p:cNvPr id="2716" name="Google Shape;2716;p105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717" name="Google Shape;2717;p105"/>
          <p:cNvSpPr/>
          <p:nvPr/>
        </p:nvSpPr>
        <p:spPr>
          <a:xfrm>
            <a:off x="323697" y="1188720"/>
            <a:ext cx="1890900" cy="2514600"/>
          </a:xfrm>
          <a:prstGeom prst="roundRect">
            <a:avLst>
              <a:gd fmla="val 7736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8" name="Google Shape;2718;p105"/>
          <p:cNvSpPr/>
          <p:nvPr/>
        </p:nvSpPr>
        <p:spPr>
          <a:xfrm>
            <a:off x="940003" y="1426464"/>
            <a:ext cx="658500" cy="6585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on_FFFFFF.png" id="2719" name="Google Shape;2719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427" y="157788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20" name="Google Shape;2720;p105"/>
          <p:cNvSpPr txBox="1"/>
          <p:nvPr/>
        </p:nvSpPr>
        <p:spPr>
          <a:xfrm>
            <a:off x="460857" y="2194560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/>
          </a:p>
        </p:txBody>
      </p:sp>
      <p:sp>
        <p:nvSpPr>
          <p:cNvPr id="2721" name="Google Shape;2721;p105"/>
          <p:cNvSpPr txBox="1"/>
          <p:nvPr/>
        </p:nvSpPr>
        <p:spPr>
          <a:xfrm>
            <a:off x="460857" y="2414016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Tema escuro</a:t>
            </a:r>
            <a:endParaRPr/>
          </a:p>
        </p:txBody>
      </p:sp>
      <p:sp>
        <p:nvSpPr>
          <p:cNvPr id="2722" name="Google Shape;2722;p105"/>
          <p:cNvSpPr txBox="1"/>
          <p:nvPr/>
        </p:nvSpPr>
        <p:spPr>
          <a:xfrm>
            <a:off x="506577" y="2743200"/>
            <a:ext cx="152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Outro tokens.json, mesmo gerador</a:t>
            </a:r>
            <a:endParaRPr/>
          </a:p>
        </p:txBody>
      </p:sp>
      <p:cxnSp>
        <p:nvCxnSpPr>
          <p:cNvPr id="2723" name="Google Shape;2723;p105"/>
          <p:cNvCxnSpPr/>
          <p:nvPr/>
        </p:nvCxnSpPr>
        <p:spPr>
          <a:xfrm>
            <a:off x="2260396" y="1755648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24" name="Google Shape;2724;p105"/>
          <p:cNvSpPr/>
          <p:nvPr/>
        </p:nvSpPr>
        <p:spPr>
          <a:xfrm>
            <a:off x="2525572" y="1188720"/>
            <a:ext cx="1890900" cy="2514600"/>
          </a:xfrm>
          <a:prstGeom prst="roundRect">
            <a:avLst>
              <a:gd fmla="val 7736" name="adj"/>
            </a:avLst>
          </a:prstGeom>
          <a:solidFill>
            <a:srgbClr val="FBE8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105"/>
          <p:cNvSpPr/>
          <p:nvPr/>
        </p:nvSpPr>
        <p:spPr>
          <a:xfrm>
            <a:off x="3141878" y="1426464"/>
            <a:ext cx="658500" cy="658500"/>
          </a:xfrm>
          <a:prstGeom prst="ellipse">
            <a:avLst/>
          </a:prstGeom>
          <a:solidFill>
            <a:srgbClr val="C71D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Properties_FFFFFF.png" id="2726" name="Google Shape;2726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3303" y="157788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27" name="Google Shape;2727;p105"/>
          <p:cNvSpPr txBox="1"/>
          <p:nvPr/>
        </p:nvSpPr>
        <p:spPr>
          <a:xfrm>
            <a:off x="2662732" y="2194560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/>
          </a:p>
        </p:txBody>
      </p:sp>
      <p:sp>
        <p:nvSpPr>
          <p:cNvPr id="2728" name="Google Shape;2728;p105"/>
          <p:cNvSpPr txBox="1"/>
          <p:nvPr/>
        </p:nvSpPr>
        <p:spPr>
          <a:xfrm>
            <a:off x="2662732" y="2414016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Novos tipos</a:t>
            </a:r>
            <a:endParaRPr/>
          </a:p>
        </p:txBody>
      </p:sp>
      <p:sp>
        <p:nvSpPr>
          <p:cNvPr id="2729" name="Google Shape;2729;p105"/>
          <p:cNvSpPr txBox="1"/>
          <p:nvPr/>
        </p:nvSpPr>
        <p:spPr>
          <a:xfrm>
            <a:off x="2708452" y="2743200"/>
            <a:ext cx="152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Tabela, gráfico e código</a:t>
            </a:r>
            <a:endParaRPr/>
          </a:p>
        </p:txBody>
      </p:sp>
      <p:cxnSp>
        <p:nvCxnSpPr>
          <p:cNvPr id="2730" name="Google Shape;2730;p105"/>
          <p:cNvCxnSpPr/>
          <p:nvPr/>
        </p:nvCxnSpPr>
        <p:spPr>
          <a:xfrm>
            <a:off x="4462272" y="1755648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1" name="Google Shape;2731;p105"/>
          <p:cNvSpPr/>
          <p:nvPr/>
        </p:nvSpPr>
        <p:spPr>
          <a:xfrm>
            <a:off x="4727448" y="1188720"/>
            <a:ext cx="1890900" cy="2514600"/>
          </a:xfrm>
          <a:prstGeom prst="roundRect">
            <a:avLst>
              <a:gd fmla="val 7736" name="adj"/>
            </a:avLst>
          </a:prstGeom>
          <a:solidFill>
            <a:srgbClr val="F4E8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105"/>
          <p:cNvSpPr/>
          <p:nvPr/>
        </p:nvSpPr>
        <p:spPr>
          <a:xfrm>
            <a:off x="5343753" y="1426464"/>
            <a:ext cx="658500" cy="658500"/>
          </a:xfrm>
          <a:prstGeom prst="ellipse">
            <a:avLst/>
          </a:prstGeom>
          <a:solidFill>
            <a:srgbClr val="8522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Json_FFFFFF.png" id="2733" name="Google Shape;2733;p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5178" y="157788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34" name="Google Shape;2734;p105"/>
          <p:cNvSpPr txBox="1"/>
          <p:nvPr/>
        </p:nvSpPr>
        <p:spPr>
          <a:xfrm>
            <a:off x="4864608" y="2194560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85228B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/>
          </a:p>
        </p:txBody>
      </p:sp>
      <p:sp>
        <p:nvSpPr>
          <p:cNvPr id="2735" name="Google Shape;2735;p105"/>
          <p:cNvSpPr txBox="1"/>
          <p:nvPr/>
        </p:nvSpPr>
        <p:spPr>
          <a:xfrm>
            <a:off x="4864608" y="2414016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Tokens W3C</a:t>
            </a:r>
            <a:endParaRPr/>
          </a:p>
        </p:txBody>
      </p:sp>
      <p:sp>
        <p:nvSpPr>
          <p:cNvPr id="2736" name="Google Shape;2736;p105"/>
          <p:cNvSpPr txBox="1"/>
          <p:nvPr/>
        </p:nvSpPr>
        <p:spPr>
          <a:xfrm>
            <a:off x="4910328" y="2743200"/>
            <a:ext cx="152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Formato 2025.10 completo</a:t>
            </a:r>
            <a:endParaRPr/>
          </a:p>
        </p:txBody>
      </p:sp>
      <p:cxnSp>
        <p:nvCxnSpPr>
          <p:cNvPr id="2737" name="Google Shape;2737;p105"/>
          <p:cNvCxnSpPr/>
          <p:nvPr/>
        </p:nvCxnSpPr>
        <p:spPr>
          <a:xfrm>
            <a:off x="6664147" y="1755648"/>
            <a:ext cx="219600" cy="0"/>
          </a:xfrm>
          <a:prstGeom prst="straightConnector1">
            <a:avLst/>
          </a:prstGeom>
          <a:noFill/>
          <a:ln cap="flat" cmpd="sng" w="22225">
            <a:solidFill>
              <a:srgbClr val="73747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8" name="Google Shape;2738;p105"/>
          <p:cNvSpPr/>
          <p:nvPr/>
        </p:nvSpPr>
        <p:spPr>
          <a:xfrm>
            <a:off x="6929323" y="1188720"/>
            <a:ext cx="1890900" cy="2514600"/>
          </a:xfrm>
          <a:prstGeom prst="roundRect">
            <a:avLst>
              <a:gd fmla="val 7736" name="adj"/>
            </a:avLst>
          </a:prstGeom>
          <a:solidFill>
            <a:srgbClr val="E8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9" name="Google Shape;2739;p105"/>
          <p:cNvSpPr/>
          <p:nvPr/>
        </p:nvSpPr>
        <p:spPr>
          <a:xfrm>
            <a:off x="7545628" y="1426464"/>
            <a:ext cx="658500" cy="658500"/>
          </a:xfrm>
          <a:prstGeom prst="ellipse">
            <a:avLst/>
          </a:prstGeom>
          <a:solidFill>
            <a:srgbClr val="0E1D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cket_FFFFFF.png" id="2740" name="Google Shape;2740;p1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97053" y="1577888"/>
            <a:ext cx="355518" cy="35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41" name="Google Shape;2741;p105"/>
          <p:cNvSpPr txBox="1"/>
          <p:nvPr/>
        </p:nvSpPr>
        <p:spPr>
          <a:xfrm>
            <a:off x="7066483" y="2194560"/>
            <a:ext cx="16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PASSO 4</a:t>
            </a:r>
            <a:endParaRPr/>
          </a:p>
        </p:txBody>
      </p:sp>
      <p:sp>
        <p:nvSpPr>
          <p:cNvPr id="2742" name="Google Shape;2742;p105"/>
          <p:cNvSpPr txBox="1"/>
          <p:nvPr/>
        </p:nvSpPr>
        <p:spPr>
          <a:xfrm>
            <a:off x="7066483" y="2414016"/>
            <a:ext cx="16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300" u="none" cap="none" strike="noStrike">
                <a:solidFill>
                  <a:srgbClr val="0C0C0C"/>
                </a:solidFill>
                <a:latin typeface="Lexend"/>
                <a:ea typeface="Lexend"/>
                <a:cs typeface="Lexend"/>
                <a:sym typeface="Lexend"/>
              </a:rPr>
              <a:t>Plano vira agente</a:t>
            </a:r>
            <a:endParaRPr/>
          </a:p>
        </p:txBody>
      </p:sp>
      <p:sp>
        <p:nvSpPr>
          <p:cNvPr id="2743" name="Google Shape;2743;p105"/>
          <p:cNvSpPr txBox="1"/>
          <p:nvPr/>
        </p:nvSpPr>
        <p:spPr>
          <a:xfrm>
            <a:off x="7112203" y="2743200"/>
            <a:ext cx="152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Caminhos A e B do workshop</a:t>
            </a:r>
            <a:endParaRPr/>
          </a:p>
        </p:txBody>
      </p:sp>
      <p:sp>
        <p:nvSpPr>
          <p:cNvPr id="2744" name="Google Shape;2744;p105"/>
          <p:cNvSpPr/>
          <p:nvPr/>
        </p:nvSpPr>
        <p:spPr>
          <a:xfrm>
            <a:off x="323697" y="3886200"/>
            <a:ext cx="8496600" cy="822900"/>
          </a:xfrm>
          <a:prstGeom prst="roundRect">
            <a:avLst>
              <a:gd fmla="val 17777" name="adj"/>
            </a:avLst>
          </a:prstGeom>
          <a:solidFill>
            <a:srgbClr val="FEF1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105"/>
          <p:cNvSpPr/>
          <p:nvPr/>
        </p:nvSpPr>
        <p:spPr>
          <a:xfrm>
            <a:off x="506577" y="4069080"/>
            <a:ext cx="457200" cy="457200"/>
          </a:xfrm>
          <a:prstGeom prst="ellipse">
            <a:avLst/>
          </a:prstGeom>
          <a:solidFill>
            <a:srgbClr val="F083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eat_FFFFFF.png" id="2746" name="Google Shape;2746;p10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733" y="41742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747" name="Google Shape;2747;p105"/>
          <p:cNvSpPr txBox="1"/>
          <p:nvPr/>
        </p:nvSpPr>
        <p:spPr>
          <a:xfrm>
            <a:off x="1192377" y="3886200"/>
            <a:ext cx="7399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C96A00"/>
                </a:solidFill>
                <a:latin typeface="Lexend"/>
                <a:ea typeface="Lexend"/>
                <a:cs typeface="Lexend"/>
                <a:sym typeface="Lexend"/>
              </a:rPr>
              <a:t>Nada se perde: </a:t>
            </a:r>
            <a:r>
              <a:rPr b="0" i="0" lang="pt-BR" sz="11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o plano defendido hoje é a spec do agente de amanhã.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p106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pt-BR" sz="2200">
                <a:solidFill>
                  <a:srgbClr val="0E1D8E"/>
                </a:solidFill>
              </a:rPr>
              <a:t>Pesquisa de Aderência: Amazon Kiro</a:t>
            </a:r>
            <a:endParaRPr sz="2200">
              <a:solidFill>
                <a:srgbClr val="0E1D8E"/>
              </a:solidFill>
            </a:endParaRPr>
          </a:p>
        </p:txBody>
      </p:sp>
      <p:pic>
        <p:nvPicPr>
          <p:cNvPr id="2753" name="Google Shape;2753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5776" y="1120550"/>
            <a:ext cx="3230725" cy="31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4" name="Google Shape;2754;p106"/>
          <p:cNvSpPr txBox="1"/>
          <p:nvPr>
            <p:ph type="title"/>
          </p:nvPr>
        </p:nvSpPr>
        <p:spPr>
          <a:xfrm>
            <a:off x="324000" y="1676100"/>
            <a:ext cx="4242900" cy="17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900">
                <a:solidFill>
                  <a:srgbClr val="0E1D8E"/>
                </a:solidFill>
              </a:rPr>
              <a:t>Responda a pesquisa escaneando o QR Code e nos conte mais sobre a ferramenta Amazon Kiro</a:t>
            </a:r>
            <a:endParaRPr b="0" sz="1900">
              <a:solidFill>
                <a:srgbClr val="0E1D8E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8" name="Shape 2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Google Shape;2759;p107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FONTES DA MANHÃ</a:t>
            </a:r>
            <a:endParaRPr/>
          </a:p>
        </p:txBody>
      </p:sp>
      <p:sp>
        <p:nvSpPr>
          <p:cNvPr id="2760" name="Google Shape;2760;p107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761" name="Google Shape;2761;p107"/>
          <p:cNvSpPr txBox="1"/>
          <p:nvPr/>
        </p:nvSpPr>
        <p:spPr>
          <a:xfrm>
            <a:off x="323697" y="1188720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PAPERS E RELATÓRIOS</a:t>
            </a:r>
            <a:endParaRPr/>
          </a:p>
        </p:txBody>
      </p:sp>
      <p:sp>
        <p:nvSpPr>
          <p:cNvPr id="2762" name="Google Shape;2762;p107"/>
          <p:cNvSpPr txBox="1"/>
          <p:nvPr/>
        </p:nvSpPr>
        <p:spPr>
          <a:xfrm>
            <a:off x="323697" y="1481328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Peng et al. (2023). The Impact of AI on Developer Productivity. arXiv 2302.06590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Becker et al. (2025). Early-2025 AI and Developer Productivity (METR). arXiv 2507.09089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Spracklen et al. (2025). Package Hallucinations. USENIX Security. arXiv 2406.10279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Veracode (2025). GenAI Code Security Report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Mavin et al. (2009). Easy Approach to Requirements Syntax (EARS)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Collins Dictionary (2025). Word of the Year: vibe coding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AWS. Well-Architected Framework e Architecture Icons</a:t>
            </a:r>
            <a:endParaRPr/>
          </a:p>
        </p:txBody>
      </p:sp>
      <p:sp>
        <p:nvSpPr>
          <p:cNvPr id="2763" name="Google Shape;2763;p107"/>
          <p:cNvSpPr txBox="1"/>
          <p:nvPr/>
        </p:nvSpPr>
        <p:spPr>
          <a:xfrm>
            <a:off x="4754880" y="1188720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DOCUMENTAÇÃO OFICIAL</a:t>
            </a:r>
            <a:endParaRPr/>
          </a:p>
        </p:txBody>
      </p:sp>
      <p:sp>
        <p:nvSpPr>
          <p:cNvPr id="2764" name="Google Shape;2764;p107"/>
          <p:cNvSpPr txBox="1"/>
          <p:nvPr/>
        </p:nvSpPr>
        <p:spPr>
          <a:xfrm>
            <a:off x="4754880" y="1481328"/>
            <a:ext cx="4065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kiro.dev/blog: lançamento, GA e powers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kiro.dev/changelog/ide/1-0 (25/06/2026)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kiro.dev/blog/introducing-kiro-crew (04/08/2026)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kiro.dev/docs: steering, specs, hooks, skills, mcp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kiro.dev/pricing e kiro.dev/faq (16/09/2026)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awslabs.github.io/mcp: AWS Knowledge MCP Server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8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p108"/>
          <p:cNvSpPr txBox="1"/>
          <p:nvPr>
            <p:ph type="title"/>
          </p:nvPr>
        </p:nvSpPr>
        <p:spPr>
          <a:xfrm>
            <a:off x="323697" y="457200"/>
            <a:ext cx="630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pt-BR" sz="2200">
                <a:solidFill>
                  <a:srgbClr val="0E1D8E"/>
                </a:solidFill>
                <a:latin typeface="Lexend"/>
                <a:ea typeface="Lexend"/>
                <a:cs typeface="Lexend"/>
                <a:sym typeface="Lexend"/>
              </a:rPr>
              <a:t>FONTES DA TARDE</a:t>
            </a:r>
            <a:endParaRPr/>
          </a:p>
        </p:txBody>
      </p:sp>
      <p:sp>
        <p:nvSpPr>
          <p:cNvPr id="2770" name="Google Shape;2770;p108"/>
          <p:cNvSpPr txBox="1"/>
          <p:nvPr/>
        </p:nvSpPr>
        <p:spPr>
          <a:xfrm>
            <a:off x="323697" y="219456"/>
            <a:ext cx="5943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5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WORKSHOP KIRO E AGENTES NA AWS  ·  TARDE</a:t>
            </a:r>
            <a:endParaRPr/>
          </a:p>
        </p:txBody>
      </p:sp>
      <p:sp>
        <p:nvSpPr>
          <p:cNvPr id="2771" name="Google Shape;2771;p108"/>
          <p:cNvSpPr txBox="1"/>
          <p:nvPr/>
        </p:nvSpPr>
        <p:spPr>
          <a:xfrm>
            <a:off x="323697" y="1188720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PAPERS E REFERÊNCIAS</a:t>
            </a:r>
            <a:endParaRPr/>
          </a:p>
        </p:txBody>
      </p:sp>
      <p:sp>
        <p:nvSpPr>
          <p:cNvPr id="2772" name="Google Shape;2772;p108"/>
          <p:cNvSpPr txBox="1"/>
          <p:nvPr/>
        </p:nvSpPr>
        <p:spPr>
          <a:xfrm>
            <a:off x="323697" y="1481328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Ge et al. (2025). AutoPresent: Designing Structured Visuals from Scratch. arXiv 2501.00912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Zheng et al. (2025). PPTAgent: Generating and Evaluating Presentations Beyond Text-to-Slides. arXiv 2501.03936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Yao et al. (2023). ReAct. ICLR. arXiv 2210.03629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Anthropic (2024). Building effective agents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W3C. WCAG 2.2, critério 1.4.3 (contraste mínimo)</a:t>
            </a:r>
            <a:endParaRPr/>
          </a:p>
        </p:txBody>
      </p:sp>
      <p:sp>
        <p:nvSpPr>
          <p:cNvPr id="2773" name="Google Shape;2773;p108"/>
          <p:cNvSpPr txBox="1"/>
          <p:nvPr/>
        </p:nvSpPr>
        <p:spPr>
          <a:xfrm>
            <a:off x="4754880" y="1188720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C71D81"/>
                </a:solidFill>
                <a:latin typeface="Lexend"/>
                <a:ea typeface="Lexend"/>
                <a:cs typeface="Lexend"/>
                <a:sym typeface="Lexend"/>
              </a:rPr>
              <a:t>DOCUMENTAÇÃO</a:t>
            </a:r>
            <a:endParaRPr/>
          </a:p>
        </p:txBody>
      </p:sp>
      <p:sp>
        <p:nvSpPr>
          <p:cNvPr id="2774" name="Google Shape;2774;p108"/>
          <p:cNvSpPr txBox="1"/>
          <p:nvPr/>
        </p:nvSpPr>
        <p:spPr>
          <a:xfrm>
            <a:off x="4754880" y="1481328"/>
            <a:ext cx="4065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AWS Prescriptive Guidance: Agentic AI patterns and workflows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W3C Design Tokens Community Group: versão estável 2025.10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python-pptx 1.0.2 (PyPI e documentação)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kiro.dev/docs: skills, steering e hooks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awslabs.github.io/mcp: AWS Knowledge MCP Server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pt-BR" sz="950" u="none" cap="none" strike="noStrike">
                <a:solidFill>
                  <a:srgbClr val="3A3A40"/>
                </a:solidFill>
                <a:latin typeface="Lexend"/>
                <a:ea typeface="Lexend"/>
                <a:cs typeface="Lexend"/>
                <a:sym typeface="Lexend"/>
              </a:rPr>
              <a:t>AWS Well-Architected Framework: os 6 pilares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8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B 36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