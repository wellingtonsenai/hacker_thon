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108" Type="http://schemas.openxmlformats.org/officeDocument/2006/relationships/font" Target="fonts/LexendExtraBold-bold.fntdata"/><Relationship Id="rId109" Type="http://schemas.openxmlformats.org/officeDocument/2006/relationships/font" Target="fonts/LexendLight-regular.fntdata"/><Relationship Id="rId110" Type="http://schemas.openxmlformats.org/officeDocument/2006/relationships/font" Target="fonts/LexendLight-bold.fntdata"/><Relationship Id="rId111" Type="http://schemas.openxmlformats.org/officeDocument/2006/relationships/font" Target="fonts/Lexend-regular.fntdata"/><Relationship Id="rId112" Type="http://schemas.openxmlformats.org/officeDocument/2006/relationships/font" Target="fonts/Lexen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783080"/>
            <a:ext cx="7680960" cy="73152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200" b="1" i="0">
                <a:solidFill>
                  <a:srgbClr val="FFFFFF"/>
                </a:solidFill>
                <a:latin typeface="Lexend"/>
              </a:rPr>
              <a:t>ENERGIA SOLAR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600" b="0" i="0">
                <a:solidFill>
                  <a:srgbClr val="FFFFFF"/>
                </a:solidFill>
                <a:latin typeface="Lexend"/>
              </a:rPr>
              <a:t>Como o sol virou a fonte que mais cresce no 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 Light"/>
              </a:rPr>
              <a:t>Grupo 1  ·  LAB365 × SENAI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BLOCO 1: O RECURSO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su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Por que o sol é a fonte mais abundante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OS TRÊS PILARES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su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FONTE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Radiação 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Energia abundante e gratuita todos os dias.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859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399739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z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926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5539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CONVERSÃO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539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Painel fotovoltaico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9739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Transforma luz em eletricidade.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0021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292901" y="137160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battery-chargi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49778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78701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8701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Armazenamento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2901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Baterias guardam o excedente.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lightbu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Resumo: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fonte, conversão e uso formam o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DA LUZ À TOMADA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770632"/>
            <a:ext cx="2874874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770632"/>
            <a:ext cx="250911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1505102" y="210312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su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77" y="222089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474720"/>
            <a:ext cx="272857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Captação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767328"/>
            <a:ext cx="269199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Painéis recebem a luz</a:t>
            </a:r>
          </a:p>
        </p:txBody>
      </p:sp>
      <p:sp>
        <p:nvSpPr>
          <p:cNvPr id="10" name="Chevron 9"/>
          <p:cNvSpPr/>
          <p:nvPr/>
        </p:nvSpPr>
        <p:spPr>
          <a:xfrm>
            <a:off x="3134563" y="2770632"/>
            <a:ext cx="2874874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17443" y="2770632"/>
            <a:ext cx="250911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4315968" y="210312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z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743" y="222089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7715" y="3474720"/>
            <a:ext cx="272857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Conversão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6003" y="3767328"/>
            <a:ext cx="269199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Inversor gera corrente alternada</a:t>
            </a:r>
          </a:p>
        </p:txBody>
      </p:sp>
      <p:sp>
        <p:nvSpPr>
          <p:cNvPr id="16" name="Chevron 15"/>
          <p:cNvSpPr/>
          <p:nvPr/>
        </p:nvSpPr>
        <p:spPr>
          <a:xfrm>
            <a:off x="5945429" y="2770632"/>
            <a:ext cx="2874874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28309" y="2770632"/>
            <a:ext cx="250911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7126834" y="210312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plu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608" y="222089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18581" y="3474720"/>
            <a:ext cx="272857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Consumo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6869" y="3767328"/>
            <a:ext cx="269199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Energia chega à casa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O QUE OS NÚMEROS DIZEM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Oval 3"/>
          <p:cNvSpPr/>
          <p:nvPr/>
        </p:nvSpPr>
        <p:spPr>
          <a:xfrm>
            <a:off x="1762049" y="1325880"/>
            <a:ext cx="1234440" cy="1234440"/>
          </a:xfrm>
          <a:prstGeom prst="ellipse">
            <a:avLst/>
          </a:prstGeom>
          <a:noFill/>
          <a:ln w="88900">
            <a:solidFill>
              <a:srgbClr val="F0830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53489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96A00"/>
                </a:solidFill>
                <a:latin typeface="Lexend"/>
              </a:rP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78" y="2724912"/>
            <a:ext cx="374538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queda no custo dos painéis desde 2010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78" y="3273552"/>
            <a:ext cx="374538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IRENA, 2023</a:t>
            </a:r>
          </a:p>
        </p:txBody>
      </p:sp>
      <p:sp>
        <p:nvSpPr>
          <p:cNvPr id="8" name="Oval 7"/>
          <p:cNvSpPr/>
          <p:nvPr/>
        </p:nvSpPr>
        <p:spPr>
          <a:xfrm>
            <a:off x="6147511" y="1325880"/>
            <a:ext cx="1234440" cy="1234440"/>
          </a:xfrm>
          <a:prstGeom prst="ellipse">
            <a:avLst/>
          </a:prstGeom>
          <a:noFill/>
          <a:ln w="88900">
            <a:solidFill>
              <a:srgbClr val="C71D8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38951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71D81"/>
                </a:solidFill>
                <a:latin typeface="Lexend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724912"/>
            <a:ext cx="374538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anos de vida útil de um painel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FOTOVOLTAICA X TÉRMICA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050792" cy="3520440"/>
          </a:xfrm>
          <a:prstGeom prst="roundRect">
            <a:avLst>
              <a:gd name="adj" fmla="val 4155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44168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za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70355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ELETRICIDADE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Fotovoltaica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8" y="210312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Gera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3898" y="2103120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energia elétrica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8" y="252374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Eficiência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898" y="2523744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15 a 23%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9510" y="1188720"/>
            <a:ext cx="4050792" cy="3520440"/>
          </a:xfrm>
          <a:prstGeom prst="roundRect">
            <a:avLst>
              <a:gd name="adj" fmla="val 4155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952390" y="1344168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" name="icone:thermometer-su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8" y="1470355"/>
            <a:ext cx="296266" cy="296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38190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CALOR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8190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Térmica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3830" y="210312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Gera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9710" y="2103120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água quente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3830" y="252374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Custo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9710" y="2523744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mais baixo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660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3A3A40"/>
                </a:solidFill>
                <a:latin typeface="Lexend"/>
              </a:rPr>
              <a:t>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POR QUE ISSO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828800"/>
            <a:ext cx="8496605" cy="2011680"/>
          </a:xfrm>
          <a:prstGeom prst="roundRect">
            <a:avLst>
              <a:gd name="adj" fmla="val 6363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23698" y="1828800"/>
            <a:ext cx="822960" cy="2011680"/>
          </a:xfrm>
          <a:prstGeom prst="roundRect">
            <a:avLst>
              <a:gd name="adj" fmla="val 15555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2338" y="1828800"/>
            <a:ext cx="274320" cy="2011680"/>
          </a:xfrm>
          <a:prstGeom prst="rect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3698" y="1828800"/>
            <a:ext cx="82296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5400" b="1" i="0">
                <a:solidFill>
                  <a:srgbClr val="FFFFFF"/>
                </a:solidFill>
                <a:latin typeface="Lexend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258" y="1938528"/>
            <a:ext cx="7216445" cy="17922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lang="pt-BR" sz="1800" b="1" i="0">
                <a:solidFill>
                  <a:srgbClr val="0C0C0C"/>
                </a:solidFill>
                <a:latin typeface="Lexend"/>
              </a:rPr>
              <a:t>A energia solar é a eletricidade mais barata da história.</a:t>
            </a:r>
          </a:p>
          <a:p>
            <a:pPr algn="l">
              <a:lnSpc>
                <a:spcPct val="110000"/>
              </a:lnSpc>
            </a:pPr>
            <a:r>
              <a:rPr lang="pt-BR" sz="1100" b="0" i="0">
                <a:solidFill>
                  <a:srgbClr val="85228B"/>
                </a:solidFill>
                <a:latin typeface="Lexend"/>
              </a:rPr>
              <a:t>IEA, World Energy Outlook 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POR QUE ENERGIA SOLAR?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ENERGIA SOLAR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566928"/>
          </a:xfrm>
          <a:prstGeom prst="roundRect">
            <a:avLst>
              <a:gd name="adj" fmla="val 16129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33426" y="1261872"/>
            <a:ext cx="420624" cy="42062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circle-che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69" y="1358616"/>
            <a:ext cx="227137" cy="2271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8642" y="1188720"/>
            <a:ext cx="76187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Fonte renovável e inesgotável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8" y="1847088"/>
            <a:ext cx="8496605" cy="566928"/>
          </a:xfrm>
          <a:prstGeom prst="roundRect">
            <a:avLst>
              <a:gd name="adj" fmla="val 16129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33426" y="1920240"/>
            <a:ext cx="420624" cy="42062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" name="icone: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69" y="2016984"/>
            <a:ext cx="227137" cy="2271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8642" y="1847088"/>
            <a:ext cx="76187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Emissão zero na operação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8" y="2505456"/>
            <a:ext cx="8496605" cy="566928"/>
          </a:xfrm>
          <a:prstGeom prst="roundRect">
            <a:avLst>
              <a:gd name="adj" fmla="val 16129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3426" y="2578608"/>
            <a:ext cx="420624" cy="42062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icone: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69" y="2675352"/>
            <a:ext cx="227137" cy="2271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8642" y="2505456"/>
            <a:ext cx="76187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Custo caiu 90% desde 2010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6304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queda de custo desde 2010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Energia solar</dc:title>
  <cp:lastModifiedBy>python-pptx</cp:lastModifiedBy>
  <cp:revision>1</cp:revision>
  <dcterms:modified xsi:type="dcterms:W3CDTF">2026-09-24T20:03:41Z</dcterms:modified>
  <dc:creator/>
  <dc:subject>LAB365 × SENAI</dc:subject>
</cp:coreProperties>
</file>