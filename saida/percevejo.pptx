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4"/>
  </p:sldMasterIdLst>
  <p:notesMasterIdLst>
    <p:notesMasterId r:id="rId5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</p:sldIdLst>
  <p:sldSz cy="5143500" cx="9144000"/>
  <p:notesSz cx="6858000" cy="9144000"/>
  <p:embeddedFontLst>
    <p:embeddedFont>
      <p:font typeface="Lexend ExtraBold"/>
      <p:bold r:id="rId108"/>
    </p:embeddedFont>
    <p:embeddedFont>
      <p:font typeface="Lexend Light"/>
      <p:regular r:id="rId109"/>
      <p:bold r:id="rId110"/>
    </p:embeddedFont>
    <p:embeddedFont>
      <p:font typeface="Lexend"/>
      <p:regular r:id="rId111"/>
      <p:bold r:id="rId1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40">
          <p15:clr>
            <a:srgbClr val="747775"/>
          </p15:clr>
        </p15:guide>
        <p15:guide id="2" pos="204">
          <p15:clr>
            <a:srgbClr val="747775"/>
          </p15:clr>
        </p15:guide>
        <p15:guide id="3" pos="555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40" orient="horz"/>
        <p:guide pos="204"/>
        <p:guide pos="5556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108" Type="http://schemas.openxmlformats.org/officeDocument/2006/relationships/font" Target="fonts/LexendExtraBold-bold.fntdata"/><Relationship Id="rId109" Type="http://schemas.openxmlformats.org/officeDocument/2006/relationships/font" Target="fonts/LexendLight-regular.fntdata"/><Relationship Id="rId110" Type="http://schemas.openxmlformats.org/officeDocument/2006/relationships/font" Target="fonts/LexendLight-bold.fntdata"/><Relationship Id="rId111" Type="http://schemas.openxmlformats.org/officeDocument/2006/relationships/font" Target="fonts/Lexend-regular.fntdata"/><Relationship Id="rId112" Type="http://schemas.openxmlformats.org/officeDocument/2006/relationships/font" Target="fonts/Lexen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Boas-vindas. Este deck explora tudo sobre o percevejo: biologia, impacto na agricultura, curiosidades e estratégias de controle.</a:t>
            </a:r>
          </a:p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Vamos começar pela identidade do inseto — o que ele é e por que chama atenção.</a:t>
            </a:r>
          </a:p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Quatro cards cobrem os traços mais marcantes do inseto de forma direta.</a:t>
            </a:r>
          </a:p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Diagrama com a anatomia completa. Os passos ao lado guiam o olhar do público pelas partes mais relevantes do inseto.</a:t>
            </a:r>
          </a:p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Números concretos mostram escala e relevância econômica do inseto.</a:t>
            </a:r>
          </a:p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Agora vamos entender como o percevejo se desenvolve e se reproduz.</a:t>
            </a:r>
          </a:p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Diagrama circular mostra a metamorfose incompleta. O centro destaca os 45 dias de ciclo total em condições favoráveis.</a:t>
            </a:r>
          </a:p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Cinco etapas do ovo ao próximo ciclo, destacando a velocidade de reprodução.</a:t>
            </a:r>
          </a:p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Comparação direta entre as duas espécies mais relevantes para a agricultura.</a:t>
            </a:r>
          </a:p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Aqui entramos no impacto econômico e nas formas de combate ao inseto.</a:t>
            </a:r>
          </a:p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Citação forte com dado real da EMBRAPA ancora o bloco de impacto.</a:t>
            </a:r>
          </a:p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Cinco etapas do manejo integrado, da detecção ao controle sustentável.</a:t>
            </a:r>
          </a:p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Quatro curiosidades que surpreendem e tornam a apresentação memorável.</a:t>
            </a:r>
          </a:p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Fechamento com os três números mais impactantes do deck.</a:t>
            </a:r>
          </a:p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final com os logos LAB365 e SENAI.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56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5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a da Apresentação" type="title">
  <p:cSld name="TITLE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3903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title"/>
          </p:nvPr>
        </p:nvSpPr>
        <p:spPr>
          <a:xfrm>
            <a:off x="1527900" y="1576850"/>
            <a:ext cx="6088200" cy="11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Lexend"/>
              <a:buNone/>
              <a:defRPr b="1" sz="35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o da Apresentação">
  <p:cSld name="CUSTOM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39039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/>
          <p:nvPr>
            <p:ph type="title"/>
          </p:nvPr>
        </p:nvSpPr>
        <p:spPr>
          <a:xfrm>
            <a:off x="324000" y="527500"/>
            <a:ext cx="84738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just">
              <a:spcBef>
                <a:spcPts val="0"/>
              </a:spcBef>
              <a:spcAft>
                <a:spcPts val="0"/>
              </a:spcAft>
              <a:buClr>
                <a:srgbClr val="225FA7"/>
              </a:buClr>
              <a:buSzPts val="2500"/>
              <a:buFont typeface="Lexend"/>
              <a:buNone/>
              <a:defRPr b="1" sz="2500">
                <a:solidFill>
                  <a:srgbClr val="225FA7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324000" y="1344100"/>
            <a:ext cx="8473800" cy="32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25FA7"/>
              </a:buClr>
              <a:buSzPts val="1500"/>
              <a:buFont typeface="Lexend"/>
              <a:buNone/>
              <a:defRPr sz="1500">
                <a:solidFill>
                  <a:srgbClr val="225FA7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m da Apresentação">
  <p:cSld name="CUSTOM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39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m Extra da Apresentação">
  <p:cSld name="CUSTOM_1_1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39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5"/>
          <p:cNvPicPr preferRelativeResize="0"/>
          <p:nvPr/>
        </p:nvPicPr>
        <p:blipFill rotWithShape="1">
          <a:blip r:embed="rId3">
            <a:alphaModFix/>
          </a:blip>
          <a:srcRect b="43071" l="20157" r="47629" t="42274"/>
          <a:stretch/>
        </p:blipFill>
        <p:spPr>
          <a:xfrm>
            <a:off x="3063175" y="2183425"/>
            <a:ext cx="3017650" cy="77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ebra de Tema">
  <p:cSld name="CUSTOM_2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5991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6"/>
          <p:cNvSpPr txBox="1"/>
          <p:nvPr>
            <p:ph type="title"/>
          </p:nvPr>
        </p:nvSpPr>
        <p:spPr>
          <a:xfrm>
            <a:off x="1288200" y="2002350"/>
            <a:ext cx="6567600" cy="11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Lexend"/>
              <a:buNone/>
              <a:defRPr b="1" sz="3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urso Extra">
  <p:cSld name="CUSTOM_3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5193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7"/>
          <p:cNvSpPr txBox="1"/>
          <p:nvPr>
            <p:ph type="title"/>
          </p:nvPr>
        </p:nvSpPr>
        <p:spPr>
          <a:xfrm>
            <a:off x="1527900" y="2133750"/>
            <a:ext cx="6088200" cy="11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500"/>
              <a:buFont typeface="Lexend"/>
              <a:buNone/>
              <a:defRPr b="1" sz="2500">
                <a:solidFill>
                  <a:srgbClr val="666666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9.png"/><Relationship Id="rId7" Type="http://schemas.openxmlformats.org/officeDocument/2006/relationships/image" Target="../media/image8.png"/><Relationship Id="rId8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8.png"/><Relationship Id="rId8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5.png"/><Relationship Id="rId5" Type="http://schemas.openxmlformats.org/officeDocument/2006/relationships/image" Target="../media/image31.png"/><Relationship Id="rId6" Type="http://schemas.openxmlformats.org/officeDocument/2006/relationships/image" Target="../media/image8.png"/><Relationship Id="rId7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1783080"/>
            <a:ext cx="7680960" cy="731520"/>
          </a:xfrm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3200" b="1" i="0">
                <a:solidFill>
                  <a:srgbClr val="FFFFFF"/>
                </a:solidFill>
                <a:latin typeface="Lexend"/>
              </a:rPr>
              <a:t>PERCEVEJO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600" b="0" i="0">
                <a:solidFill>
                  <a:srgbClr val="FFFFFF"/>
                </a:solidFill>
                <a:latin typeface="Lexend"/>
              </a:rPr>
              <a:t>O inseto que cheira mal, mas tem muito a ensinar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100" b="0" i="0">
                <a:solidFill>
                  <a:srgbClr val="FFFFFF"/>
                </a:solidFill>
                <a:latin typeface="Lexend Light"/>
              </a:rPr>
              <a:t>Grupo 1  ·  LAB365 × SENAI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74520"/>
            <a:ext cx="7315200" cy="685800"/>
          </a:xfrm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3000" b="1" i="0">
                <a:solidFill>
                  <a:srgbClr val="FFFFFF"/>
                </a:solidFill>
                <a:latin typeface="Lexend"/>
              </a:rPr>
              <a:t>O QUE É O PERCEVEJO?</a:t>
            </a:r>
          </a:p>
        </p:txBody>
      </p:sp>
      <p:sp>
        <p:nvSpPr>
          <p:cNvPr id="3" name="Oval 2"/>
          <p:cNvSpPr/>
          <p:nvPr/>
        </p:nvSpPr>
        <p:spPr>
          <a:xfrm>
            <a:off x="4137660" y="75438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4" name="icone:bu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7456" y="954176"/>
            <a:ext cx="469087" cy="4690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6060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400" b="0" i="0">
                <a:solidFill>
                  <a:srgbClr val="FFFFFF"/>
                </a:solidFill>
                <a:latin typeface="Lexend"/>
              </a:rPr>
              <a:t>Taxonomia, anatomia e por que ele fede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698" y="457200"/>
            <a:ext cx="6309360" cy="475488"/>
          </a:xfrm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2200" b="1" i="0">
                <a:solidFill>
                  <a:srgbClr val="0E1D8E"/>
                </a:solidFill>
                <a:latin typeface="Lexend"/>
              </a:rPr>
              <a:t>IDENTIDADE DO PERCEVEJO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698" y="219456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750" b="1" i="0">
                <a:solidFill>
                  <a:srgbClr val="C71D81"/>
                </a:solidFill>
                <a:latin typeface="Lexend"/>
              </a:rPr>
              <a:t>ENTOMOLOGIA  ·  LAB365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3698" y="1188720"/>
            <a:ext cx="4156862" cy="1257300"/>
          </a:xfrm>
          <a:prstGeom prst="roundRect">
            <a:avLst>
              <a:gd name="adj" fmla="val 11636"/>
            </a:avLst>
          </a:prstGeom>
          <a:solidFill>
            <a:srgbClr val="FEF1E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506578" y="1371600"/>
            <a:ext cx="548640" cy="548640"/>
          </a:xfrm>
          <a:prstGeom prst="ellipse">
            <a:avLst/>
          </a:prstGeom>
          <a:solidFill>
            <a:srgbClr val="F0830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6" name="icone:bu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5" y="1497787"/>
            <a:ext cx="296266" cy="2962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92378" y="1389888"/>
            <a:ext cx="310530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800" b="1" i="0">
                <a:solidFill>
                  <a:srgbClr val="C96A00"/>
                </a:solidFill>
                <a:latin typeface="Lexend"/>
              </a:rPr>
              <a:t>CLASSIFICAÇÃO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2378" y="1591056"/>
            <a:ext cx="3105302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1300" b="1" i="0">
                <a:solidFill>
                  <a:srgbClr val="0C0C0C"/>
                </a:solidFill>
                <a:latin typeface="Lexend"/>
              </a:rPr>
              <a:t>Ordem Hemiptera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6578" y="2057400"/>
            <a:ext cx="3791102" cy="2514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pt-BR" sz="800" b="0" i="0">
                <a:solidFill>
                  <a:srgbClr val="3A3A40"/>
                </a:solidFill>
                <a:latin typeface="Lexend"/>
              </a:rPr>
              <a:t>Pertence à família dos hemípteros, insetos com asas parcialmente rígidas.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188720"/>
            <a:ext cx="4156862" cy="1257300"/>
          </a:xfrm>
          <a:prstGeom prst="roundRect">
            <a:avLst>
              <a:gd name="adj" fmla="val 11636"/>
            </a:avLst>
          </a:prstGeom>
          <a:solidFill>
            <a:srgbClr val="FBE8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846320" y="1371600"/>
            <a:ext cx="548640" cy="548640"/>
          </a:xfrm>
          <a:prstGeom prst="ellipse">
            <a:avLst/>
          </a:prstGeom>
          <a:solidFill>
            <a:srgbClr val="C71D8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2" name="icone:shield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507" y="1497787"/>
            <a:ext cx="296266" cy="29626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532120" y="1389888"/>
            <a:ext cx="310530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800" b="1" i="0">
                <a:solidFill>
                  <a:srgbClr val="C71D81"/>
                </a:solidFill>
                <a:latin typeface="Lexend"/>
              </a:rPr>
              <a:t>DEFESA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2120" y="1591056"/>
            <a:ext cx="3105302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1300" b="1" i="0">
                <a:solidFill>
                  <a:srgbClr val="0C0C0C"/>
                </a:solidFill>
                <a:latin typeface="Lexend"/>
              </a:rPr>
              <a:t>Glândulas de odor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057400"/>
            <a:ext cx="3791102" cy="2514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pt-BR" sz="750" b="0" i="0">
                <a:solidFill>
                  <a:srgbClr val="3A3A40"/>
                </a:solidFill>
                <a:latin typeface="Lexend"/>
              </a:rPr>
              <a:t>Libera substância fétida por glândulas torácicas quando se sente ameaçado.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3698" y="2628900"/>
            <a:ext cx="4156862" cy="1257300"/>
          </a:xfrm>
          <a:prstGeom prst="roundRect">
            <a:avLst>
              <a:gd name="adj" fmla="val 11636"/>
            </a:avLst>
          </a:prstGeom>
          <a:solidFill>
            <a:srgbClr val="F4E8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506578" y="2811780"/>
            <a:ext cx="548640" cy="548640"/>
          </a:xfrm>
          <a:prstGeom prst="ellipse">
            <a:avLst/>
          </a:prstGeom>
          <a:solidFill>
            <a:srgbClr val="85228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8" name="icone:glob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5" y="2937967"/>
            <a:ext cx="296266" cy="29626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92378" y="2830068"/>
            <a:ext cx="310530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800" b="1" i="0">
                <a:solidFill>
                  <a:srgbClr val="85228B"/>
                </a:solidFill>
                <a:latin typeface="Lexend"/>
              </a:rPr>
              <a:t>DISTRIBUIÇÃO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92378" y="3031236"/>
            <a:ext cx="3105302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1300" b="1" i="0">
                <a:solidFill>
                  <a:srgbClr val="0C0C0C"/>
                </a:solidFill>
                <a:latin typeface="Lexend"/>
              </a:rPr>
              <a:t>Presença mundial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6578" y="3497580"/>
            <a:ext cx="3791102" cy="2514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pt-BR" sz="750" b="0" i="0">
                <a:solidFill>
                  <a:srgbClr val="3A3A40"/>
                </a:solidFill>
                <a:latin typeface="Lexend"/>
              </a:rPr>
              <a:t>Mais de 40.000 espécies descritas em todos os continentes, exceto Antártida.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2628900"/>
            <a:ext cx="4156862" cy="1257300"/>
          </a:xfrm>
          <a:prstGeom prst="roundRect">
            <a:avLst>
              <a:gd name="adj" fmla="val 11636"/>
            </a:avLst>
          </a:prstGeom>
          <a:solidFill>
            <a:srgbClr val="E8EA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846320" y="2811780"/>
            <a:ext cx="548640" cy="548640"/>
          </a:xfrm>
          <a:prstGeom prst="ellipse">
            <a:avLst/>
          </a:prstGeom>
          <a:solidFill>
            <a:srgbClr val="0E1D8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24" name="icone:leaf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2507" y="2937967"/>
            <a:ext cx="296266" cy="29626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532120" y="2830068"/>
            <a:ext cx="310530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800" b="1" i="0">
                <a:solidFill>
                  <a:srgbClr val="0E1D8E"/>
                </a:solidFill>
                <a:latin typeface="Lexend"/>
              </a:rPr>
              <a:t>ALIMENTAÇÃO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3031236"/>
            <a:ext cx="3105302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1300" b="1" i="0">
                <a:solidFill>
                  <a:srgbClr val="0C0C0C"/>
                </a:solidFill>
                <a:latin typeface="Lexend"/>
              </a:rPr>
              <a:t>Sugador de seiva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3497580"/>
            <a:ext cx="3791102" cy="2514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pt-BR" sz="800" b="0" i="0">
                <a:solidFill>
                  <a:srgbClr val="3A3A40"/>
                </a:solidFill>
                <a:latin typeface="Lexend"/>
              </a:rPr>
              <a:t>Perfura tecidos vegetais ou animais com o rostro e suga líquidos nutritivos.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3698" y="4069080"/>
            <a:ext cx="8496605" cy="640080"/>
          </a:xfrm>
          <a:prstGeom prst="roundRect">
            <a:avLst>
              <a:gd name="adj" fmla="val 22857"/>
            </a:avLst>
          </a:prstGeom>
          <a:solidFill>
            <a:srgbClr val="F4E8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506578" y="4160520"/>
            <a:ext cx="457200" cy="457200"/>
          </a:xfrm>
          <a:prstGeom prst="ellipse">
            <a:avLst/>
          </a:prstGeom>
          <a:solidFill>
            <a:srgbClr val="85228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30" name="icone:lightbulb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734" y="4265676"/>
            <a:ext cx="246888" cy="2468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192378" y="4069080"/>
            <a:ext cx="7399325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00" b="1" i="0">
                <a:solidFill>
                  <a:srgbClr val="85228B"/>
                </a:solidFill>
                <a:latin typeface="Lexend"/>
              </a:rPr>
              <a:t>Destaque: </a:t>
            </a:r>
            <a:r>
              <a:rPr lang="pt-BR" sz="1100" b="0" i="0">
                <a:solidFill>
                  <a:srgbClr val="3A3A40"/>
                </a:solidFill>
                <a:latin typeface="Lexend"/>
              </a:rPr>
              <a:t>o nome popular vem do cheiro intenso liberado como mecanismo de defesa.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698" y="457200"/>
            <a:ext cx="6309360" cy="475488"/>
          </a:xfrm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2200" b="1" i="0">
                <a:solidFill>
                  <a:srgbClr val="0E1D8E"/>
                </a:solidFill>
                <a:latin typeface="Lexend"/>
              </a:rPr>
              <a:t>ANATOMIA DO PERCEVEJO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698" y="219456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750" b="1" i="0">
                <a:solidFill>
                  <a:srgbClr val="C71D81"/>
                </a:solidFill>
                <a:latin typeface="Lexend"/>
              </a:rPr>
              <a:t>ENTOMOLOGIA  ·  LAB365</a:t>
            </a:r>
          </a:p>
        </p:txBody>
      </p:sp>
      <p:pic>
        <p:nvPicPr>
          <p:cNvPr id="4" name="Picture 3" descr="percevejo-anatom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8" y="1188720"/>
            <a:ext cx="4670760" cy="2697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535778" y="1188720"/>
            <a:ext cx="3284525" cy="480974"/>
          </a:xfrm>
          <a:prstGeom prst="roundRect">
            <a:avLst>
              <a:gd name="adj" fmla="val 19011"/>
            </a:avLst>
          </a:prstGeom>
          <a:solidFill>
            <a:srgbClr val="FEF1E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5645506" y="1252728"/>
            <a:ext cx="352958" cy="352958"/>
          </a:xfrm>
          <a:prstGeom prst="ellipse">
            <a:avLst/>
          </a:prstGeom>
          <a:solidFill>
            <a:srgbClr val="F0830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645506" y="1252728"/>
            <a:ext cx="352958" cy="35295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1100" b="1" i="0">
                <a:solidFill>
                  <a:srgbClr val="FFFFFF"/>
                </a:solidFill>
                <a:latin typeface="Lexen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08192" y="1188720"/>
            <a:ext cx="2620670" cy="48097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050" b="1" i="0">
                <a:solidFill>
                  <a:srgbClr val="0C0C0C"/>
                </a:solidFill>
                <a:latin typeface="Lexend"/>
              </a:rPr>
              <a:t>Cabeça</a:t>
            </a:r>
          </a:p>
          <a:p>
            <a:pPr algn="l">
              <a:lnSpc>
                <a:spcPct val="105000"/>
              </a:lnSpc>
            </a:pPr>
            <a:r>
              <a:rPr lang="pt-BR" sz="900" b="0" i="0">
                <a:solidFill>
                  <a:srgbClr val="3A3A40"/>
                </a:solidFill>
                <a:latin typeface="Lexend"/>
              </a:rPr>
              <a:t>Olhos compostos e rostro sugador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35778" y="1742846"/>
            <a:ext cx="3284525" cy="480974"/>
          </a:xfrm>
          <a:prstGeom prst="roundRect">
            <a:avLst>
              <a:gd name="adj" fmla="val 19011"/>
            </a:avLst>
          </a:prstGeom>
          <a:solidFill>
            <a:srgbClr val="FBE8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5645506" y="1806854"/>
            <a:ext cx="352958" cy="352958"/>
          </a:xfrm>
          <a:prstGeom prst="ellipse">
            <a:avLst/>
          </a:prstGeom>
          <a:solidFill>
            <a:srgbClr val="C71D8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645506" y="1806854"/>
            <a:ext cx="352958" cy="35295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1100" b="1" i="0">
                <a:solidFill>
                  <a:srgbClr val="FFFFFF"/>
                </a:solidFill>
                <a:latin typeface="Lexen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08192" y="1742846"/>
            <a:ext cx="2620670" cy="48097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050" b="1" i="0">
                <a:solidFill>
                  <a:srgbClr val="0C0C0C"/>
                </a:solidFill>
                <a:latin typeface="Lexend"/>
              </a:rPr>
              <a:t>Tórax</a:t>
            </a:r>
          </a:p>
          <a:p>
            <a:pPr algn="l">
              <a:lnSpc>
                <a:spcPct val="105000"/>
              </a:lnSpc>
            </a:pPr>
            <a:r>
              <a:rPr lang="pt-BR" sz="900" b="0" i="0">
                <a:solidFill>
                  <a:srgbClr val="3A3A40"/>
                </a:solidFill>
                <a:latin typeface="Lexend"/>
              </a:rPr>
              <a:t>Pronoto, escutelo e 3 pares de patas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35778" y="2296973"/>
            <a:ext cx="3284525" cy="480974"/>
          </a:xfrm>
          <a:prstGeom prst="roundRect">
            <a:avLst>
              <a:gd name="adj" fmla="val 19011"/>
            </a:avLst>
          </a:prstGeom>
          <a:solidFill>
            <a:srgbClr val="F4E8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5645506" y="2360981"/>
            <a:ext cx="352958" cy="352958"/>
          </a:xfrm>
          <a:prstGeom prst="ellipse">
            <a:avLst/>
          </a:prstGeom>
          <a:solidFill>
            <a:srgbClr val="85228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645506" y="2360981"/>
            <a:ext cx="352958" cy="35295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1100" b="1" i="0">
                <a:solidFill>
                  <a:srgbClr val="FFFFFF"/>
                </a:solidFill>
                <a:latin typeface="Lexen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08192" y="2296973"/>
            <a:ext cx="2620670" cy="48097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950" b="1" i="0">
                <a:solidFill>
                  <a:srgbClr val="0C0C0C"/>
                </a:solidFill>
                <a:latin typeface="Lexend"/>
              </a:rPr>
              <a:t>Hemélitros</a:t>
            </a:r>
          </a:p>
          <a:p>
            <a:pPr algn="l">
              <a:lnSpc>
                <a:spcPct val="105000"/>
              </a:lnSpc>
            </a:pPr>
            <a:r>
              <a:rPr lang="pt-BR" sz="814" b="0" i="0">
                <a:solidFill>
                  <a:srgbClr val="3A3A40"/>
                </a:solidFill>
                <a:latin typeface="Lexend"/>
              </a:rPr>
              <a:t>Asas parcialmente rígidas — marca dos hemípteros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35778" y="2851099"/>
            <a:ext cx="3284525" cy="480974"/>
          </a:xfrm>
          <a:prstGeom prst="roundRect">
            <a:avLst>
              <a:gd name="adj" fmla="val 19011"/>
            </a:avLst>
          </a:prstGeom>
          <a:solidFill>
            <a:srgbClr val="E8EA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5645506" y="2915107"/>
            <a:ext cx="352958" cy="352958"/>
          </a:xfrm>
          <a:prstGeom prst="ellipse">
            <a:avLst/>
          </a:prstGeom>
          <a:solidFill>
            <a:srgbClr val="0E1D8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45506" y="2915107"/>
            <a:ext cx="352958" cy="35295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1100" b="1" i="0">
                <a:solidFill>
                  <a:srgbClr val="FFFFFF"/>
                </a:solidFill>
                <a:latin typeface="Lexend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2851099"/>
            <a:ext cx="2620670" cy="48097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000" b="1" i="0">
                <a:solidFill>
                  <a:srgbClr val="0C0C0C"/>
                </a:solidFill>
                <a:latin typeface="Lexend"/>
              </a:rPr>
              <a:t>Abdômen</a:t>
            </a:r>
          </a:p>
          <a:p>
            <a:pPr algn="l">
              <a:lnSpc>
                <a:spcPct val="105000"/>
              </a:lnSpc>
            </a:pPr>
            <a:r>
              <a:rPr lang="pt-BR" sz="857" b="0" i="0">
                <a:solidFill>
                  <a:srgbClr val="3A3A40"/>
                </a:solidFill>
                <a:latin typeface="Lexend"/>
              </a:rPr>
              <a:t>Glândula de odor libera cheiro de defesa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35778" y="3405226"/>
            <a:ext cx="3284525" cy="480974"/>
          </a:xfrm>
          <a:prstGeom prst="roundRect">
            <a:avLst>
              <a:gd name="adj" fmla="val 19011"/>
            </a:avLst>
          </a:prstGeom>
          <a:solidFill>
            <a:srgbClr val="FEF1E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5645506" y="3469234"/>
            <a:ext cx="352958" cy="352958"/>
          </a:xfrm>
          <a:prstGeom prst="ellipse">
            <a:avLst/>
          </a:prstGeom>
          <a:solidFill>
            <a:srgbClr val="F0830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645506" y="3469234"/>
            <a:ext cx="352958" cy="35295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1100" b="1" i="0">
                <a:solidFill>
                  <a:srgbClr val="FFFFFF"/>
                </a:solidFill>
                <a:latin typeface="Lexend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08192" y="3405226"/>
            <a:ext cx="2620670" cy="48097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950" b="1" i="0">
                <a:solidFill>
                  <a:srgbClr val="0C0C0C"/>
                </a:solidFill>
                <a:latin typeface="Lexend"/>
              </a:rPr>
              <a:t>Antenas</a:t>
            </a:r>
          </a:p>
          <a:p>
            <a:pPr algn="l">
              <a:lnSpc>
                <a:spcPct val="105000"/>
              </a:lnSpc>
            </a:pPr>
            <a:r>
              <a:rPr lang="pt-BR" sz="814" b="0" i="0">
                <a:solidFill>
                  <a:srgbClr val="3A3A40"/>
                </a:solidFill>
                <a:latin typeface="Lexend"/>
              </a:rPr>
              <a:t>4 segmentos, usadas para detectar plantas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3698" y="4069080"/>
            <a:ext cx="8496605" cy="640080"/>
          </a:xfrm>
          <a:prstGeom prst="roundRect">
            <a:avLst>
              <a:gd name="adj" fmla="val 22857"/>
            </a:avLst>
          </a:prstGeom>
          <a:solidFill>
            <a:srgbClr val="F4E8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506578" y="4160520"/>
            <a:ext cx="457200" cy="457200"/>
          </a:xfrm>
          <a:prstGeom prst="ellipse">
            <a:avLst/>
          </a:prstGeom>
          <a:solidFill>
            <a:srgbClr val="85228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27" name="icone:lightbulb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34" y="4265676"/>
            <a:ext cx="246888" cy="24688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192378" y="4069080"/>
            <a:ext cx="7399325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00" b="1" i="0">
                <a:solidFill>
                  <a:srgbClr val="85228B"/>
                </a:solidFill>
                <a:latin typeface="Lexend"/>
              </a:rPr>
              <a:t>Destaque: </a:t>
            </a:r>
            <a:r>
              <a:rPr lang="pt-BR" sz="1100" b="0" i="0">
                <a:solidFill>
                  <a:srgbClr val="3A3A40"/>
                </a:solidFill>
                <a:latin typeface="Lexend"/>
              </a:rPr>
              <a:t>o rostro perfura tecidos e suga seiva sem mastigar.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698" y="457200"/>
            <a:ext cx="6309360" cy="475488"/>
          </a:xfrm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2200" b="1" i="0">
                <a:solidFill>
                  <a:srgbClr val="0E1D8E"/>
                </a:solidFill>
                <a:latin typeface="Lexend"/>
              </a:rPr>
              <a:t>PERCEVEJO EM NÚMEROS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698" y="219456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750" b="1" i="0">
                <a:solidFill>
                  <a:srgbClr val="C71D81"/>
                </a:solidFill>
                <a:latin typeface="Lexend"/>
              </a:rPr>
              <a:t>ENTOMOLOGIA  ·  LAB365</a:t>
            </a:r>
          </a:p>
        </p:txBody>
      </p:sp>
      <p:sp>
        <p:nvSpPr>
          <p:cNvPr id="4" name="Oval 3"/>
          <p:cNvSpPr/>
          <p:nvPr/>
        </p:nvSpPr>
        <p:spPr>
          <a:xfrm>
            <a:off x="665683" y="1325880"/>
            <a:ext cx="1234440" cy="1234440"/>
          </a:xfrm>
          <a:prstGeom prst="ellipse">
            <a:avLst/>
          </a:prstGeom>
          <a:noFill/>
          <a:ln w="88900">
            <a:solidFill>
              <a:srgbClr val="F08305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57123" y="1325880"/>
            <a:ext cx="1051560" cy="12344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2600" b="1" i="0">
                <a:solidFill>
                  <a:srgbClr val="C96A00"/>
                </a:solidFill>
                <a:latin typeface="Lexend"/>
              </a:rPr>
              <a:t>40k+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6578" y="2724912"/>
            <a:ext cx="1552651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000" b="0" i="0">
                <a:solidFill>
                  <a:srgbClr val="3A3A40"/>
                </a:solidFill>
                <a:latin typeface="Lexend"/>
              </a:rPr>
              <a:t>espécies de hemípteros descritas no mundo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6578" y="3273552"/>
            <a:ext cx="1552651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800" b="0" i="0">
                <a:solidFill>
                  <a:srgbClr val="737474"/>
                </a:solidFill>
                <a:latin typeface="Lexend"/>
              </a:rPr>
              <a:t>Catalog of Life, 2023</a:t>
            </a:r>
          </a:p>
        </p:txBody>
      </p:sp>
      <p:sp>
        <p:nvSpPr>
          <p:cNvPr id="8" name="Oval 7"/>
          <p:cNvSpPr/>
          <p:nvPr/>
        </p:nvSpPr>
        <p:spPr>
          <a:xfrm>
            <a:off x="2858414" y="1325880"/>
            <a:ext cx="1234440" cy="1234440"/>
          </a:xfrm>
          <a:prstGeom prst="ellipse">
            <a:avLst/>
          </a:prstGeom>
          <a:noFill/>
          <a:ln w="88900">
            <a:solidFill>
              <a:srgbClr val="C71D81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949854" y="1325880"/>
            <a:ext cx="1051560" cy="12344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2600" b="1" i="0">
                <a:solidFill>
                  <a:srgbClr val="C71D81"/>
                </a:solidFill>
                <a:latin typeface="Lexend"/>
              </a:rPr>
              <a:t>500+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9309" y="2724912"/>
            <a:ext cx="1552651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000" b="0" i="0">
                <a:solidFill>
                  <a:srgbClr val="3A3A40"/>
                </a:solidFill>
                <a:latin typeface="Lexend"/>
              </a:rPr>
              <a:t>espécies de percevejo registradas no Brasil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9309" y="3273552"/>
            <a:ext cx="1552651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800" b="0" i="0">
                <a:solidFill>
                  <a:srgbClr val="737474"/>
                </a:solidFill>
                <a:latin typeface="Lexend"/>
              </a:rPr>
              <a:t>EMBRAPA, 2022</a:t>
            </a:r>
          </a:p>
        </p:txBody>
      </p:sp>
      <p:sp>
        <p:nvSpPr>
          <p:cNvPr id="12" name="Oval 11"/>
          <p:cNvSpPr/>
          <p:nvPr/>
        </p:nvSpPr>
        <p:spPr>
          <a:xfrm>
            <a:off x="5051146" y="1325880"/>
            <a:ext cx="1234440" cy="1234440"/>
          </a:xfrm>
          <a:prstGeom prst="ellipse">
            <a:avLst/>
          </a:prstGeom>
          <a:noFill/>
          <a:ln w="88900">
            <a:solidFill>
              <a:srgbClr val="85228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142586" y="1325880"/>
            <a:ext cx="1051560" cy="12344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2600" b="1" i="0">
                <a:solidFill>
                  <a:srgbClr val="85228B"/>
                </a:solidFill>
                <a:latin typeface="Lexend"/>
              </a:rPr>
              <a:t>40%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724912"/>
            <a:ext cx="1552651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950" b="0" i="0">
                <a:solidFill>
                  <a:srgbClr val="3A3A40"/>
                </a:solidFill>
                <a:latin typeface="Lexend"/>
              </a:rPr>
              <a:t>de perda na soja causada pelo percevejo-marrom sem controle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3273552"/>
            <a:ext cx="1552651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800" b="0" i="0">
                <a:solidFill>
                  <a:srgbClr val="737474"/>
                </a:solidFill>
                <a:latin typeface="Lexend"/>
              </a:rPr>
              <a:t>EMBRAPA Soja, 2021</a:t>
            </a:r>
          </a:p>
        </p:txBody>
      </p:sp>
      <p:sp>
        <p:nvSpPr>
          <p:cNvPr id="16" name="Oval 15"/>
          <p:cNvSpPr/>
          <p:nvPr/>
        </p:nvSpPr>
        <p:spPr>
          <a:xfrm>
            <a:off x="7243877" y="1325880"/>
            <a:ext cx="1234440" cy="1234440"/>
          </a:xfrm>
          <a:prstGeom prst="ellipse">
            <a:avLst/>
          </a:prstGeom>
          <a:noFill/>
          <a:ln w="88900">
            <a:solidFill>
              <a:srgbClr val="0E1D8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335317" y="1325880"/>
            <a:ext cx="1051560" cy="12344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2600" b="1" i="0">
                <a:solidFill>
                  <a:srgbClr val="0E1D8E"/>
                </a:solidFill>
                <a:latin typeface="Lexend"/>
              </a:rPr>
              <a:t>3mm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4771" y="2724912"/>
            <a:ext cx="1552651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000" b="0" i="0">
                <a:solidFill>
                  <a:srgbClr val="3A3A40"/>
                </a:solidFill>
                <a:latin typeface="Lexend"/>
              </a:rPr>
              <a:t>tamanho mínimo — a menor espécie mede apenas 3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4771" y="3273552"/>
            <a:ext cx="1552651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800" b="0" i="0">
                <a:solidFill>
                  <a:srgbClr val="737474"/>
                </a:solidFill>
                <a:latin typeface="Lexend"/>
              </a:rPr>
              <a:t>Entomologia Agrícola, 2020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698" y="4069080"/>
            <a:ext cx="8496605" cy="640080"/>
          </a:xfrm>
          <a:prstGeom prst="roundRect">
            <a:avLst>
              <a:gd name="adj" fmla="val 22857"/>
            </a:avLst>
          </a:prstGeom>
          <a:solidFill>
            <a:srgbClr val="F4E8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506578" y="4160520"/>
            <a:ext cx="457200" cy="457200"/>
          </a:xfrm>
          <a:prstGeom prst="ellipse">
            <a:avLst/>
          </a:prstGeom>
          <a:solidFill>
            <a:srgbClr val="85228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22" name="icone:lightbulb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734" y="4265676"/>
            <a:ext cx="246888" cy="24688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92378" y="4069080"/>
            <a:ext cx="7399325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00" b="1" i="0">
                <a:solidFill>
                  <a:srgbClr val="85228B"/>
                </a:solidFill>
                <a:latin typeface="Lexend"/>
              </a:rPr>
              <a:t>Impacto: </a:t>
            </a:r>
            <a:r>
              <a:rPr lang="pt-BR" sz="1100" b="0" i="0">
                <a:solidFill>
                  <a:srgbClr val="3A3A40"/>
                </a:solidFill>
                <a:latin typeface="Lexend"/>
              </a:rPr>
              <a:t>o percevejo-marrom é a principal praga da soja no Brasil.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74520"/>
            <a:ext cx="7315200" cy="685800"/>
          </a:xfrm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3000" b="1" i="0">
                <a:solidFill>
                  <a:srgbClr val="FFFFFF"/>
                </a:solidFill>
                <a:latin typeface="Lexend"/>
              </a:rPr>
              <a:t>BIOLOGIA E CICLO DE VIDA</a:t>
            </a:r>
          </a:p>
        </p:txBody>
      </p:sp>
      <p:sp>
        <p:nvSpPr>
          <p:cNvPr id="3" name="Oval 2"/>
          <p:cNvSpPr/>
          <p:nvPr/>
        </p:nvSpPr>
        <p:spPr>
          <a:xfrm>
            <a:off x="4137660" y="75438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4" name="icone:activity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7456" y="954176"/>
            <a:ext cx="469087" cy="4690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6060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400" b="0" i="0">
                <a:solidFill>
                  <a:srgbClr val="FFFFFF"/>
                </a:solidFill>
                <a:latin typeface="Lexend"/>
              </a:rPr>
              <a:t>Do ovo ao adulto em cinco estágios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698" y="457200"/>
            <a:ext cx="6309360" cy="475488"/>
          </a:xfrm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2200" b="1" i="0">
                <a:solidFill>
                  <a:srgbClr val="0E1D8E"/>
                </a:solidFill>
                <a:latin typeface="Lexend"/>
              </a:rPr>
              <a:t>CICLO DE VIDA COMPLETO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698" y="219456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750" b="1" i="0">
                <a:solidFill>
                  <a:srgbClr val="C71D81"/>
                </a:solidFill>
                <a:latin typeface="Lexend"/>
              </a:rPr>
              <a:t>ENTOMOLOGIA  ·  LAB365</a:t>
            </a:r>
          </a:p>
        </p:txBody>
      </p:sp>
      <p:pic>
        <p:nvPicPr>
          <p:cNvPr id="4" name="Picture 3" descr="percevejo-cic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8" y="1188720"/>
            <a:ext cx="4670760" cy="2697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535778" y="1188720"/>
            <a:ext cx="3284525" cy="480974"/>
          </a:xfrm>
          <a:prstGeom prst="roundRect">
            <a:avLst>
              <a:gd name="adj" fmla="val 19011"/>
            </a:avLst>
          </a:prstGeom>
          <a:solidFill>
            <a:srgbClr val="FEF1E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5645506" y="1252728"/>
            <a:ext cx="352958" cy="352958"/>
          </a:xfrm>
          <a:prstGeom prst="ellipse">
            <a:avLst/>
          </a:prstGeom>
          <a:solidFill>
            <a:srgbClr val="F0830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645506" y="1252728"/>
            <a:ext cx="352958" cy="35295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1100" b="1" i="0">
                <a:solidFill>
                  <a:srgbClr val="FFFFFF"/>
                </a:solidFill>
                <a:latin typeface="Lexen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08192" y="1188720"/>
            <a:ext cx="2620670" cy="48097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050" b="1" i="0">
                <a:solidFill>
                  <a:srgbClr val="0C0C0C"/>
                </a:solidFill>
                <a:latin typeface="Lexend"/>
              </a:rPr>
              <a:t>Ovo</a:t>
            </a:r>
          </a:p>
          <a:p>
            <a:pPr algn="l">
              <a:lnSpc>
                <a:spcPct val="105000"/>
              </a:lnSpc>
            </a:pPr>
            <a:r>
              <a:rPr lang="pt-BR" sz="900" b="0" i="0">
                <a:solidFill>
                  <a:srgbClr val="3A3A40"/>
                </a:solidFill>
                <a:latin typeface="Lexend"/>
              </a:rPr>
              <a:t>Postura em grupo de 20 a 30 ovos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35778" y="1742846"/>
            <a:ext cx="3284525" cy="480974"/>
          </a:xfrm>
          <a:prstGeom prst="roundRect">
            <a:avLst>
              <a:gd name="adj" fmla="val 19011"/>
            </a:avLst>
          </a:prstGeom>
          <a:solidFill>
            <a:srgbClr val="FBE8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5645506" y="1806854"/>
            <a:ext cx="352958" cy="352958"/>
          </a:xfrm>
          <a:prstGeom prst="ellipse">
            <a:avLst/>
          </a:prstGeom>
          <a:solidFill>
            <a:srgbClr val="C71D8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645506" y="1806854"/>
            <a:ext cx="352958" cy="35295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1100" b="1" i="0">
                <a:solidFill>
                  <a:srgbClr val="FFFFFF"/>
                </a:solidFill>
                <a:latin typeface="Lexen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08192" y="1742846"/>
            <a:ext cx="2620670" cy="48097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050" b="1" i="0">
                <a:solidFill>
                  <a:srgbClr val="0C0C0C"/>
                </a:solidFill>
                <a:latin typeface="Lexend"/>
              </a:rPr>
              <a:t>Ninfa 1</a:t>
            </a:r>
          </a:p>
          <a:p>
            <a:pPr algn="l">
              <a:lnSpc>
                <a:spcPct val="105000"/>
              </a:lnSpc>
            </a:pPr>
            <a:r>
              <a:rPr lang="pt-BR" sz="900" b="0" i="0">
                <a:solidFill>
                  <a:srgbClr val="3A3A40"/>
                </a:solidFill>
                <a:latin typeface="Lexend"/>
              </a:rPr>
              <a:t>Eclode em ~5 dias, sem asas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35778" y="2296973"/>
            <a:ext cx="3284525" cy="480974"/>
          </a:xfrm>
          <a:prstGeom prst="roundRect">
            <a:avLst>
              <a:gd name="adj" fmla="val 19011"/>
            </a:avLst>
          </a:prstGeom>
          <a:solidFill>
            <a:srgbClr val="F4E8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5645506" y="2360981"/>
            <a:ext cx="352958" cy="352958"/>
          </a:xfrm>
          <a:prstGeom prst="ellipse">
            <a:avLst/>
          </a:prstGeom>
          <a:solidFill>
            <a:srgbClr val="85228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645506" y="2360981"/>
            <a:ext cx="352958" cy="35295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1100" b="1" i="0">
                <a:solidFill>
                  <a:srgbClr val="FFFFFF"/>
                </a:solidFill>
                <a:latin typeface="Lexen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08192" y="2296973"/>
            <a:ext cx="2620670" cy="48097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050" b="1" i="0">
                <a:solidFill>
                  <a:srgbClr val="0C0C0C"/>
                </a:solidFill>
                <a:latin typeface="Lexend"/>
              </a:rPr>
              <a:t>Ninfas 2–4</a:t>
            </a:r>
          </a:p>
          <a:p>
            <a:pPr algn="l">
              <a:lnSpc>
                <a:spcPct val="105000"/>
              </a:lnSpc>
            </a:pPr>
            <a:r>
              <a:rPr lang="pt-BR" sz="900" b="0" i="0">
                <a:solidFill>
                  <a:srgbClr val="3A3A40"/>
                </a:solidFill>
                <a:latin typeface="Lexend"/>
              </a:rPr>
              <a:t>Quatro mudas ao longo de 30 dias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35778" y="2851099"/>
            <a:ext cx="3284525" cy="480974"/>
          </a:xfrm>
          <a:prstGeom prst="roundRect">
            <a:avLst>
              <a:gd name="adj" fmla="val 19011"/>
            </a:avLst>
          </a:prstGeom>
          <a:solidFill>
            <a:srgbClr val="E8EA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5645506" y="2915107"/>
            <a:ext cx="352958" cy="352958"/>
          </a:xfrm>
          <a:prstGeom prst="ellipse">
            <a:avLst/>
          </a:prstGeom>
          <a:solidFill>
            <a:srgbClr val="0E1D8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45506" y="2915107"/>
            <a:ext cx="352958" cy="35295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1100" b="1" i="0">
                <a:solidFill>
                  <a:srgbClr val="FFFFFF"/>
                </a:solidFill>
                <a:latin typeface="Lexend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2851099"/>
            <a:ext cx="2620670" cy="48097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050" b="1" i="0">
                <a:solidFill>
                  <a:srgbClr val="0C0C0C"/>
                </a:solidFill>
                <a:latin typeface="Lexend"/>
              </a:rPr>
              <a:t>Adulto</a:t>
            </a:r>
          </a:p>
          <a:p>
            <a:pPr algn="l">
              <a:lnSpc>
                <a:spcPct val="105000"/>
              </a:lnSpc>
            </a:pPr>
            <a:r>
              <a:rPr lang="pt-BR" sz="900" b="0" i="0">
                <a:solidFill>
                  <a:srgbClr val="3A3A40"/>
                </a:solidFill>
                <a:latin typeface="Lexend"/>
              </a:rPr>
              <a:t>Asas funcionais, reprodução ativa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35778" y="3405226"/>
            <a:ext cx="3284525" cy="480974"/>
          </a:xfrm>
          <a:prstGeom prst="roundRect">
            <a:avLst>
              <a:gd name="adj" fmla="val 19011"/>
            </a:avLst>
          </a:prstGeom>
          <a:solidFill>
            <a:srgbClr val="FEF1E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5645506" y="3469234"/>
            <a:ext cx="352958" cy="352958"/>
          </a:xfrm>
          <a:prstGeom prst="ellipse">
            <a:avLst/>
          </a:prstGeom>
          <a:solidFill>
            <a:srgbClr val="F0830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645506" y="3469234"/>
            <a:ext cx="352958" cy="35295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1100" b="1" i="0">
                <a:solidFill>
                  <a:srgbClr val="FFFFFF"/>
                </a:solidFill>
                <a:latin typeface="Lexend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08192" y="3405226"/>
            <a:ext cx="2620670" cy="48097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050" b="1" i="0">
                <a:solidFill>
                  <a:srgbClr val="0C0C0C"/>
                </a:solidFill>
                <a:latin typeface="Lexend"/>
              </a:rPr>
              <a:t>Postura</a:t>
            </a:r>
          </a:p>
          <a:p>
            <a:pPr algn="l">
              <a:lnSpc>
                <a:spcPct val="105000"/>
              </a:lnSpc>
            </a:pPr>
            <a:r>
              <a:rPr lang="pt-BR" sz="900" b="0" i="0">
                <a:solidFill>
                  <a:srgbClr val="3A3A40"/>
                </a:solidFill>
                <a:latin typeface="Lexend"/>
              </a:rPr>
              <a:t>Fêmea põe até 400 ovos na vida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3698" y="4069080"/>
            <a:ext cx="8496605" cy="640080"/>
          </a:xfrm>
          <a:prstGeom prst="roundRect">
            <a:avLst>
              <a:gd name="adj" fmla="val 22857"/>
            </a:avLst>
          </a:prstGeom>
          <a:solidFill>
            <a:srgbClr val="F4E8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506578" y="4160520"/>
            <a:ext cx="457200" cy="457200"/>
          </a:xfrm>
          <a:prstGeom prst="ellipse">
            <a:avLst/>
          </a:prstGeom>
          <a:solidFill>
            <a:srgbClr val="85228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27" name="icone:lightbulb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34" y="4265676"/>
            <a:ext cx="246888" cy="24688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192378" y="4069080"/>
            <a:ext cx="7399325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00" b="1" i="0">
                <a:solidFill>
                  <a:srgbClr val="85228B"/>
                </a:solidFill>
                <a:latin typeface="Lexend"/>
              </a:rPr>
              <a:t>Velocidade: </a:t>
            </a:r>
            <a:r>
              <a:rPr lang="pt-BR" sz="1100" b="0" i="0">
                <a:solidFill>
                  <a:srgbClr val="3A3A40"/>
                </a:solidFill>
                <a:latin typeface="Lexend"/>
              </a:rPr>
              <a:t>ciclo completo em apenas 45 dias em clima quente.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698" y="457200"/>
            <a:ext cx="6309360" cy="475488"/>
          </a:xfrm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2200" b="1" i="0">
                <a:solidFill>
                  <a:srgbClr val="0E1D8E"/>
                </a:solidFill>
                <a:latin typeface="Lexend"/>
              </a:rPr>
              <a:t>CICLO DE VIDA COMPLETO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698" y="219456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750" b="1" i="0">
                <a:solidFill>
                  <a:srgbClr val="C71D81"/>
                </a:solidFill>
                <a:latin typeface="Lexend"/>
              </a:rPr>
              <a:t>ENTOMOLOGIA  ·  LAB365</a:t>
            </a:r>
          </a:p>
        </p:txBody>
      </p:sp>
      <p:sp>
        <p:nvSpPr>
          <p:cNvPr id="4" name="Pentagon 3"/>
          <p:cNvSpPr/>
          <p:nvPr/>
        </p:nvSpPr>
        <p:spPr>
          <a:xfrm>
            <a:off x="323698" y="2496312"/>
            <a:ext cx="1750527" cy="566928"/>
          </a:xfrm>
          <a:prstGeom prst="homePlate">
            <a:avLst>
              <a:gd name="adj" fmla="val 28000"/>
            </a:avLst>
          </a:prstGeom>
          <a:solidFill>
            <a:srgbClr val="F0830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6578" y="2496312"/>
            <a:ext cx="1384767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1400" b="1" i="0">
                <a:solidFill>
                  <a:srgbClr val="FFFFFF"/>
                </a:solidFill>
                <a:latin typeface="Lexend"/>
              </a:rPr>
              <a:t>01</a:t>
            </a:r>
          </a:p>
        </p:txBody>
      </p:sp>
      <p:sp>
        <p:nvSpPr>
          <p:cNvPr id="6" name="Oval 5"/>
          <p:cNvSpPr/>
          <p:nvPr/>
        </p:nvSpPr>
        <p:spPr>
          <a:xfrm>
            <a:off x="942929" y="1828800"/>
            <a:ext cx="512064" cy="512064"/>
          </a:xfrm>
          <a:prstGeom prst="ellipse">
            <a:avLst/>
          </a:prstGeom>
          <a:solidFill>
            <a:srgbClr val="FEF1E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7" name="icone:circl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1946575"/>
            <a:ext cx="276515" cy="2765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96850" y="3200400"/>
            <a:ext cx="1604223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150" b="1" i="0">
                <a:solidFill>
                  <a:srgbClr val="0C0C0C"/>
                </a:solidFill>
                <a:latin typeface="Lexend"/>
              </a:rPr>
              <a:t>Ovo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5138" y="3493008"/>
            <a:ext cx="1567647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lang="pt-BR" sz="950" b="0" i="0">
                <a:solidFill>
                  <a:srgbClr val="3A3A40"/>
                </a:solidFill>
                <a:latin typeface="Lexend"/>
              </a:rPr>
              <a:t>Postura em grupos de 20 a 30 ovos em folhas</a:t>
            </a:r>
          </a:p>
        </p:txBody>
      </p:sp>
      <p:sp>
        <p:nvSpPr>
          <p:cNvPr id="10" name="Chevron 9"/>
          <p:cNvSpPr/>
          <p:nvPr/>
        </p:nvSpPr>
        <p:spPr>
          <a:xfrm>
            <a:off x="2010217" y="2496312"/>
            <a:ext cx="1750527" cy="566928"/>
          </a:xfrm>
          <a:prstGeom prst="chevron">
            <a:avLst>
              <a:gd name="adj" fmla="val 28000"/>
            </a:avLst>
          </a:prstGeom>
          <a:solidFill>
            <a:srgbClr val="C71D8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193097" y="2496312"/>
            <a:ext cx="1384767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1400" b="1" i="0">
                <a:solidFill>
                  <a:srgbClr val="FFFFFF"/>
                </a:solidFill>
                <a:latin typeface="Lexend"/>
              </a:rPr>
              <a:t>02</a:t>
            </a:r>
          </a:p>
        </p:txBody>
      </p:sp>
      <p:sp>
        <p:nvSpPr>
          <p:cNvPr id="12" name="Oval 11"/>
          <p:cNvSpPr/>
          <p:nvPr/>
        </p:nvSpPr>
        <p:spPr>
          <a:xfrm>
            <a:off x="2629449" y="1828800"/>
            <a:ext cx="512064" cy="512064"/>
          </a:xfrm>
          <a:prstGeom prst="ellipse">
            <a:avLst/>
          </a:prstGeom>
          <a:solidFill>
            <a:srgbClr val="FBE8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3" name="icone:sprou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7223" y="1946575"/>
            <a:ext cx="276515" cy="27651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083369" y="3200400"/>
            <a:ext cx="1604223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150" b="1" i="0">
                <a:solidFill>
                  <a:srgbClr val="0C0C0C"/>
                </a:solidFill>
                <a:latin typeface="Lexend"/>
              </a:rPr>
              <a:t>Ninfa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1657" y="3493008"/>
            <a:ext cx="1567647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lang="pt-BR" sz="950" b="0" i="0">
                <a:solidFill>
                  <a:srgbClr val="3A3A40"/>
                </a:solidFill>
                <a:latin typeface="Lexend"/>
              </a:rPr>
              <a:t>Eclode em 5 dias, ainda sem asas funcionais</a:t>
            </a:r>
          </a:p>
        </p:txBody>
      </p:sp>
      <p:sp>
        <p:nvSpPr>
          <p:cNvPr id="16" name="Chevron 15"/>
          <p:cNvSpPr/>
          <p:nvPr/>
        </p:nvSpPr>
        <p:spPr>
          <a:xfrm>
            <a:off x="3696736" y="2496312"/>
            <a:ext cx="1750527" cy="566928"/>
          </a:xfrm>
          <a:prstGeom prst="chevron">
            <a:avLst>
              <a:gd name="adj" fmla="val 28000"/>
            </a:avLst>
          </a:prstGeom>
          <a:solidFill>
            <a:srgbClr val="85228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879616" y="2496312"/>
            <a:ext cx="1384767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1400" b="1" i="0">
                <a:solidFill>
                  <a:srgbClr val="FFFFFF"/>
                </a:solidFill>
                <a:latin typeface="Lexend"/>
              </a:rPr>
              <a:t>03</a:t>
            </a:r>
          </a:p>
        </p:txBody>
      </p:sp>
      <p:sp>
        <p:nvSpPr>
          <p:cNvPr id="18" name="Oval 17"/>
          <p:cNvSpPr/>
          <p:nvPr/>
        </p:nvSpPr>
        <p:spPr>
          <a:xfrm>
            <a:off x="4315968" y="1828800"/>
            <a:ext cx="512064" cy="512064"/>
          </a:xfrm>
          <a:prstGeom prst="ellipse">
            <a:avLst/>
          </a:prstGeom>
          <a:solidFill>
            <a:srgbClr val="F4E8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9" name="icone:sprout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3743" y="1946575"/>
            <a:ext cx="276515" cy="27651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769888" y="3200400"/>
            <a:ext cx="1604223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150" b="1" i="0">
                <a:solidFill>
                  <a:srgbClr val="0C0C0C"/>
                </a:solidFill>
                <a:latin typeface="Lexend"/>
              </a:rPr>
              <a:t>Ninfas 2–4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88176" y="3493008"/>
            <a:ext cx="1567647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lang="pt-BR" sz="950" b="0" i="0">
                <a:solidFill>
                  <a:srgbClr val="3A3A40"/>
                </a:solidFill>
                <a:latin typeface="Lexend"/>
              </a:rPr>
              <a:t>Quatro mudas até adquirir forma adulta</a:t>
            </a:r>
          </a:p>
        </p:txBody>
      </p:sp>
      <p:sp>
        <p:nvSpPr>
          <p:cNvPr id="22" name="Chevron 21"/>
          <p:cNvSpPr/>
          <p:nvPr/>
        </p:nvSpPr>
        <p:spPr>
          <a:xfrm>
            <a:off x="5383256" y="2496312"/>
            <a:ext cx="1750527" cy="566928"/>
          </a:xfrm>
          <a:prstGeom prst="chevron">
            <a:avLst>
              <a:gd name="adj" fmla="val 28000"/>
            </a:avLst>
          </a:prstGeom>
          <a:solidFill>
            <a:srgbClr val="0E1D8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566136" y="2496312"/>
            <a:ext cx="1384767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1400" b="1" i="0">
                <a:solidFill>
                  <a:srgbClr val="FFFFFF"/>
                </a:solidFill>
                <a:latin typeface="Lexend"/>
              </a:rPr>
              <a:t>04</a:t>
            </a:r>
          </a:p>
        </p:txBody>
      </p:sp>
      <p:sp>
        <p:nvSpPr>
          <p:cNvPr id="24" name="Oval 23"/>
          <p:cNvSpPr/>
          <p:nvPr/>
        </p:nvSpPr>
        <p:spPr>
          <a:xfrm>
            <a:off x="6002487" y="1828800"/>
            <a:ext cx="512064" cy="512064"/>
          </a:xfrm>
          <a:prstGeom prst="ellipse">
            <a:avLst/>
          </a:prstGeom>
          <a:solidFill>
            <a:srgbClr val="E8EA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25" name="icone:bug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0262" y="1946575"/>
            <a:ext cx="276515" cy="27651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456408" y="3200400"/>
            <a:ext cx="1604223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150" b="1" i="0">
                <a:solidFill>
                  <a:srgbClr val="0C0C0C"/>
                </a:solidFill>
                <a:latin typeface="Lexend"/>
              </a:rPr>
              <a:t>Adulto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74696" y="3493008"/>
            <a:ext cx="1567647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lang="pt-BR" sz="950" b="0" i="0">
                <a:solidFill>
                  <a:srgbClr val="3A3A40"/>
                </a:solidFill>
                <a:latin typeface="Lexend"/>
              </a:rPr>
              <a:t>Asa funcional e reprodução ativa por até 8 meses</a:t>
            </a:r>
          </a:p>
        </p:txBody>
      </p:sp>
      <p:sp>
        <p:nvSpPr>
          <p:cNvPr id="28" name="Chevron 27"/>
          <p:cNvSpPr/>
          <p:nvPr/>
        </p:nvSpPr>
        <p:spPr>
          <a:xfrm>
            <a:off x="7069775" y="2496312"/>
            <a:ext cx="1750527" cy="566928"/>
          </a:xfrm>
          <a:prstGeom prst="chevron">
            <a:avLst>
              <a:gd name="adj" fmla="val 28000"/>
            </a:avLst>
          </a:prstGeom>
          <a:solidFill>
            <a:srgbClr val="F0830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252655" y="2496312"/>
            <a:ext cx="1384767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1400" b="1" i="0">
                <a:solidFill>
                  <a:srgbClr val="FFFFFF"/>
                </a:solidFill>
                <a:latin typeface="Lexend"/>
              </a:rPr>
              <a:t>05</a:t>
            </a:r>
          </a:p>
        </p:txBody>
      </p:sp>
      <p:sp>
        <p:nvSpPr>
          <p:cNvPr id="30" name="Oval 29"/>
          <p:cNvSpPr/>
          <p:nvPr/>
        </p:nvSpPr>
        <p:spPr>
          <a:xfrm>
            <a:off x="7689007" y="1828800"/>
            <a:ext cx="512064" cy="512064"/>
          </a:xfrm>
          <a:prstGeom prst="ellipse">
            <a:avLst/>
          </a:prstGeom>
          <a:solidFill>
            <a:srgbClr val="FEF1E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31" name="icone:egg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06781" y="1946575"/>
            <a:ext cx="276515" cy="27651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142927" y="3200400"/>
            <a:ext cx="1604223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150" b="1" i="0">
                <a:solidFill>
                  <a:srgbClr val="0C0C0C"/>
                </a:solidFill>
                <a:latin typeface="Lexend"/>
              </a:rPr>
              <a:t>Próx. geração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61215" y="3493008"/>
            <a:ext cx="1567647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lang="pt-BR" sz="950" b="0" i="0">
                <a:solidFill>
                  <a:srgbClr val="3A3A40"/>
                </a:solidFill>
                <a:latin typeface="Lexend"/>
              </a:rPr>
              <a:t>Fêmea põe até 400 ovos ao longo da vida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3698" y="4069080"/>
            <a:ext cx="8496605" cy="640080"/>
          </a:xfrm>
          <a:prstGeom prst="roundRect">
            <a:avLst>
              <a:gd name="adj" fmla="val 22857"/>
            </a:avLst>
          </a:prstGeom>
          <a:solidFill>
            <a:srgbClr val="F4E8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506578" y="4160520"/>
            <a:ext cx="457200" cy="457200"/>
          </a:xfrm>
          <a:prstGeom prst="ellipse">
            <a:avLst/>
          </a:prstGeom>
          <a:solidFill>
            <a:srgbClr val="85228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36" name="icone:lightbulb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734" y="4265676"/>
            <a:ext cx="246888" cy="24688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192378" y="4069080"/>
            <a:ext cx="7399325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00" b="1" i="0">
                <a:solidFill>
                  <a:srgbClr val="85228B"/>
                </a:solidFill>
                <a:latin typeface="Lexend"/>
              </a:rPr>
              <a:t>Velocidade: </a:t>
            </a:r>
            <a:r>
              <a:rPr lang="pt-BR" sz="1100" b="0" i="0">
                <a:solidFill>
                  <a:srgbClr val="3A3A40"/>
                </a:solidFill>
                <a:latin typeface="Lexend"/>
              </a:rPr>
              <a:t>em clima quente, uma geração completa ocorre em apenas 45 dias.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698" y="457200"/>
            <a:ext cx="6309360" cy="475488"/>
          </a:xfrm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2150" b="1" i="0">
                <a:solidFill>
                  <a:srgbClr val="0E1D8E"/>
                </a:solidFill>
                <a:latin typeface="Lexend"/>
              </a:rPr>
              <a:t>PERCEVEJO-MARROM X PERCEVEJO-VERDE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698" y="219456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750" b="1" i="0">
                <a:solidFill>
                  <a:srgbClr val="C71D81"/>
                </a:solidFill>
                <a:latin typeface="Lexend"/>
              </a:rPr>
              <a:t>ENTOMOLOGIA  ·  LAB365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3698" y="1188720"/>
            <a:ext cx="4050792" cy="2697480"/>
          </a:xfrm>
          <a:prstGeom prst="roundRect">
            <a:avLst>
              <a:gd name="adj" fmla="val 5423"/>
            </a:avLst>
          </a:prstGeom>
          <a:solidFill>
            <a:srgbClr val="E8EA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506578" y="1344168"/>
            <a:ext cx="548640" cy="548640"/>
          </a:xfrm>
          <a:prstGeom prst="ellipse">
            <a:avLst/>
          </a:prstGeom>
          <a:solidFill>
            <a:srgbClr val="0E1D8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6" name="icone:bu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5" y="1470355"/>
            <a:ext cx="296266" cy="2962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92378" y="1389888"/>
            <a:ext cx="304495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800" b="1" i="0">
                <a:solidFill>
                  <a:srgbClr val="0E1D8E"/>
                </a:solidFill>
                <a:latin typeface="Lexend"/>
              </a:rPr>
              <a:t>PRAGA PRINCIPAL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2378" y="1591056"/>
            <a:ext cx="3044952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1300" b="1" i="0">
                <a:solidFill>
                  <a:srgbClr val="0C0C0C"/>
                </a:solidFill>
                <a:latin typeface="Lexend"/>
              </a:rPr>
              <a:t>Percevejo-marrom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018" y="2103120"/>
            <a:ext cx="12801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1" i="0">
                <a:solidFill>
                  <a:srgbClr val="0E1D8E"/>
                </a:solidFill>
                <a:latin typeface="Lexend"/>
              </a:rPr>
              <a:t>Nome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3898" y="2103120"/>
            <a:ext cx="2267712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0" i="0">
                <a:solidFill>
                  <a:srgbClr val="3A3A40"/>
                </a:solidFill>
                <a:latin typeface="Lexend"/>
              </a:rPr>
              <a:t>Euschistus heros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018" y="2441448"/>
            <a:ext cx="12801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1" i="0">
                <a:solidFill>
                  <a:srgbClr val="0E1D8E"/>
                </a:solidFill>
                <a:latin typeface="Lexend"/>
              </a:rPr>
              <a:t>Cor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3898" y="2441448"/>
            <a:ext cx="2267712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0" i="0">
                <a:solidFill>
                  <a:srgbClr val="3A3A40"/>
                </a:solidFill>
                <a:latin typeface="Lexend"/>
              </a:rPr>
              <a:t>marrom-acinzentado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018" y="2779776"/>
            <a:ext cx="12801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1" i="0">
                <a:solidFill>
                  <a:srgbClr val="0E1D8E"/>
                </a:solidFill>
                <a:latin typeface="Lexend"/>
              </a:rPr>
              <a:t>Tamanho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3898" y="2779776"/>
            <a:ext cx="2267712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0" i="0">
                <a:solidFill>
                  <a:srgbClr val="3A3A40"/>
                </a:solidFill>
                <a:latin typeface="Lexend"/>
              </a:rPr>
              <a:t>11 a 13 mm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018" y="3118104"/>
            <a:ext cx="12801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1" i="0">
                <a:solidFill>
                  <a:srgbClr val="0E1D8E"/>
                </a:solidFill>
                <a:latin typeface="Lexend"/>
              </a:rPr>
              <a:t>Hospedeiro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3898" y="3118104"/>
            <a:ext cx="2267712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0" i="0">
                <a:solidFill>
                  <a:srgbClr val="3A3A40"/>
                </a:solidFill>
                <a:latin typeface="Lexend"/>
              </a:rPr>
              <a:t>soja, milho, sorgo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018" y="3456432"/>
            <a:ext cx="12801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1" i="0">
                <a:solidFill>
                  <a:srgbClr val="0E1D8E"/>
                </a:solidFill>
                <a:latin typeface="Lexend"/>
              </a:rPr>
              <a:t>Dano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3898" y="3456432"/>
            <a:ext cx="2267712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0" i="0">
                <a:solidFill>
                  <a:srgbClr val="3A3A40"/>
                </a:solidFill>
                <a:latin typeface="Lexend"/>
              </a:rPr>
              <a:t>sucção de grãos em formação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69510" y="1188720"/>
            <a:ext cx="4050792" cy="2697480"/>
          </a:xfrm>
          <a:prstGeom prst="roundRect">
            <a:avLst>
              <a:gd name="adj" fmla="val 5423"/>
            </a:avLst>
          </a:prstGeom>
          <a:solidFill>
            <a:srgbClr val="FBE8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4952390" y="1344168"/>
            <a:ext cx="548640" cy="548640"/>
          </a:xfrm>
          <a:prstGeom prst="ellipse">
            <a:avLst/>
          </a:prstGeom>
          <a:solidFill>
            <a:srgbClr val="C71D8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21" name="icone:leaf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8" y="1470355"/>
            <a:ext cx="296266" cy="29626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638190" y="1389888"/>
            <a:ext cx="304495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800" b="1" i="0">
                <a:solidFill>
                  <a:srgbClr val="C71D81"/>
                </a:solidFill>
                <a:latin typeface="Lexend"/>
              </a:rPr>
              <a:t>ESPÉCIE NATIVA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38190" y="1591056"/>
            <a:ext cx="3044952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1300" b="1" i="0">
                <a:solidFill>
                  <a:srgbClr val="0C0C0C"/>
                </a:solidFill>
                <a:latin typeface="Lexend"/>
              </a:rPr>
              <a:t>Percevejo-verde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43830" y="2103120"/>
            <a:ext cx="12801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1" i="0">
                <a:solidFill>
                  <a:srgbClr val="C71D81"/>
                </a:solidFill>
                <a:latin typeface="Lexend"/>
              </a:rPr>
              <a:t>Nome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9710" y="2103120"/>
            <a:ext cx="2267712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0" i="0">
                <a:solidFill>
                  <a:srgbClr val="3A3A40"/>
                </a:solidFill>
                <a:latin typeface="Lexend"/>
              </a:rPr>
              <a:t>Nezara viridula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3830" y="2441448"/>
            <a:ext cx="12801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1" i="0">
                <a:solidFill>
                  <a:srgbClr val="C71D81"/>
                </a:solidFill>
                <a:latin typeface="Lexend"/>
              </a:rPr>
              <a:t>Cor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9710" y="2441448"/>
            <a:ext cx="2267712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0" i="0">
                <a:solidFill>
                  <a:srgbClr val="3A3A40"/>
                </a:solidFill>
                <a:latin typeface="Lexend"/>
              </a:rPr>
              <a:t>verde uniforme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43830" y="2779776"/>
            <a:ext cx="12801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1" i="0">
                <a:solidFill>
                  <a:srgbClr val="C71D81"/>
                </a:solidFill>
                <a:latin typeface="Lexend"/>
              </a:rPr>
              <a:t>Tamanho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9710" y="2779776"/>
            <a:ext cx="2267712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0" i="0">
                <a:solidFill>
                  <a:srgbClr val="3A3A40"/>
                </a:solidFill>
                <a:latin typeface="Lexend"/>
              </a:rPr>
              <a:t>13 a 17 mm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3830" y="3118104"/>
            <a:ext cx="12801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1" i="0">
                <a:solidFill>
                  <a:srgbClr val="C71D81"/>
                </a:solidFill>
                <a:latin typeface="Lexend"/>
              </a:rPr>
              <a:t>Hospedeiro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69710" y="3118104"/>
            <a:ext cx="2267712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0" i="0">
                <a:solidFill>
                  <a:srgbClr val="3A3A40"/>
                </a:solidFill>
                <a:latin typeface="Lexend"/>
              </a:rPr>
              <a:t>soja, feijão, algodão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3830" y="3456432"/>
            <a:ext cx="12801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1" i="0">
                <a:solidFill>
                  <a:srgbClr val="C71D81"/>
                </a:solidFill>
                <a:latin typeface="Lexend"/>
              </a:rPr>
              <a:t>Dano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69710" y="3456432"/>
            <a:ext cx="2267712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0" i="0">
                <a:solidFill>
                  <a:srgbClr val="3A3A40"/>
                </a:solidFill>
                <a:latin typeface="Lexend"/>
              </a:rPr>
              <a:t>grãos chochos e manchados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23545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1400" b="1" i="0">
                <a:solidFill>
                  <a:srgbClr val="3A3A40"/>
                </a:solidFill>
                <a:latin typeface="Lexend"/>
              </a:rPr>
              <a:t>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3698" y="4069080"/>
            <a:ext cx="8496605" cy="640080"/>
          </a:xfrm>
          <a:prstGeom prst="roundRect">
            <a:avLst>
              <a:gd name="adj" fmla="val 22857"/>
            </a:avLst>
          </a:prstGeom>
          <a:solidFill>
            <a:srgbClr val="F4E8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506578" y="4160520"/>
            <a:ext cx="457200" cy="457200"/>
          </a:xfrm>
          <a:prstGeom prst="ellipse">
            <a:avLst/>
          </a:prstGeom>
          <a:solidFill>
            <a:srgbClr val="85228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37" name="icone:lightbulb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34" y="4265676"/>
            <a:ext cx="246888" cy="24688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192378" y="4069080"/>
            <a:ext cx="7399325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00" b="1" i="0">
                <a:solidFill>
                  <a:srgbClr val="85228B"/>
                </a:solidFill>
                <a:latin typeface="Lexend"/>
              </a:rPr>
              <a:t>Ambos: </a:t>
            </a:r>
            <a:r>
              <a:rPr lang="pt-BR" sz="1100" b="0" i="0">
                <a:solidFill>
                  <a:srgbClr val="3A3A40"/>
                </a:solidFill>
                <a:latin typeface="Lexend"/>
              </a:rPr>
              <a:t>são as espécies de maior impacto econômico na agricultura brasileira.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74520"/>
            <a:ext cx="7315200" cy="685800"/>
          </a:xfrm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3000" b="1" i="0">
                <a:solidFill>
                  <a:srgbClr val="FFFFFF"/>
                </a:solidFill>
                <a:latin typeface="Lexend"/>
              </a:rPr>
              <a:t>IMPACTO NA AGRICULTURA</a:t>
            </a:r>
          </a:p>
        </p:txBody>
      </p:sp>
      <p:sp>
        <p:nvSpPr>
          <p:cNvPr id="3" name="Oval 2"/>
          <p:cNvSpPr/>
          <p:nvPr/>
        </p:nvSpPr>
        <p:spPr>
          <a:xfrm>
            <a:off x="4137660" y="75438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4" name="icone:trending-down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7456" y="954176"/>
            <a:ext cx="469087" cy="4690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6060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400" b="0" i="0">
                <a:solidFill>
                  <a:srgbClr val="FFFFFF"/>
                </a:solidFill>
                <a:latin typeface="Lexend"/>
              </a:rPr>
              <a:t>Prejuízos bilionários e estratégias de controle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698" y="457200"/>
            <a:ext cx="6309360" cy="475488"/>
          </a:xfrm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2200" b="1" i="0">
                <a:solidFill>
                  <a:srgbClr val="0E1D8E"/>
                </a:solidFill>
                <a:latin typeface="Lexend"/>
              </a:rPr>
              <a:t>O CUSTO DO DESCUIDO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698" y="219456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750" b="1" i="0">
                <a:solidFill>
                  <a:srgbClr val="C71D81"/>
                </a:solidFill>
                <a:latin typeface="Lexend"/>
              </a:rPr>
              <a:t>ENTOMOLOGIA  ·  LAB365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3698" y="1188720"/>
            <a:ext cx="8496605" cy="1005840"/>
          </a:xfrm>
          <a:prstGeom prst="roundRect">
            <a:avLst>
              <a:gd name="adj" fmla="val 12727"/>
            </a:avLst>
          </a:prstGeom>
          <a:solidFill>
            <a:srgbClr val="F4E8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323698" y="1188720"/>
            <a:ext cx="822960" cy="1005840"/>
          </a:xfrm>
          <a:prstGeom prst="roundRect">
            <a:avLst>
              <a:gd name="adj" fmla="val 15555"/>
            </a:avLst>
          </a:prstGeom>
          <a:solidFill>
            <a:srgbClr val="85228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72338" y="1188720"/>
            <a:ext cx="274320" cy="1005840"/>
          </a:xfrm>
          <a:prstGeom prst="rect">
            <a:avLst/>
          </a:prstGeom>
          <a:solidFill>
            <a:srgbClr val="85228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23698" y="1188720"/>
            <a:ext cx="822960" cy="10058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5400" b="1" i="0">
                <a:solidFill>
                  <a:srgbClr val="FFFFFF"/>
                </a:solidFill>
                <a:latin typeface="Lexend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5258" y="1298448"/>
            <a:ext cx="7216445" cy="7863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lang="pt-BR" sz="1300" b="1" i="0">
                <a:solidFill>
                  <a:srgbClr val="0C0C0C"/>
                </a:solidFill>
                <a:latin typeface="Lexend"/>
              </a:rPr>
              <a:t>O percevejo-marrom causa perdas superiores a R$ 1 bilhão por safra na soja brasileira quando não há manejo adequado.</a:t>
            </a:r>
          </a:p>
          <a:p>
            <a:pPr algn="l">
              <a:lnSpc>
                <a:spcPct val="110000"/>
              </a:lnSpc>
            </a:pPr>
            <a:r>
              <a:rPr lang="pt-BR" sz="950" b="0" i="0">
                <a:solidFill>
                  <a:srgbClr val="85228B"/>
                </a:solidFill>
                <a:latin typeface="Lexend"/>
              </a:rPr>
              <a:t>EMBRAPA Soja, Relatório Técnico 2022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3698" y="2377440"/>
            <a:ext cx="2710282" cy="2331720"/>
          </a:xfrm>
          <a:prstGeom prst="roundRect">
            <a:avLst>
              <a:gd name="adj" fmla="val 6274"/>
            </a:avLst>
          </a:prstGeom>
          <a:solidFill>
            <a:srgbClr val="FEF1E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506578" y="2542032"/>
            <a:ext cx="502920" cy="502920"/>
          </a:xfrm>
          <a:prstGeom prst="ellipse">
            <a:avLst/>
          </a:prstGeom>
          <a:solidFill>
            <a:srgbClr val="F0830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1" name="icone:whea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249" y="2657704"/>
            <a:ext cx="271577" cy="27157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6578" y="3355848"/>
            <a:ext cx="2344522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1300" b="1" i="0">
                <a:solidFill>
                  <a:srgbClr val="0C0C0C"/>
                </a:solidFill>
                <a:latin typeface="Lexend"/>
              </a:rPr>
              <a:t>Grão choco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6578" y="3675888"/>
            <a:ext cx="2344522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pt-BR" sz="1000" b="0" i="0">
                <a:solidFill>
                  <a:srgbClr val="3A3A40"/>
                </a:solidFill>
                <a:latin typeface="Lexend"/>
              </a:rPr>
              <a:t>Sucção no período de enchimento causa grãos vazios e sem valor comercial.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16859" y="2377440"/>
            <a:ext cx="2710282" cy="2331720"/>
          </a:xfrm>
          <a:prstGeom prst="roundRect">
            <a:avLst>
              <a:gd name="adj" fmla="val 6274"/>
            </a:avLst>
          </a:prstGeom>
          <a:solidFill>
            <a:srgbClr val="FBE8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3399739" y="2542032"/>
            <a:ext cx="502920" cy="502920"/>
          </a:xfrm>
          <a:prstGeom prst="ellipse">
            <a:avLst/>
          </a:prstGeom>
          <a:solidFill>
            <a:srgbClr val="C71D8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6" name="icone:flask-conical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5411" y="2657704"/>
            <a:ext cx="271577" cy="27157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399739" y="3355848"/>
            <a:ext cx="2344522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1300" b="1" i="0">
                <a:solidFill>
                  <a:srgbClr val="0C0C0C"/>
                </a:solidFill>
                <a:latin typeface="Lexend"/>
              </a:rPr>
              <a:t>Transmissão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99739" y="3675888"/>
            <a:ext cx="2344522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pt-BR" sz="1000" b="0" i="0">
                <a:solidFill>
                  <a:srgbClr val="3A3A40"/>
                </a:solidFill>
                <a:latin typeface="Lexend"/>
              </a:rPr>
              <a:t>Vetor de fungos e bactérias que reduzem ainda mais a qualidade do produto.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10021" y="2377440"/>
            <a:ext cx="2710282" cy="2331720"/>
          </a:xfrm>
          <a:prstGeom prst="roundRect">
            <a:avLst>
              <a:gd name="adj" fmla="val 6274"/>
            </a:avLst>
          </a:prstGeom>
          <a:solidFill>
            <a:srgbClr val="F4E8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292901" y="2542032"/>
            <a:ext cx="502920" cy="502920"/>
          </a:xfrm>
          <a:prstGeom prst="ellipse">
            <a:avLst/>
          </a:prstGeom>
          <a:solidFill>
            <a:srgbClr val="85228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21" name="icone:trending-down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572" y="2657704"/>
            <a:ext cx="271577" cy="27157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292901" y="3355848"/>
            <a:ext cx="2344522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1300" b="1" i="0">
                <a:solidFill>
                  <a:srgbClr val="0C0C0C"/>
                </a:solidFill>
                <a:latin typeface="Lexend"/>
              </a:rPr>
              <a:t>Queda de preço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2901" y="3675888"/>
            <a:ext cx="2344522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pt-BR" sz="1000" b="0" i="0">
                <a:solidFill>
                  <a:srgbClr val="3A3A40"/>
                </a:solidFill>
                <a:latin typeface="Lexend"/>
              </a:rPr>
              <a:t>Lotes infestados têm desconto de até 15% no preço final pago ao produtor.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698" y="457200"/>
            <a:ext cx="6309360" cy="475488"/>
          </a:xfrm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2200" b="1" i="0">
                <a:solidFill>
                  <a:srgbClr val="0E1D8E"/>
                </a:solidFill>
                <a:latin typeface="Lexend"/>
              </a:rPr>
              <a:t>MANEJO INTEGRADO DE PRAGAS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698" y="219456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750" b="1" i="0">
                <a:solidFill>
                  <a:srgbClr val="C71D81"/>
                </a:solidFill>
                <a:latin typeface="Lexend"/>
              </a:rPr>
              <a:t>ENTOMOLOGIA  ·  LAB365</a:t>
            </a:r>
          </a:p>
        </p:txBody>
      </p:sp>
      <p:sp>
        <p:nvSpPr>
          <p:cNvPr id="4" name="Pentagon 3"/>
          <p:cNvSpPr/>
          <p:nvPr/>
        </p:nvSpPr>
        <p:spPr>
          <a:xfrm>
            <a:off x="323698" y="2496312"/>
            <a:ext cx="1750527" cy="566928"/>
          </a:xfrm>
          <a:prstGeom prst="homePlate">
            <a:avLst>
              <a:gd name="adj" fmla="val 28000"/>
            </a:avLst>
          </a:prstGeom>
          <a:solidFill>
            <a:srgbClr val="F0830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6578" y="2496312"/>
            <a:ext cx="1384767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1400" b="1" i="0">
                <a:solidFill>
                  <a:srgbClr val="FFFFFF"/>
                </a:solidFill>
                <a:latin typeface="Lexend"/>
              </a:rPr>
              <a:t>01</a:t>
            </a:r>
          </a:p>
        </p:txBody>
      </p:sp>
      <p:sp>
        <p:nvSpPr>
          <p:cNvPr id="6" name="Oval 5"/>
          <p:cNvSpPr/>
          <p:nvPr/>
        </p:nvSpPr>
        <p:spPr>
          <a:xfrm>
            <a:off x="942929" y="1828800"/>
            <a:ext cx="512064" cy="512064"/>
          </a:xfrm>
          <a:prstGeom prst="ellipse">
            <a:avLst/>
          </a:prstGeom>
          <a:solidFill>
            <a:srgbClr val="FEF1E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7" name="icone:ey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1946575"/>
            <a:ext cx="276515" cy="2765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96850" y="3200400"/>
            <a:ext cx="1604223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150" b="1" i="0">
                <a:solidFill>
                  <a:srgbClr val="0C0C0C"/>
                </a:solidFill>
                <a:latin typeface="Lexend"/>
              </a:rPr>
              <a:t>Monitorar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5138" y="3493008"/>
            <a:ext cx="1567647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lang="pt-BR" sz="950" b="0" i="0">
                <a:solidFill>
                  <a:srgbClr val="3A3A40"/>
                </a:solidFill>
                <a:latin typeface="Lexend"/>
              </a:rPr>
              <a:t>Amostragem semanal com pano-de-batida</a:t>
            </a:r>
          </a:p>
        </p:txBody>
      </p:sp>
      <p:sp>
        <p:nvSpPr>
          <p:cNvPr id="10" name="Chevron 9"/>
          <p:cNvSpPr/>
          <p:nvPr/>
        </p:nvSpPr>
        <p:spPr>
          <a:xfrm>
            <a:off x="2010217" y="2496312"/>
            <a:ext cx="1750527" cy="566928"/>
          </a:xfrm>
          <a:prstGeom prst="chevron">
            <a:avLst>
              <a:gd name="adj" fmla="val 28000"/>
            </a:avLst>
          </a:prstGeom>
          <a:solidFill>
            <a:srgbClr val="C71D8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193097" y="2496312"/>
            <a:ext cx="1384767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1400" b="1" i="0">
                <a:solidFill>
                  <a:srgbClr val="FFFFFF"/>
                </a:solidFill>
                <a:latin typeface="Lexend"/>
              </a:rPr>
              <a:t>02</a:t>
            </a:r>
          </a:p>
        </p:txBody>
      </p:sp>
      <p:sp>
        <p:nvSpPr>
          <p:cNvPr id="12" name="Oval 11"/>
          <p:cNvSpPr/>
          <p:nvPr/>
        </p:nvSpPr>
        <p:spPr>
          <a:xfrm>
            <a:off x="2629449" y="1828800"/>
            <a:ext cx="512064" cy="512064"/>
          </a:xfrm>
          <a:prstGeom prst="ellipse">
            <a:avLst/>
          </a:prstGeom>
          <a:solidFill>
            <a:srgbClr val="FBE8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3" name="icone:calculato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7223" y="1946575"/>
            <a:ext cx="276515" cy="27651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083369" y="3200400"/>
            <a:ext cx="1604223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150" b="1" i="0">
                <a:solidFill>
                  <a:srgbClr val="0C0C0C"/>
                </a:solidFill>
                <a:latin typeface="Lexend"/>
              </a:rPr>
              <a:t>Nível de dano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1657" y="3493008"/>
            <a:ext cx="1567647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lang="pt-BR" sz="950" b="0" i="0">
                <a:solidFill>
                  <a:srgbClr val="3A3A40"/>
                </a:solidFill>
                <a:latin typeface="Lexend"/>
              </a:rPr>
              <a:t>Acima de 2 percevejos por metro decide o controle</a:t>
            </a:r>
          </a:p>
        </p:txBody>
      </p:sp>
      <p:sp>
        <p:nvSpPr>
          <p:cNvPr id="16" name="Chevron 15"/>
          <p:cNvSpPr/>
          <p:nvPr/>
        </p:nvSpPr>
        <p:spPr>
          <a:xfrm>
            <a:off x="3696736" y="2496312"/>
            <a:ext cx="1750527" cy="566928"/>
          </a:xfrm>
          <a:prstGeom prst="chevron">
            <a:avLst>
              <a:gd name="adj" fmla="val 28000"/>
            </a:avLst>
          </a:prstGeom>
          <a:solidFill>
            <a:srgbClr val="85228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879616" y="2496312"/>
            <a:ext cx="1384767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1400" b="1" i="0">
                <a:solidFill>
                  <a:srgbClr val="FFFFFF"/>
                </a:solidFill>
                <a:latin typeface="Lexend"/>
              </a:rPr>
              <a:t>03</a:t>
            </a:r>
          </a:p>
        </p:txBody>
      </p:sp>
      <p:sp>
        <p:nvSpPr>
          <p:cNvPr id="18" name="Oval 17"/>
          <p:cNvSpPr/>
          <p:nvPr/>
        </p:nvSpPr>
        <p:spPr>
          <a:xfrm>
            <a:off x="4315968" y="1828800"/>
            <a:ext cx="512064" cy="512064"/>
          </a:xfrm>
          <a:prstGeom prst="ellipse">
            <a:avLst/>
          </a:prstGeom>
          <a:solidFill>
            <a:srgbClr val="F4E8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9" name="icone:shield-check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3743" y="1946575"/>
            <a:ext cx="276515" cy="27651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769888" y="3200400"/>
            <a:ext cx="1604223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150" b="1" i="0">
                <a:solidFill>
                  <a:srgbClr val="0C0C0C"/>
                </a:solidFill>
                <a:latin typeface="Lexend"/>
              </a:rPr>
              <a:t>Controle bio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88176" y="3493008"/>
            <a:ext cx="1567647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lang="pt-BR" sz="950" b="0" i="0">
                <a:solidFill>
                  <a:srgbClr val="3A3A40"/>
                </a:solidFill>
                <a:latin typeface="Lexend"/>
              </a:rPr>
              <a:t>Trissolcus basalis parasita ovos naturalmente</a:t>
            </a:r>
          </a:p>
        </p:txBody>
      </p:sp>
      <p:sp>
        <p:nvSpPr>
          <p:cNvPr id="22" name="Chevron 21"/>
          <p:cNvSpPr/>
          <p:nvPr/>
        </p:nvSpPr>
        <p:spPr>
          <a:xfrm>
            <a:off x="5383256" y="2496312"/>
            <a:ext cx="1750527" cy="566928"/>
          </a:xfrm>
          <a:prstGeom prst="chevron">
            <a:avLst>
              <a:gd name="adj" fmla="val 28000"/>
            </a:avLst>
          </a:prstGeom>
          <a:solidFill>
            <a:srgbClr val="0E1D8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566136" y="2496312"/>
            <a:ext cx="1384767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1400" b="1" i="0">
                <a:solidFill>
                  <a:srgbClr val="FFFFFF"/>
                </a:solidFill>
                <a:latin typeface="Lexend"/>
              </a:rPr>
              <a:t>04</a:t>
            </a:r>
          </a:p>
        </p:txBody>
      </p:sp>
      <p:sp>
        <p:nvSpPr>
          <p:cNvPr id="24" name="Oval 23"/>
          <p:cNvSpPr/>
          <p:nvPr/>
        </p:nvSpPr>
        <p:spPr>
          <a:xfrm>
            <a:off x="6002487" y="1828800"/>
            <a:ext cx="512064" cy="512064"/>
          </a:xfrm>
          <a:prstGeom prst="ellipse">
            <a:avLst/>
          </a:prstGeom>
          <a:solidFill>
            <a:srgbClr val="E8EA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25" name="icone:flask-conical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0262" y="1946575"/>
            <a:ext cx="276515" cy="27651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456408" y="3200400"/>
            <a:ext cx="1604223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150" b="1" i="0">
                <a:solidFill>
                  <a:srgbClr val="0C0C0C"/>
                </a:solidFill>
                <a:latin typeface="Lexend"/>
              </a:rPr>
              <a:t>Inseticida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74696" y="3493008"/>
            <a:ext cx="1567647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lang="pt-BR" sz="950" b="0" i="0">
                <a:solidFill>
                  <a:srgbClr val="3A3A40"/>
                </a:solidFill>
                <a:latin typeface="Lexend"/>
              </a:rPr>
              <a:t>Uso seletivo preserva inimigos naturais no campo</a:t>
            </a:r>
          </a:p>
        </p:txBody>
      </p:sp>
      <p:sp>
        <p:nvSpPr>
          <p:cNvPr id="28" name="Chevron 27"/>
          <p:cNvSpPr/>
          <p:nvPr/>
        </p:nvSpPr>
        <p:spPr>
          <a:xfrm>
            <a:off x="7069775" y="2496312"/>
            <a:ext cx="1750527" cy="566928"/>
          </a:xfrm>
          <a:prstGeom prst="chevron">
            <a:avLst>
              <a:gd name="adj" fmla="val 28000"/>
            </a:avLst>
          </a:prstGeom>
          <a:solidFill>
            <a:srgbClr val="F0830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252655" y="2496312"/>
            <a:ext cx="1384767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1400" b="1" i="0">
                <a:solidFill>
                  <a:srgbClr val="FFFFFF"/>
                </a:solidFill>
                <a:latin typeface="Lexend"/>
              </a:rPr>
              <a:t>05</a:t>
            </a:r>
          </a:p>
        </p:txBody>
      </p:sp>
      <p:sp>
        <p:nvSpPr>
          <p:cNvPr id="30" name="Oval 29"/>
          <p:cNvSpPr/>
          <p:nvPr/>
        </p:nvSpPr>
        <p:spPr>
          <a:xfrm>
            <a:off x="7689007" y="1828800"/>
            <a:ext cx="512064" cy="512064"/>
          </a:xfrm>
          <a:prstGeom prst="ellipse">
            <a:avLst/>
          </a:prstGeom>
          <a:solidFill>
            <a:srgbClr val="FEF1E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31" name="icone:rotate-ccw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06781" y="1946575"/>
            <a:ext cx="276515" cy="27651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142927" y="3200400"/>
            <a:ext cx="1604223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150" b="1" i="0">
                <a:solidFill>
                  <a:srgbClr val="0C0C0C"/>
                </a:solidFill>
                <a:latin typeface="Lexend"/>
              </a:rPr>
              <a:t>Rotação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61215" y="3493008"/>
            <a:ext cx="1567647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lang="pt-BR" sz="950" b="0" i="0">
                <a:solidFill>
                  <a:srgbClr val="3A3A40"/>
                </a:solidFill>
                <a:latin typeface="Lexend"/>
              </a:rPr>
              <a:t>Alternância de culturas reduz população residente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3698" y="4069080"/>
            <a:ext cx="8496605" cy="640080"/>
          </a:xfrm>
          <a:prstGeom prst="roundRect">
            <a:avLst>
              <a:gd name="adj" fmla="val 22857"/>
            </a:avLst>
          </a:prstGeom>
          <a:solidFill>
            <a:srgbClr val="F4E8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506578" y="4160520"/>
            <a:ext cx="457200" cy="457200"/>
          </a:xfrm>
          <a:prstGeom prst="ellipse">
            <a:avLst/>
          </a:prstGeom>
          <a:solidFill>
            <a:srgbClr val="85228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36" name="icone:lightbulb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734" y="4265676"/>
            <a:ext cx="246888" cy="24688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192378" y="4069080"/>
            <a:ext cx="7399325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00" b="1" i="0">
                <a:solidFill>
                  <a:srgbClr val="85228B"/>
                </a:solidFill>
                <a:latin typeface="Lexend"/>
              </a:rPr>
              <a:t>MIP: </a:t>
            </a:r>
            <a:r>
              <a:rPr lang="pt-BR" sz="1100" b="0" i="0">
                <a:solidFill>
                  <a:srgbClr val="3A3A40"/>
                </a:solidFill>
                <a:latin typeface="Lexend"/>
              </a:rPr>
              <a:t>o manejo integrado reduz uso de inseticidas em até 60% por safra.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698" y="457200"/>
            <a:ext cx="6309360" cy="475488"/>
          </a:xfrm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2200" b="1" i="0">
                <a:solidFill>
                  <a:srgbClr val="0E1D8E"/>
                </a:solidFill>
                <a:latin typeface="Lexend"/>
              </a:rPr>
              <a:t>CURIOSIDADES SOBRE O PERCEVEJO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698" y="219456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750" b="1" i="0">
                <a:solidFill>
                  <a:srgbClr val="C71D81"/>
                </a:solidFill>
                <a:latin typeface="Lexend"/>
              </a:rPr>
              <a:t>ENTOMOLOGIA  ·  LAB365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3698" y="1188720"/>
            <a:ext cx="4156862" cy="1257300"/>
          </a:xfrm>
          <a:prstGeom prst="roundRect">
            <a:avLst>
              <a:gd name="adj" fmla="val 11636"/>
            </a:avLst>
          </a:prstGeom>
          <a:solidFill>
            <a:srgbClr val="FEF1E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506578" y="1371600"/>
            <a:ext cx="548640" cy="548640"/>
          </a:xfrm>
          <a:prstGeom prst="ellipse">
            <a:avLst/>
          </a:prstGeom>
          <a:solidFill>
            <a:srgbClr val="F0830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6" name="icone:hom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5" y="1497787"/>
            <a:ext cx="296266" cy="2962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92378" y="1389888"/>
            <a:ext cx="310530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800" b="1" i="0">
                <a:solidFill>
                  <a:srgbClr val="C96A00"/>
                </a:solidFill>
                <a:latin typeface="Lexend"/>
              </a:rPr>
              <a:t>INVASOR URBANO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2378" y="1591056"/>
            <a:ext cx="3105302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1300" b="1" i="0">
                <a:solidFill>
                  <a:srgbClr val="0C0C0C"/>
                </a:solidFill>
                <a:latin typeface="Lexend"/>
              </a:rPr>
              <a:t>Entra em casas no inverno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6578" y="2057400"/>
            <a:ext cx="3791102" cy="2514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pt-BR" sz="850" b="0" i="0">
                <a:solidFill>
                  <a:srgbClr val="3A3A40"/>
                </a:solidFill>
                <a:latin typeface="Lexend"/>
              </a:rPr>
              <a:t>Em regiões frias busca abrigo interno e pode infestarcômodos inteiros.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188720"/>
            <a:ext cx="4156862" cy="1257300"/>
          </a:xfrm>
          <a:prstGeom prst="roundRect">
            <a:avLst>
              <a:gd name="adj" fmla="val 11636"/>
            </a:avLst>
          </a:prstGeom>
          <a:solidFill>
            <a:srgbClr val="FBE8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846320" y="1371600"/>
            <a:ext cx="548640" cy="548640"/>
          </a:xfrm>
          <a:prstGeom prst="ellipse">
            <a:avLst/>
          </a:prstGeom>
          <a:solidFill>
            <a:srgbClr val="C71D8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2" name="icone:music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507" y="1497787"/>
            <a:ext cx="296266" cy="29626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532120" y="1389888"/>
            <a:ext cx="310530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800" b="1" i="0">
                <a:solidFill>
                  <a:srgbClr val="C71D81"/>
                </a:solidFill>
                <a:latin typeface="Lexend"/>
              </a:rPr>
              <a:t>COMUNICAÇÃO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2120" y="1591056"/>
            <a:ext cx="3105302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1300" b="1" i="0">
                <a:solidFill>
                  <a:srgbClr val="0C0C0C"/>
                </a:solidFill>
                <a:latin typeface="Lexend"/>
              </a:rPr>
              <a:t>Vibração no substrato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057400"/>
            <a:ext cx="3791102" cy="2514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pt-BR" sz="900" b="0" i="0">
                <a:solidFill>
                  <a:srgbClr val="3A3A40"/>
                </a:solidFill>
                <a:latin typeface="Lexend"/>
              </a:rPr>
              <a:t>Se comunica por vibrações no caule da planta, invisíveis a olho nu.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3698" y="2628900"/>
            <a:ext cx="4156862" cy="1257300"/>
          </a:xfrm>
          <a:prstGeom prst="roundRect">
            <a:avLst>
              <a:gd name="adj" fmla="val 11636"/>
            </a:avLst>
          </a:prstGeom>
          <a:solidFill>
            <a:srgbClr val="F4E8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506578" y="2811780"/>
            <a:ext cx="548640" cy="548640"/>
          </a:xfrm>
          <a:prstGeom prst="ellipse">
            <a:avLst/>
          </a:prstGeom>
          <a:solidFill>
            <a:srgbClr val="85228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8" name="icone:shield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5" y="2937967"/>
            <a:ext cx="296266" cy="29626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92378" y="2830068"/>
            <a:ext cx="310530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800" b="1" i="0">
                <a:solidFill>
                  <a:srgbClr val="85228B"/>
                </a:solidFill>
                <a:latin typeface="Lexend"/>
              </a:rPr>
              <a:t>QUÍMICA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92378" y="3031236"/>
            <a:ext cx="3105302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1300" b="1" i="0">
                <a:solidFill>
                  <a:srgbClr val="0C0C0C"/>
                </a:solidFill>
                <a:latin typeface="Lexend"/>
              </a:rPr>
              <a:t>Defesa por aldeídos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6578" y="3497580"/>
            <a:ext cx="3791102" cy="2514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pt-BR" sz="850" b="0" i="0">
                <a:solidFill>
                  <a:srgbClr val="3A3A40"/>
                </a:solidFill>
                <a:latin typeface="Lexend"/>
              </a:rPr>
              <a:t>O cheiro vem de trans-2-decenal, composto similar ao coentro oxidado.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2628900"/>
            <a:ext cx="4156862" cy="1257300"/>
          </a:xfrm>
          <a:prstGeom prst="roundRect">
            <a:avLst>
              <a:gd name="adj" fmla="val 11636"/>
            </a:avLst>
          </a:prstGeom>
          <a:solidFill>
            <a:srgbClr val="E8EA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846320" y="2811780"/>
            <a:ext cx="548640" cy="548640"/>
          </a:xfrm>
          <a:prstGeom prst="ellipse">
            <a:avLst/>
          </a:prstGeom>
          <a:solidFill>
            <a:srgbClr val="0E1D8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24" name="icone:microscop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2507" y="2937967"/>
            <a:ext cx="296266" cy="29626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532120" y="2830068"/>
            <a:ext cx="310530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800" b="1" i="0">
                <a:solidFill>
                  <a:srgbClr val="0E1D8E"/>
                </a:solidFill>
                <a:latin typeface="Lexend"/>
              </a:rPr>
              <a:t>CIÊNCIA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3031236"/>
            <a:ext cx="3105302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1300" b="1" i="0">
                <a:solidFill>
                  <a:srgbClr val="0C0C0C"/>
                </a:solidFill>
                <a:latin typeface="Lexend"/>
              </a:rPr>
              <a:t>Modelo de pesquisa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3497580"/>
            <a:ext cx="3791102" cy="2514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pt-BR" sz="850" b="0" i="0">
                <a:solidFill>
                  <a:srgbClr val="3A3A40"/>
                </a:solidFill>
                <a:latin typeface="Lexend"/>
              </a:rPr>
              <a:t>Estudado como modelo para novos repelentes naturais e bioinseticidas.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3698" y="4069080"/>
            <a:ext cx="8496605" cy="640080"/>
          </a:xfrm>
          <a:prstGeom prst="roundRect">
            <a:avLst>
              <a:gd name="adj" fmla="val 22857"/>
            </a:avLst>
          </a:prstGeom>
          <a:solidFill>
            <a:srgbClr val="F4E8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506578" y="4160520"/>
            <a:ext cx="457200" cy="457200"/>
          </a:xfrm>
          <a:prstGeom prst="ellipse">
            <a:avLst/>
          </a:prstGeom>
          <a:solidFill>
            <a:srgbClr val="85228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30" name="icone:lightbulb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734" y="4265676"/>
            <a:ext cx="246888" cy="2468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192378" y="4069080"/>
            <a:ext cx="7399325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00" b="1" i="0">
                <a:solidFill>
                  <a:srgbClr val="85228B"/>
                </a:solidFill>
                <a:latin typeface="Lexend"/>
              </a:rPr>
              <a:t>Curiosidade: </a:t>
            </a:r>
            <a:r>
              <a:rPr lang="pt-BR" sz="1100" b="0" i="0">
                <a:solidFill>
                  <a:srgbClr val="3A3A40"/>
                </a:solidFill>
                <a:latin typeface="Lexend"/>
              </a:rPr>
              <a:t>o cheiro do percevejo e do coentro têm o mesmo composto químico.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463040"/>
            <a:ext cx="7315200" cy="685800"/>
          </a:xfrm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2900" b="1" i="0">
                <a:solidFill>
                  <a:srgbClr val="FFFFFF"/>
                </a:solidFill>
                <a:latin typeface="Lexend"/>
              </a:rPr>
              <a:t>PEQUENO, MAS DE GRANDE IMPACTO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400" b="0" i="0">
                <a:solidFill>
                  <a:srgbClr val="FFFFFF"/>
                </a:solidFill>
                <a:latin typeface="Lexend"/>
              </a:rPr>
              <a:t>Entender o percevejo é o primeiro passo para conviver com ele de forma inteligente.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19507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3600" b="1" i="0">
                <a:solidFill>
                  <a:srgbClr val="FFFFFF"/>
                </a:solidFill>
                <a:latin typeface="Lexend"/>
              </a:rPr>
              <a:t>40k+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66160"/>
            <a:ext cx="19507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100" b="0" i="0">
                <a:solidFill>
                  <a:srgbClr val="FFFFFF"/>
                </a:solidFill>
                <a:latin typeface="Lexend"/>
              </a:rPr>
              <a:t>espécies no mundo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96640" y="2926080"/>
            <a:ext cx="19507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3600" b="1" i="0">
                <a:solidFill>
                  <a:srgbClr val="FFFFFF"/>
                </a:solidFill>
                <a:latin typeface="Lexend"/>
              </a:rPr>
              <a:t>40%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6640" y="3566160"/>
            <a:ext cx="19507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100" b="0" i="0">
                <a:solidFill>
                  <a:srgbClr val="FFFFFF"/>
                </a:solidFill>
                <a:latin typeface="Lexend"/>
              </a:rPr>
              <a:t>perda na soja sem controle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21680" y="2926080"/>
            <a:ext cx="19507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3600" b="1" i="0">
                <a:solidFill>
                  <a:srgbClr val="FFFFFF"/>
                </a:solidFill>
                <a:latin typeface="Lexend"/>
              </a:rPr>
              <a:t>60%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21680" y="3566160"/>
            <a:ext cx="19507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100" b="0" i="0">
                <a:solidFill>
                  <a:srgbClr val="FFFFFF"/>
                </a:solidFill>
                <a:latin typeface="Lexend"/>
              </a:rPr>
              <a:t>menos inseticida com MIP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AB 365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Percevejo</dc:title>
  <cp:lastModifiedBy>python-pptx</cp:lastModifiedBy>
  <cp:revision>1</cp:revision>
  <dcterms:modified xsi:type="dcterms:W3CDTF">2026-09-24T20:47:03Z</dcterms:modified>
  <dc:creator>Grupo 1  ·  LAB365 × SENAI</dc:creator>
  <dc:subject>LAB365 × SENAI</dc:subject>
</cp:coreProperties>
</file>