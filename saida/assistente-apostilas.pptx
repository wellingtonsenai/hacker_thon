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y="5143500" cx="9144000"/>
  <p:notesSz cx="6858000" cy="9144000"/>
  <p:embeddedFontLst>
    <p:embeddedFont>
      <p:font typeface="Lexend ExtraBold"/>
      <p:bold r:id="rId108"/>
    </p:embeddedFont>
    <p:embeddedFont>
      <p:font typeface="Lexend Light"/>
      <p:regular r:id="rId109"/>
      <p:bold r:id="rId110"/>
    </p:embeddedFont>
    <p:embeddedFont>
      <p:font typeface="Lexend"/>
      <p:regular r:id="rId111"/>
      <p:bold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">
          <p15:clr>
            <a:srgbClr val="747775"/>
          </p15:clr>
        </p15:guide>
        <p15:guide id="2" pos="204">
          <p15:clr>
            <a:srgbClr val="747775"/>
          </p15:clr>
        </p15:guide>
        <p15:guide id="3" pos="55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" orient="horz"/>
        <p:guide pos="204"/>
        <p:guide pos="555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108" Type="http://schemas.openxmlformats.org/officeDocument/2006/relationships/font" Target="fonts/LexendExtraBold-bold.fntdata"/><Relationship Id="rId109" Type="http://schemas.openxmlformats.org/officeDocument/2006/relationships/font" Target="fonts/LexendLight-regular.fntdata"/><Relationship Id="rId110" Type="http://schemas.openxmlformats.org/officeDocument/2006/relationships/font" Target="fonts/LexendLight-bold.fntdata"/><Relationship Id="rId111" Type="http://schemas.openxmlformats.org/officeDocument/2006/relationships/font" Target="fonts/Lexend-regular.fntdata"/><Relationship Id="rId112" Type="http://schemas.openxmlformats.org/officeDocument/2006/relationships/font" Target="fonts/Lexen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o grupo e o caso: um assistente que responde dúvidas usando só o conteúdo das apostilas.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Contexto: quem sofre com o problema hoje.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Deixe claro o usuário e a dor. A métrica de sucesso aparece no fim.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regra de ouro: sem fonte, sem resposta.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Agora o como: padrão, serviços e fluxo.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Justifique por que RAG e não fine-tuning.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Percorra o diagrama seguindo os 5 passos numerados.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o pipeline RAG de ponta a ponta.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peça responde uma pergunta do plano: modelo, dados e integrações.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Fechando o plano: segurança, custo e métrica.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que o agente tem limites claros.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Feche com números concretos e como serão medidos.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para perguntas do tribunal.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ção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1527900" y="15768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Lexend"/>
              <a:buNone/>
              <a:defRPr b="1" sz="35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just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2500"/>
              <a:buFont typeface="Lexend"/>
              <a:buNone/>
              <a:defRPr b="1" sz="2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24000" y="1344100"/>
            <a:ext cx="84738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1500"/>
              <a:buFont typeface="Lexend"/>
              <a:buNone/>
              <a:defRPr sz="1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Extra da Apresentação">
  <p:cSld name="CUSTOM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/>
          <p:cNvPicPr preferRelativeResize="0"/>
          <p:nvPr/>
        </p:nvPicPr>
        <p:blipFill rotWithShape="1">
          <a:blip r:embed="rId3">
            <a:alphaModFix/>
          </a:blip>
          <a:srcRect b="43071" l="20157" r="47629" t="42274"/>
          <a:stretch/>
        </p:blipFill>
        <p:spPr>
          <a:xfrm>
            <a:off x="3063175" y="2183425"/>
            <a:ext cx="3017650" cy="7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bra de Tema">
  <p:cSld name="CUSTOM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type="title"/>
          </p:nvPr>
        </p:nvSpPr>
        <p:spPr>
          <a:xfrm>
            <a:off x="1288200" y="2002350"/>
            <a:ext cx="6567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Lexend"/>
              <a:buNone/>
              <a:defRPr b="1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urso Extra">
  <p:cSld name="CUSTOM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193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type="title"/>
          </p:nvPr>
        </p:nvSpPr>
        <p:spPr>
          <a:xfrm>
            <a:off x="1527900" y="21337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Lexend"/>
              <a:buNone/>
              <a:defRPr b="1" sz="25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783080"/>
            <a:ext cx="7680960" cy="73152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200" b="1" i="0">
                <a:solidFill>
                  <a:srgbClr val="FFFFFF"/>
                </a:solidFill>
                <a:latin typeface="Lexend"/>
              </a:rPr>
              <a:t>ASSISTENTE DAS APOSTILAS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600" b="0" i="0">
                <a:solidFill>
                  <a:srgbClr val="FFFFFF"/>
                </a:solidFill>
                <a:latin typeface="Lexend"/>
              </a:rPr>
              <a:t>RAG que responde dúvidas dos alunos com as apostilas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 Light"/>
              </a:rPr>
              <a:t>Grupo 1  ·  Caso 1  ·  LAB365 × SENAI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O PROBLEMA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book-ope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Dúvida que chega fora da aula fica sem resposta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PROBLEMA E USUÁRIO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CASO 1  ·  ASSISTENTE DAS APOSTILAS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2710282" cy="2697480"/>
          </a:xfrm>
          <a:prstGeom prst="roundRect">
            <a:avLst>
              <a:gd name="adj" fmla="val 5423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71600"/>
            <a:ext cx="548640" cy="54864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graduation-ca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97787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16587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96A00"/>
                </a:solidFill>
                <a:latin typeface="Lexend"/>
              </a:rPr>
              <a:t>USUÁRIO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165872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Alunos do SENAI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8" y="2057400"/>
            <a:ext cx="2344522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Estudam com as apostilas e têm dúvidas a qualquer hora, inclusive fora da aula.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6859" y="1188720"/>
            <a:ext cx="2710282" cy="2697480"/>
          </a:xfrm>
          <a:prstGeom prst="roundRect">
            <a:avLst>
              <a:gd name="adj" fmla="val 5423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399739" y="1371600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icone:clo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926" y="1497787"/>
            <a:ext cx="296266" cy="296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85539" y="1389888"/>
            <a:ext cx="16587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539" y="1591056"/>
            <a:ext cx="165872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Resposta que demora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9739" y="2057400"/>
            <a:ext cx="2344522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O professor não consegue atender todos, e a dúvida esfria até a próxima aula.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0021" y="1188720"/>
            <a:ext cx="2710282" cy="2697480"/>
          </a:xfrm>
          <a:prstGeom prst="roundRect">
            <a:avLst>
              <a:gd name="adj" fmla="val 5423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292901" y="1371600"/>
            <a:ext cx="548640" cy="54864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file-searc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497787"/>
            <a:ext cx="296266" cy="2962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78701" y="1389888"/>
            <a:ext cx="16587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85228B"/>
                </a:solidFill>
                <a:latin typeface="Lexend"/>
              </a:rPr>
              <a:t>HOJE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8701" y="1591056"/>
            <a:ext cx="165872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Busca manual no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2901" y="2057400"/>
            <a:ext cx="2344522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Procurar no PDF é lento e impreciso; o aluno desiste ou pesquisa fora do material.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4" name="icone:lightbulb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Objetivo: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responder na hora, sempre citando o trecho da apostila usado.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CASO 1  ·  ASSISTENTE DAS APOSTILAS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8496605" cy="1005840"/>
          </a:xfrm>
          <a:prstGeom prst="roundRect">
            <a:avLst>
              <a:gd name="adj" fmla="val 1272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23698" y="1188720"/>
            <a:ext cx="822960" cy="1005840"/>
          </a:xfrm>
          <a:prstGeom prst="roundRect">
            <a:avLst>
              <a:gd name="adj" fmla="val 15555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72338" y="1188720"/>
            <a:ext cx="274320" cy="1005840"/>
          </a:xfrm>
          <a:prstGeom prst="rect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3698" y="1188720"/>
            <a:ext cx="82296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5400" b="1" i="0">
                <a:solidFill>
                  <a:srgbClr val="FFFFFF"/>
                </a:solidFill>
                <a:latin typeface="Lexend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5258" y="1298448"/>
            <a:ext cx="7216445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Toda resposta vem das apostilas do curso, com a página citada como fonte.</a:t>
            </a:r>
          </a:p>
          <a:p>
            <a:pPr algn="l">
              <a:lnSpc>
                <a:spcPct val="110000"/>
              </a:lnSpc>
            </a:pPr>
            <a:r>
              <a:rPr lang="pt-BR" sz="950" b="0" i="0">
                <a:solidFill>
                  <a:srgbClr val="85228B"/>
                </a:solidFill>
                <a:latin typeface="Lexend"/>
              </a:rPr>
              <a:t>Princípio do Assistente das apostilas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698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06578" y="2542032"/>
            <a:ext cx="502920" cy="50292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" name="icone:message-square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49" y="2657704"/>
            <a:ext cx="271577" cy="2715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578" y="3154680"/>
            <a:ext cx="23445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96A00"/>
                </a:solidFill>
                <a:latin typeface="Lexend"/>
              </a:rPr>
              <a:t>PERGUNTA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8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Em português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8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O aluno escreve a dúvida como falaria com o professor.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6859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399739" y="2542032"/>
            <a:ext cx="502920" cy="50292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" name="icone:searc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411" y="2657704"/>
            <a:ext cx="271577" cy="27157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99739" y="3154680"/>
            <a:ext cx="23445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BUSCA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9739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Só no 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9739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O agente recupera os trechos mais relevantes das apostilas.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0021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292901" y="2542032"/>
            <a:ext cx="502920" cy="50292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3" name="icone:quo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572" y="2657704"/>
            <a:ext cx="271577" cy="27157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92901" y="3154680"/>
            <a:ext cx="234452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85228B"/>
                </a:solidFill>
                <a:latin typeface="Lexend"/>
              </a:rPr>
              <a:t>RESPOSTA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2901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Com fonte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2901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A resposta cita apostila e página para o aluno conferir.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A ARQUITETURA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netwo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Agente com recuperação (RAG) na 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PADRÃO ESCOLHIDO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CASO 1  ·  ASSISTENTE DAS APOSTILAS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4050792" cy="2697480"/>
          </a:xfrm>
          <a:prstGeom prst="roundRect">
            <a:avLst>
              <a:gd name="adj" fmla="val 5423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44168"/>
            <a:ext cx="548640" cy="54864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bo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70355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30449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0E1D8E"/>
                </a:solidFill>
                <a:latin typeface="Lexend"/>
              </a:rPr>
              <a:t>ESCOLHIDO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30449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Agente com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018" y="2103120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Conteúdo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3898" y="2103120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atualiza ao trocar o PDF no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8" y="252374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Fonte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3898" y="2523744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cita o trecho usado na resposta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8" y="2944368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Custo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3898" y="2944368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paga só pelo 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8" y="3364992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Prazo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3898" y="3364992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pronto em horas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9510" y="1188720"/>
            <a:ext cx="4050792" cy="2697480"/>
          </a:xfrm>
          <a:prstGeom prst="roundRect">
            <a:avLst>
              <a:gd name="adj" fmla="val 5423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952390" y="1344168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icone:brai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8" y="1470355"/>
            <a:ext cx="296266" cy="2962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38190" y="1389888"/>
            <a:ext cx="30449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ALTERNATIVA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8190" y="1591056"/>
            <a:ext cx="30449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Fine-tuning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3830" y="2103120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Conteúdo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9710" y="2103120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retreina a cada apostila nova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3830" y="252374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Fonte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9710" y="2523744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não mostra de onde veio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3830" y="2944368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Custo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9710" y="2944368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GPU para treinar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3830" y="3364992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Prazo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9710" y="3364992"/>
            <a:ext cx="2267712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semanas de preparo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3545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3A3A40"/>
                </a:solidFill>
                <a:latin typeface="Lexend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3" name="icone:lightbulb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Regra de arquitetura: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comece pelo mais simples que resolve o problema.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CASO 1  ·  ASSISTENTE DAS APOSTILAS</a:t>
            </a:r>
          </a:p>
        </p:txBody>
      </p:sp>
      <p:pic>
        <p:nvPicPr>
          <p:cNvPr id="4" name="Picture 3" descr="apostilas-depo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48" y="1188720"/>
            <a:ext cx="3675259" cy="3520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35778" y="1188720"/>
            <a:ext cx="3284525" cy="566928"/>
          </a:xfrm>
          <a:prstGeom prst="roundRect">
            <a:avLst>
              <a:gd name="adj" fmla="val 16129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45506" y="1289304"/>
            <a:ext cx="365760" cy="36576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45506" y="12893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994" y="1188720"/>
            <a:ext cx="260786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Pergunta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O aluno envia a dúvida pelo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5778" y="1828800"/>
            <a:ext cx="3284525" cy="566928"/>
          </a:xfrm>
          <a:prstGeom prst="roundRect">
            <a:avLst>
              <a:gd name="adj" fmla="val 16129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645506" y="1929384"/>
            <a:ext cx="365760" cy="36576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45506" y="19293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994" y="1828800"/>
            <a:ext cx="260786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Login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Cognito confirma quem é o aluno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5778" y="2468880"/>
            <a:ext cx="3284525" cy="566928"/>
          </a:xfrm>
          <a:prstGeom prst="roundRect">
            <a:avLst>
              <a:gd name="adj" fmla="val 16129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645506" y="2569464"/>
            <a:ext cx="365760" cy="36576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45506" y="25694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994" y="2468880"/>
            <a:ext cx="260786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Chama o agente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API Gateway aciona o AgentCore Runtime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5778" y="3108960"/>
            <a:ext cx="3284525" cy="566928"/>
          </a:xfrm>
          <a:prstGeom prst="roundRect">
            <a:avLst>
              <a:gd name="adj" fmla="val 16129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45506" y="3209544"/>
            <a:ext cx="365760" cy="36576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45506" y="320954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994" y="3108960"/>
            <a:ext cx="260786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Busca trechos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Knowledge Bases consulta as apostilas no S3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5778" y="3749040"/>
            <a:ext cx="3284525" cy="566928"/>
          </a:xfrm>
          <a:prstGeom prst="roundRect">
            <a:avLst>
              <a:gd name="adj" fmla="val 16129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645506" y="3849624"/>
            <a:ext cx="365760" cy="36576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45506" y="38496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100" b="1" i="0">
                <a:solidFill>
                  <a:srgbClr val="FFFFFF"/>
                </a:solidFill>
                <a:latin typeface="Lexen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994" y="3749040"/>
            <a:ext cx="260786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050" b="1" i="0">
                <a:solidFill>
                  <a:srgbClr val="0C0C0C"/>
                </a:solidFill>
                <a:latin typeface="Lexend"/>
              </a:rPr>
              <a:t>Gera resposta</a:t>
            </a:r>
          </a:p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Bedrock responde citando a fonte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DA APOSTILA À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CASO 1  ·  ASSISTENTE DAS APOSTILAS</a:t>
            </a:r>
          </a:p>
        </p:txBody>
      </p:sp>
      <p:sp>
        <p:nvSpPr>
          <p:cNvPr id="4" name="Pentagon 3"/>
          <p:cNvSpPr/>
          <p:nvPr/>
        </p:nvSpPr>
        <p:spPr>
          <a:xfrm>
            <a:off x="323698" y="2496312"/>
            <a:ext cx="1750527" cy="566928"/>
          </a:xfrm>
          <a:prstGeom prst="homePlate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6578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942929" y="182880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" name="icone:uploa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946575"/>
            <a:ext cx="276515" cy="2765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850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Ingestão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8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PDFs das apostilas vão para o S3</a:t>
            </a:r>
          </a:p>
        </p:txBody>
      </p:sp>
      <p:sp>
        <p:nvSpPr>
          <p:cNvPr id="10" name="Chevron 9"/>
          <p:cNvSpPr/>
          <p:nvPr/>
        </p:nvSpPr>
        <p:spPr>
          <a:xfrm>
            <a:off x="2010217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93097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2629449" y="1828800"/>
            <a:ext cx="512064" cy="512064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" name="icone:scissor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223" y="1946575"/>
            <a:ext cx="276515" cy="2765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3369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1657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Knowledge Bases divide em trechos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96736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79616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03</a:t>
            </a:r>
          </a:p>
        </p:txBody>
      </p:sp>
      <p:sp>
        <p:nvSpPr>
          <p:cNvPr id="18" name="Oval 17"/>
          <p:cNvSpPr/>
          <p:nvPr/>
        </p:nvSpPr>
        <p:spPr>
          <a:xfrm>
            <a:off x="4315968" y="1828800"/>
            <a:ext cx="512064" cy="512064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icone:binary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743" y="1946575"/>
            <a:ext cx="276515" cy="2765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69888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8176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Trechos viram vetores no OpenSearch</a:t>
            </a:r>
          </a:p>
        </p:txBody>
      </p:sp>
      <p:sp>
        <p:nvSpPr>
          <p:cNvPr id="22" name="Chevron 21"/>
          <p:cNvSpPr/>
          <p:nvPr/>
        </p:nvSpPr>
        <p:spPr>
          <a:xfrm>
            <a:off x="5383256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566136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6002487" y="1828800"/>
            <a:ext cx="512064" cy="512064"/>
          </a:xfrm>
          <a:prstGeom prst="ellipse">
            <a:avLst/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5" name="icone:search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262" y="1946575"/>
            <a:ext cx="276515" cy="2765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6408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Recuperação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4696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Busca os trechos mais próximos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69775" y="249631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252655" y="249631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05</a:t>
            </a:r>
          </a:p>
        </p:txBody>
      </p:sp>
      <p:sp>
        <p:nvSpPr>
          <p:cNvPr id="30" name="Oval 29"/>
          <p:cNvSpPr/>
          <p:nvPr/>
        </p:nvSpPr>
        <p:spPr>
          <a:xfrm>
            <a:off x="7689007" y="182880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1" name="icone:sparkles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781" y="1946575"/>
            <a:ext cx="276515" cy="27651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42927" y="320040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Geração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1215" y="349300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O modelo escreve a resposta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6" name="icone:lightbulb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Apostila nova: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basta subir o PDF e sincronizar a base, sem retreinar.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MODELO, DADOS 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CASO 1  ·  ASSISTENTE DAS APOSTILAS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4156862" cy="1668780"/>
          </a:xfrm>
          <a:prstGeom prst="roundRect">
            <a:avLst>
              <a:gd name="adj" fmla="val 8767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71600"/>
            <a:ext cx="548640" cy="54864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cpu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97787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96A00"/>
                </a:solidFill>
                <a:latin typeface="Lexend"/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Amazon Bedrock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8" y="2057400"/>
            <a:ext cx="3791102" cy="6629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Modelo de linguagem por API, sem servidor para gerenciar.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88720"/>
            <a:ext cx="4156862" cy="1668780"/>
          </a:xfrm>
          <a:prstGeom prst="roundRect">
            <a:avLst>
              <a:gd name="adj" fmla="val 8767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icone:databas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507" y="1497787"/>
            <a:ext cx="296266" cy="296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2120" y="138988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59105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Apostilas no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57400"/>
            <a:ext cx="3791102" cy="6629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PDFs oficiais do curso, indexados pelo Knowledge Bases.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8" y="3040380"/>
            <a:ext cx="4156862" cy="1668780"/>
          </a:xfrm>
          <a:prstGeom prst="roundRect">
            <a:avLst>
              <a:gd name="adj" fmla="val 876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06578" y="3223260"/>
            <a:ext cx="548640" cy="54864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serv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5" y="3349447"/>
            <a:ext cx="296266" cy="2962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2378" y="324154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85228B"/>
                </a:solidFill>
                <a:latin typeface="Lexend"/>
              </a:rPr>
              <a:t>EXECUÇÃO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2378" y="344271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AgentCore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8" y="3909060"/>
            <a:ext cx="3791102" cy="6629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Roda o agente com isolamento entre sessões de alunos.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040380"/>
            <a:ext cx="4156862" cy="1668780"/>
          </a:xfrm>
          <a:prstGeom prst="roundRect">
            <a:avLst>
              <a:gd name="adj" fmla="val 8767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846320" y="3223260"/>
            <a:ext cx="548640" cy="54864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4" name="icone:history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507" y="3349447"/>
            <a:ext cx="296266" cy="296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24154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0E1D8E"/>
                </a:solidFill>
                <a:latin typeface="Lexend"/>
              </a:rPr>
              <a:t>CONTEXTO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44271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AgentCore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909060"/>
            <a:ext cx="3791102" cy="6629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Lembra a conversa para perguntas de continuação.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GOVERNANÇA E RESULTADO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shield-che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Limites, custo e como medimos o sucesso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GUARDRAILS E GOVERNANÇA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CASO 1  ·  ASSISTENTE DAS APOSTILAS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433426" y="1261872"/>
            <a:ext cx="320040" cy="320040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shield-che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5" y="1335481"/>
            <a:ext cx="172822" cy="172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058" y="1188720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Bedrock Guardrails bloqueia assunto fora do curso e conteúdo impróprio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8" y="1746504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33426" y="1819656"/>
            <a:ext cx="320040" cy="320040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" name="icone:shield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35" y="1893265"/>
            <a:ext cx="172822" cy="1728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8058" y="1746504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Sem fonte na apostila, o agente responde que não sabe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8" y="2304288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33426" y="2377440"/>
            <a:ext cx="320040" cy="320040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" name="icone:shiel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5" y="2451049"/>
            <a:ext cx="172822" cy="1728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058" y="2304288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Nenhum dado pessoal do aluno vai para o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8" y="2862072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33426" y="2935224"/>
            <a:ext cx="320040" cy="320040"/>
          </a:xfrm>
          <a:prstGeom prst="ellipse">
            <a:avLst/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35" y="3008833"/>
            <a:ext cx="172822" cy="1728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8058" y="2862072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Credenciais via IAM Role, nunca chave no código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8" y="3419856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33426" y="3493008"/>
            <a:ext cx="320040" cy="320040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2" name="icone:shield-che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5" y="3566617"/>
            <a:ext cx="172822" cy="172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8" y="3419856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Logs de uso no CloudTrail para auditoria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6" name="icone:lightbulb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3A3A40"/>
                </a:solidFill>
                <a:latin typeface="Lexend"/>
              </a:rPr>
              <a:t>Dados sempre públicos ou fictícios no workshop.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CUSTO E MÉTRICA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CASO 1  ·  ASSISTENTE DAS APOSTILAS</a:t>
            </a:r>
          </a:p>
        </p:txBody>
      </p:sp>
      <p:sp>
        <p:nvSpPr>
          <p:cNvPr id="4" name="Oval 3"/>
          <p:cNvSpPr/>
          <p:nvPr/>
        </p:nvSpPr>
        <p:spPr>
          <a:xfrm>
            <a:off x="1031138" y="1325880"/>
            <a:ext cx="1234440" cy="1234440"/>
          </a:xfrm>
          <a:prstGeom prst="ellipse">
            <a:avLst/>
          </a:prstGeom>
          <a:noFill/>
          <a:ln w="88900">
            <a:solidFill>
              <a:srgbClr val="F0830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22578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C96A00"/>
                </a:solidFill>
                <a:latin typeface="Lexend"/>
              </a:rPr>
              <a:t>&lt; 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578" y="2724912"/>
            <a:ext cx="228356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tempo de resposta por pergunta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578" y="3273552"/>
            <a:ext cx="228356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Meta do grupo</a:t>
            </a:r>
          </a:p>
        </p:txBody>
      </p:sp>
      <p:sp>
        <p:nvSpPr>
          <p:cNvPr id="8" name="Oval 7"/>
          <p:cNvSpPr/>
          <p:nvPr/>
        </p:nvSpPr>
        <p:spPr>
          <a:xfrm>
            <a:off x="3954780" y="1325880"/>
            <a:ext cx="1234440" cy="1234440"/>
          </a:xfrm>
          <a:prstGeom prst="ellipse">
            <a:avLst/>
          </a:prstGeom>
          <a:noFill/>
          <a:ln w="88900">
            <a:solidFill>
              <a:srgbClr val="C71D8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046220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C71D81"/>
                </a:solidFill>
                <a:latin typeface="Lexend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0219" y="2724912"/>
            <a:ext cx="228356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das respostas com apostila e página citadas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0219" y="3273552"/>
            <a:ext cx="228356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Critério de aceite</a:t>
            </a:r>
          </a:p>
        </p:txBody>
      </p:sp>
      <p:sp>
        <p:nvSpPr>
          <p:cNvPr id="12" name="Oval 11"/>
          <p:cNvSpPr/>
          <p:nvPr/>
        </p:nvSpPr>
        <p:spPr>
          <a:xfrm>
            <a:off x="6878422" y="1325880"/>
            <a:ext cx="1234440" cy="1234440"/>
          </a:xfrm>
          <a:prstGeom prst="ellipse">
            <a:avLst/>
          </a:prstGeom>
          <a:noFill/>
          <a:ln w="88900">
            <a:solidFill>
              <a:srgbClr val="85228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69862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85228B"/>
                </a:solidFill>
                <a:latin typeface="Lexend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861" y="2724912"/>
            <a:ext cx="228356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servidores para manter: tudo gerenciado e pago por 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861" y="3273552"/>
            <a:ext cx="228356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Arquitetura serverless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lightbulb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Como medir: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amostra semanal de respostas avaliada pelos professores.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6304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Assistente das apostilas  · 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passos do fluxo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664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664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perguntas do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168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regra: sempre com fonte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B 36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Assistente das apostilas</dc:title>
  <cp:lastModifiedBy>python-pptx</cp:lastModifiedBy>
  <cp:revision>1</cp:revision>
  <dcterms:modified xsi:type="dcterms:W3CDTF">2026-09-24T20:05:44Z</dcterms:modified>
  <dc:creator>Grupo 1  ·  LAB365 × SENAI</dc:creator>
  <dc:subject>LAB365 × SENAI</dc:subject>
</cp:coreProperties>
</file>