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y="5143500" cx="9144000"/>
  <p:notesSz cx="6858000" cy="9144000"/>
  <p:embeddedFontLst>
    <p:embeddedFont>
      <p:font typeface="Lexend ExtraBold"/>
      <p:bold r:id="rId108"/>
    </p:embeddedFont>
    <p:embeddedFont>
      <p:font typeface="Lexend Light"/>
      <p:regular r:id="rId109"/>
      <p:bold r:id="rId110"/>
    </p:embeddedFont>
    <p:embeddedFont>
      <p:font typeface="Lexend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108" Type="http://schemas.openxmlformats.org/officeDocument/2006/relationships/font" Target="fonts/LexendExtraBold-bold.fntdata"/><Relationship Id="rId109" Type="http://schemas.openxmlformats.org/officeDocument/2006/relationships/font" Target="fonts/LexendLight-regular.fntdata"/><Relationship Id="rId110" Type="http://schemas.openxmlformats.org/officeDocument/2006/relationships/font" Target="fonts/LexendLight-bold.fntdata"/><Relationship Id="rId111" Type="http://schemas.openxmlformats.org/officeDocument/2006/relationships/font" Target="fonts/Lexend-regular.fntdata"/><Relationship Id="rId112" Type="http://schemas.openxmlformats.org/officeDocument/2006/relationships/font" Target="fonts/Lexen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Boas-vindas. Este deck explora tudo sobre o pudim: origem, tipos, receita e por que ele continua sendo a sobremesa favorita dos brasileiros.</a:t>
            </a:r>
          </a:p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começar pela origem: o pudim tem raízes medievais e chegou ao Brasil pela culinária portuguesa.</a:t>
            </a:r>
          </a:p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Essa frase resume bem a filosofia do prato. Os cards contextualizam origem, abrangência global e popularidade no Brasil.</a:t>
            </a:r>
          </a:p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Cinco etapas mostram a evolução cronológica até o pudim que conhecemos hoje.</a:t>
            </a:r>
          </a:p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Agora vamos ver a diversidade de pudins que existem no Brasil e no mundo.</a:t>
            </a:r>
          </a:p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clássicos bem conhecidos. O destaque no rodapé ancora com dado real.</a:t>
            </a:r>
          </a:p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Comparação clara entre o preparo tradicional e as releituras contemporâneas.</a:t>
            </a:r>
          </a:p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 técnico: vamos explicar a química e a física por trás da textura perfeita.</a:t>
            </a:r>
          </a:p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números ancoram a ciência de forma visual e memorável.</a:t>
            </a:r>
          </a:p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Seis etapas cobrem o processo completo, do liquidificador à mesa.</a:t>
            </a:r>
          </a:p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Lista direta de erros clássicos que qualquer iniciante precisa evitar.</a:t>
            </a:r>
          </a:p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 com impacto. Os três números sintetizam a grandeza do pudim.</a:t>
            </a:r>
          </a:p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final com os logos LAB365 e SENAI.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20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0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783080"/>
            <a:ext cx="7680960" cy="73152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200" b="1" i="0">
                <a:solidFill>
                  <a:srgbClr val="FFFFFF"/>
                </a:solidFill>
                <a:latin typeface="Lexend"/>
              </a:rPr>
              <a:t>PUDIM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600" b="0" i="0">
                <a:solidFill>
                  <a:srgbClr val="FFFFFF"/>
                </a:solidFill>
                <a:latin typeface="Lexend"/>
              </a:rPr>
              <a:t>A sobremesa mais querida do Brasil — história, segredos e ciência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 Light"/>
              </a:rPr>
              <a:t>Grupo 1  ·  LAB365 × SENAI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DE ONDE VEM O PUDIM?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book-ope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Uma sobremesa com mais de mil anos de história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UMA FRASE QUE DEFINE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8496605" cy="1005840"/>
          </a:xfrm>
          <a:prstGeom prst="roundRect">
            <a:avLst>
              <a:gd name="adj" fmla="val 1272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23698" y="1188720"/>
            <a:ext cx="822960" cy="1005840"/>
          </a:xfrm>
          <a:prstGeom prst="roundRect">
            <a:avLst>
              <a:gd name="adj" fmla="val 15555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2338" y="1188720"/>
            <a:ext cx="274320" cy="1005840"/>
          </a:xfrm>
          <a:prstGeom prst="rect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3698" y="1188720"/>
            <a:ext cx="8229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5400" b="1" i="0">
                <a:solidFill>
                  <a:srgbClr val="FFFFFF"/>
                </a:solidFill>
                <a:latin typeface="Lexend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5258" y="1298448"/>
            <a:ext cx="7216445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O pudim é a prova de que ingredientes simples, unidos com técnica e paciência, criam algo extraordinário.</a:t>
            </a:r>
          </a:p>
          <a:p>
            <a:pPr algn="l">
              <a:lnSpc>
                <a:spcPct val="110000"/>
              </a:lnSpc>
            </a:pPr>
            <a:r>
              <a:rPr lang="pt-BR" sz="950" b="0" i="0">
                <a:solidFill>
                  <a:srgbClr val="85228B"/>
                </a:solidFill>
                <a:latin typeface="Lexend"/>
              </a:rPr>
              <a:t>Larousse Gastronomique, 2009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8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6578" y="2542032"/>
            <a:ext cx="502920" cy="50292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" name="icone:ma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49" y="2657704"/>
            <a:ext cx="271577" cy="2715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578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Origem medieval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8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A receita veio da Europa e chegou ao Brasil com os colonizadores portugueses.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6859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399739" y="2542032"/>
            <a:ext cx="502920" cy="50292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" name="icone:glob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411" y="2657704"/>
            <a:ext cx="271577" cy="2715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99739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Presença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9739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Versões do pudim existem em mais de 40 países com nomes e técnicas diferentes.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0021" y="2377440"/>
            <a:ext cx="2710282" cy="2331720"/>
          </a:xfrm>
          <a:prstGeom prst="roundRect">
            <a:avLst>
              <a:gd name="adj" fmla="val 6274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292901" y="2542032"/>
            <a:ext cx="502920" cy="50292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" name="icone:hear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72" y="2657704"/>
            <a:ext cx="271577" cy="2715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92901" y="3355848"/>
            <a:ext cx="234452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Favorito nacional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2901" y="3675888"/>
            <a:ext cx="234452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É a sobremesa mais pesquisada no Google Brasil há mais de cinco anos seguidos.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COMO O PUDIM SURGIU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Pentagon 3"/>
          <p:cNvSpPr/>
          <p:nvPr/>
        </p:nvSpPr>
        <p:spPr>
          <a:xfrm>
            <a:off x="323698" y="2770632"/>
            <a:ext cx="1750527" cy="566928"/>
          </a:xfrm>
          <a:prstGeom prst="homePlate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6578" y="277063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942929" y="210312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icone:book-ope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220895"/>
            <a:ext cx="276515" cy="276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50" y="347472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Século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8" y="376732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Pão, ovos e mel nas cozinhas medievais europeias</a:t>
            </a:r>
          </a:p>
        </p:txBody>
      </p:sp>
      <p:sp>
        <p:nvSpPr>
          <p:cNvPr id="10" name="Chevron 9"/>
          <p:cNvSpPr/>
          <p:nvPr/>
        </p:nvSpPr>
        <p:spPr>
          <a:xfrm>
            <a:off x="2010217" y="277063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93097" y="277063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2629449" y="210312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icone:shi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223" y="2220895"/>
            <a:ext cx="276515" cy="2765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3369" y="347472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Século XVI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1657" y="376732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Portugal refina com leite condensado e caramelo</a:t>
            </a:r>
          </a:p>
        </p:txBody>
      </p:sp>
      <p:sp>
        <p:nvSpPr>
          <p:cNvPr id="16" name="Chevron 15"/>
          <p:cNvSpPr/>
          <p:nvPr/>
        </p:nvSpPr>
        <p:spPr>
          <a:xfrm>
            <a:off x="3696736" y="277063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79616" y="277063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2103120"/>
            <a:ext cx="512064" cy="51206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anch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43" y="2220895"/>
            <a:ext cx="276515" cy="2765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69888" y="347472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Século XIX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176" y="376732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Colonização leva a receita ao Brasil</a:t>
            </a:r>
          </a:p>
        </p:txBody>
      </p:sp>
      <p:sp>
        <p:nvSpPr>
          <p:cNvPr id="22" name="Chevron 21"/>
          <p:cNvSpPr/>
          <p:nvPr/>
        </p:nvSpPr>
        <p:spPr>
          <a:xfrm>
            <a:off x="5383256" y="277063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66136" y="277063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6002487" y="2103120"/>
            <a:ext cx="512064" cy="512064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icone:chef-ha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262" y="2220895"/>
            <a:ext cx="276515" cy="2765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56408" y="347472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Século 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4696" y="376732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Nestlé populariza o pudim nos lares brasileiros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69775" y="2770632"/>
            <a:ext cx="1750527" cy="566928"/>
          </a:xfrm>
          <a:prstGeom prst="chevron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252655" y="2770632"/>
            <a:ext cx="1384767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7689007" y="210312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1" name="icone:sta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781" y="2220895"/>
            <a:ext cx="276515" cy="2765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42927" y="3474720"/>
            <a:ext cx="1604223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Hoje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1215" y="3767328"/>
            <a:ext cx="156764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Ícone da culinária brasileira em festas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TIPOS DE PUDIM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Do clássico ao criativo — há um para cada paladar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OS GRANDES CLÁSSICOS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71600"/>
            <a:ext cx="548640" cy="548640"/>
          </a:xfrm>
          <a:prstGeom prst="ellipse">
            <a:avLst/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droplet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97787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96A00"/>
                </a:solidFill>
                <a:latin typeface="Lexend"/>
              </a:rPr>
              <a:t>O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Pudim de leite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8" y="205740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900" b="0" i="0">
                <a:solidFill>
                  <a:srgbClr val="3A3A40"/>
                </a:solidFill>
                <a:latin typeface="Lexend"/>
              </a:rPr>
              <a:t>Leite condensado, ovos e calda de caramelo. Cremoso e infalível.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icone:coffe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7" y="1497787"/>
            <a:ext cx="296266" cy="296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138988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INTENSO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59105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Pudim de chocolate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5740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00" b="0" i="0">
                <a:solidFill>
                  <a:srgbClr val="3A3A40"/>
                </a:solidFill>
                <a:latin typeface="Lexend"/>
              </a:rPr>
              <a:t>Cacau ou chocolate em pó elevam o sabor e deixam a textura mais densa.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262890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06578" y="2811780"/>
            <a:ext cx="548640" cy="54864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citru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5" y="2937967"/>
            <a:ext cx="296266" cy="296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2378" y="283006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85228B"/>
                </a:solidFill>
                <a:latin typeface="Lexend"/>
              </a:rPr>
              <a:t>REFRESCANTE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8" y="303123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Pudim de limão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8" y="349758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Leite condensado e suco de limão com toque cítrico e leveza.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628900"/>
            <a:ext cx="4156862" cy="1257300"/>
          </a:xfrm>
          <a:prstGeom prst="roundRect">
            <a:avLst>
              <a:gd name="adj" fmla="val 11636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846320" y="2811780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4" name="icone:cak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507" y="2937967"/>
            <a:ext cx="296266" cy="296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2830068"/>
            <a:ext cx="310530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NOSTÁLGICO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031236"/>
            <a:ext cx="310530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Pudim de pão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97580"/>
            <a:ext cx="3791102" cy="2514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pt-BR" sz="850" b="0" i="0">
                <a:solidFill>
                  <a:srgbClr val="3A3A40"/>
                </a:solidFill>
                <a:latin typeface="Lexend"/>
              </a:rPr>
              <a:t>Aproveitamento de pão amanhecido, uvas-passas e canela. Econômico.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0" name="icone:lightbulb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Destaque: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o pudim de leite condensado responde por 68% das buscas no Google Brasil.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PUDIM TRADICIONAL X MODERNO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4050792" cy="2697480"/>
          </a:xfrm>
          <a:prstGeom prst="roundRect">
            <a:avLst>
              <a:gd name="adj" fmla="val 5423"/>
            </a:avLst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06578" y="1344168"/>
            <a:ext cx="548640" cy="548640"/>
          </a:xfrm>
          <a:prstGeom prst="ellipse">
            <a:avLst/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flam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5" y="1470355"/>
            <a:ext cx="296266" cy="29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2378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0E1D8E"/>
                </a:solidFill>
                <a:latin typeface="Lexend"/>
              </a:rPr>
              <a:t>O CLÁSSICO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2378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Tradicional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8" y="2103120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3898" y="2103120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leite condensado e ovos inteiros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8" y="2441448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Textura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3898" y="2441448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firme, cortável em fatias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8" y="2779776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Cozimento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3898" y="2779776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banho-maria no forno convencional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8" y="3118104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Calda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3898" y="3118104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caramelo dourado queimado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8" y="3456432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0E1D8E"/>
                </a:solidFill>
                <a:latin typeface="Lexend"/>
              </a:rPr>
              <a:t>Tempo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3898" y="3456432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60 a 90 minutos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9510" y="1188720"/>
            <a:ext cx="4050792" cy="2697480"/>
          </a:xfrm>
          <a:prstGeom prst="roundRect">
            <a:avLst>
              <a:gd name="adj" fmla="val 5423"/>
            </a:avLst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52390" y="1344168"/>
            <a:ext cx="548640" cy="548640"/>
          </a:xfrm>
          <a:prstGeom prst="ellipse">
            <a:avLst/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" name="icone:z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78" y="1470355"/>
            <a:ext cx="296266" cy="296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38190" y="1389888"/>
            <a:ext cx="30449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800" b="1" i="0">
                <a:solidFill>
                  <a:srgbClr val="C71D81"/>
                </a:solidFill>
                <a:latin typeface="Lexend"/>
              </a:rPr>
              <a:t>INOVAÇÃO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8190" y="1591056"/>
            <a:ext cx="30449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1300" b="1" i="0">
                <a:solidFill>
                  <a:srgbClr val="0C0C0C"/>
                </a:solidFill>
                <a:latin typeface="Lexend"/>
              </a:rPr>
              <a:t>Moderno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3830" y="2103120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9710" y="2103120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creme de leite ou mascarpone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3830" y="2441448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Textura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9710" y="2441448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suave, quase mousse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830" y="2779776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Cozimento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9710" y="2779776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sous vide ou panela de pressão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3830" y="3118104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Calda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9710" y="3118104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coulis de frutas ou ganache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3830" y="3456432"/>
            <a:ext cx="12801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1" i="0">
                <a:solidFill>
                  <a:srgbClr val="C71D81"/>
                </a:solidFill>
                <a:latin typeface="Lexend"/>
              </a:rPr>
              <a:t>Tempo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9710" y="3456432"/>
            <a:ext cx="2267712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20 a 40 minutos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3545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3A3A40"/>
                </a:solidFill>
                <a:latin typeface="Lexend"/>
              </a:rPr>
              <a:t>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7" name="icone:lightbulb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Tendência: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versões modernas crescem 35% ao ano em restaurantes brasileiros.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7452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A CIÊNCIA DO PUDIM</a:t>
            </a:r>
          </a:p>
        </p:txBody>
      </p:sp>
      <p:sp>
        <p:nvSpPr>
          <p:cNvPr id="3" name="Oval 2"/>
          <p:cNvSpPr/>
          <p:nvPr/>
        </p:nvSpPr>
        <p:spPr>
          <a:xfrm>
            <a:off x="4137660" y="7543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" name="icone:microscop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56" y="954176"/>
            <a:ext cx="469087" cy="469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Por que ele fica tão cremoso e nunca afunda?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PUDIM EM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Oval 3"/>
          <p:cNvSpPr/>
          <p:nvPr/>
        </p:nvSpPr>
        <p:spPr>
          <a:xfrm>
            <a:off x="665683" y="1325880"/>
            <a:ext cx="1234440" cy="1234440"/>
          </a:xfrm>
          <a:prstGeom prst="ellipse">
            <a:avLst/>
          </a:prstGeom>
          <a:noFill/>
          <a:ln w="88900">
            <a:solidFill>
              <a:srgbClr val="F0830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7123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96A00"/>
                </a:solidFill>
                <a:latin typeface="Lexen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578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ingredientes no núcleo da receita clássica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578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ovos, leite condensado, leite</a:t>
            </a:r>
          </a:p>
        </p:txBody>
      </p:sp>
      <p:sp>
        <p:nvSpPr>
          <p:cNvPr id="8" name="Oval 7"/>
          <p:cNvSpPr/>
          <p:nvPr/>
        </p:nvSpPr>
        <p:spPr>
          <a:xfrm>
            <a:off x="2858414" y="1325880"/>
            <a:ext cx="1234440" cy="1234440"/>
          </a:xfrm>
          <a:prstGeom prst="ellipse">
            <a:avLst/>
          </a:prstGeom>
          <a:noFill/>
          <a:ln w="88900">
            <a:solidFill>
              <a:srgbClr val="C71D8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949854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C71D81"/>
                </a:solidFill>
                <a:latin typeface="Lexend"/>
              </a:rPr>
              <a:t>85°C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309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temperatura ideal do banho-maria no forno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309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750" b="0" i="0">
                <a:solidFill>
                  <a:srgbClr val="737474"/>
                </a:solidFill>
                <a:latin typeface="Lexend"/>
              </a:rPr>
              <a:t>Food Science &amp; Technology, 2021</a:t>
            </a:r>
          </a:p>
        </p:txBody>
      </p:sp>
      <p:sp>
        <p:nvSpPr>
          <p:cNvPr id="12" name="Oval 11"/>
          <p:cNvSpPr/>
          <p:nvPr/>
        </p:nvSpPr>
        <p:spPr>
          <a:xfrm>
            <a:off x="5051146" y="1325880"/>
            <a:ext cx="1234440" cy="1234440"/>
          </a:xfrm>
          <a:prstGeom prst="ellipse">
            <a:avLst/>
          </a:prstGeom>
          <a:noFill/>
          <a:ln w="88900">
            <a:solidFill>
              <a:srgbClr val="85228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42586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85228B"/>
                </a:solidFill>
                <a:latin typeface="Lexend"/>
              </a:rPr>
              <a:t>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tempo mínimo de geladeira para textura perfeita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Chef Confeiteiro, 2022</a:t>
            </a:r>
          </a:p>
        </p:txBody>
      </p:sp>
      <p:sp>
        <p:nvSpPr>
          <p:cNvPr id="16" name="Oval 15"/>
          <p:cNvSpPr/>
          <p:nvPr/>
        </p:nvSpPr>
        <p:spPr>
          <a:xfrm>
            <a:off x="7243877" y="1325880"/>
            <a:ext cx="1234440" cy="1234440"/>
          </a:xfrm>
          <a:prstGeom prst="ellipse">
            <a:avLst/>
          </a:prstGeom>
          <a:noFill/>
          <a:ln w="88900">
            <a:solidFill>
              <a:srgbClr val="0E1D8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35317" y="1325880"/>
            <a:ext cx="105156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2600" b="1" i="0">
                <a:solidFill>
                  <a:srgbClr val="0E1D8E"/>
                </a:solidFill>
                <a:latin typeface="Lexend"/>
              </a:rPr>
              <a:t>1,4×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4771" y="2724912"/>
            <a:ext cx="155265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000" b="0" i="0">
                <a:solidFill>
                  <a:srgbClr val="3A3A40"/>
                </a:solidFill>
                <a:latin typeface="Lexend"/>
              </a:rPr>
              <a:t>o pudim expande durante o cozimento e volta ao soltar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4771" y="3273552"/>
            <a:ext cx="155265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800" b="0" i="0">
                <a:solidFill>
                  <a:srgbClr val="737474"/>
                </a:solidFill>
                <a:latin typeface="Lexend"/>
              </a:rPr>
              <a:t>Efeito da proteína coagulada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" name="icone:lightbulb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Ciência: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a coagulação das proteínas do ovo é o segredo da cremosidade.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PREPARO PASSO A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Pentagon 3"/>
          <p:cNvSpPr/>
          <p:nvPr/>
        </p:nvSpPr>
        <p:spPr>
          <a:xfrm>
            <a:off x="323698" y="2496312"/>
            <a:ext cx="1469441" cy="566928"/>
          </a:xfrm>
          <a:prstGeom prst="homePlate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6578" y="2496312"/>
            <a:ext cx="11036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802386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" name="icone:blend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1" y="1946575"/>
            <a:ext cx="276515" cy="2765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850" y="3200400"/>
            <a:ext cx="132313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Bater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8" y="3493008"/>
            <a:ext cx="128656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Mixer com ovos, leite condensado e leite integral</a:t>
            </a:r>
          </a:p>
        </p:txBody>
      </p:sp>
      <p:sp>
        <p:nvSpPr>
          <p:cNvPr id="10" name="Chevron 9"/>
          <p:cNvSpPr/>
          <p:nvPr/>
        </p:nvSpPr>
        <p:spPr>
          <a:xfrm>
            <a:off x="1729130" y="2496312"/>
            <a:ext cx="1469441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2010" y="2496312"/>
            <a:ext cx="11036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2207819" y="182880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icone:flam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594" y="1946575"/>
            <a:ext cx="276515" cy="2765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02282" y="3200400"/>
            <a:ext cx="132313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Caramelo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0570" y="3493008"/>
            <a:ext cx="128656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Açúcar em fogo médio até dourar na forma</a:t>
            </a:r>
          </a:p>
        </p:txBody>
      </p:sp>
      <p:sp>
        <p:nvSpPr>
          <p:cNvPr id="16" name="Chevron 15"/>
          <p:cNvSpPr/>
          <p:nvPr/>
        </p:nvSpPr>
        <p:spPr>
          <a:xfrm>
            <a:off x="3134563" y="2496312"/>
            <a:ext cx="1469441" cy="566928"/>
          </a:xfrm>
          <a:prstGeom prst="chevron">
            <a:avLst>
              <a:gd name="adj" fmla="val 28000"/>
            </a:avLst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17443" y="2496312"/>
            <a:ext cx="11036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3613252" y="1828800"/>
            <a:ext cx="512064" cy="512064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icone:droplet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026" y="1946575"/>
            <a:ext cx="276515" cy="2765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07715" y="3200400"/>
            <a:ext cx="132313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Banho-maria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6003" y="3493008"/>
            <a:ext cx="128656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Forma com papel-alumínio, 180 °C, 60 min</a:t>
            </a:r>
          </a:p>
        </p:txBody>
      </p:sp>
      <p:sp>
        <p:nvSpPr>
          <p:cNvPr id="22" name="Chevron 21"/>
          <p:cNvSpPr/>
          <p:nvPr/>
        </p:nvSpPr>
        <p:spPr>
          <a:xfrm>
            <a:off x="4539996" y="2496312"/>
            <a:ext cx="1469441" cy="566928"/>
          </a:xfrm>
          <a:prstGeom prst="chevron">
            <a:avLst>
              <a:gd name="adj" fmla="val 28000"/>
            </a:avLst>
          </a:prstGeom>
          <a:solidFill>
            <a:srgbClr val="0E1D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722876" y="2496312"/>
            <a:ext cx="11036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5018684" y="1828800"/>
            <a:ext cx="512064" cy="512064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icone:thermome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459" y="1946575"/>
            <a:ext cx="276515" cy="2765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13148" y="3200400"/>
            <a:ext cx="132313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Verificar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1436" y="3493008"/>
            <a:ext cx="128656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Palito sai limpo: ponto certo</a:t>
            </a:r>
          </a:p>
        </p:txBody>
      </p:sp>
      <p:sp>
        <p:nvSpPr>
          <p:cNvPr id="28" name="Chevron 27"/>
          <p:cNvSpPr/>
          <p:nvPr/>
        </p:nvSpPr>
        <p:spPr>
          <a:xfrm>
            <a:off x="5945429" y="2496312"/>
            <a:ext cx="1469441" cy="566928"/>
          </a:xfrm>
          <a:prstGeom prst="chevron">
            <a:avLst>
              <a:gd name="adj" fmla="val 28000"/>
            </a:avLst>
          </a:prstGeom>
          <a:solidFill>
            <a:srgbClr val="F0830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28309" y="2496312"/>
            <a:ext cx="11036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6424117" y="1828800"/>
            <a:ext cx="512064" cy="512064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1" name="icone:refrigerato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892" y="1946575"/>
            <a:ext cx="276515" cy="2765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18581" y="3200400"/>
            <a:ext cx="132313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Resfriar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6869" y="3493008"/>
            <a:ext cx="128656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4 horas na geladeira antes de desenformar</a:t>
            </a:r>
          </a:p>
        </p:txBody>
      </p:sp>
      <p:sp>
        <p:nvSpPr>
          <p:cNvPr id="34" name="Chevron 33"/>
          <p:cNvSpPr/>
          <p:nvPr/>
        </p:nvSpPr>
        <p:spPr>
          <a:xfrm>
            <a:off x="7350862" y="2496312"/>
            <a:ext cx="1469441" cy="566928"/>
          </a:xfrm>
          <a:prstGeom prst="chevron">
            <a:avLst>
              <a:gd name="adj" fmla="val 28000"/>
            </a:avLst>
          </a:prstGeom>
          <a:solidFill>
            <a:srgbClr val="C71D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33742" y="2496312"/>
            <a:ext cx="110368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1400" b="1" i="0">
                <a:solidFill>
                  <a:srgbClr val="FFFFFF"/>
                </a:solidFill>
                <a:latin typeface="Lexend"/>
              </a:rPr>
              <a:t>06</a:t>
            </a:r>
          </a:p>
        </p:txBody>
      </p:sp>
      <p:sp>
        <p:nvSpPr>
          <p:cNvPr id="36" name="Oval 35"/>
          <p:cNvSpPr/>
          <p:nvPr/>
        </p:nvSpPr>
        <p:spPr>
          <a:xfrm>
            <a:off x="7829550" y="1828800"/>
            <a:ext cx="512064" cy="512064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7" name="icone:utensil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325" y="1946575"/>
            <a:ext cx="276515" cy="2765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24014" y="3200400"/>
            <a:ext cx="1323137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50" b="1" i="0">
                <a:solidFill>
                  <a:srgbClr val="0C0C0C"/>
                </a:solidFill>
                <a:latin typeface="Lexend"/>
              </a:rPr>
              <a:t>Servir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2302" y="3493008"/>
            <a:ext cx="1286561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3A3A40"/>
                </a:solidFill>
                <a:latin typeface="Lexend"/>
              </a:rPr>
              <a:t>Vire sobre prato fundo e aprecie a calda escorrer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2" name="icone:lightbulb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Dica: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jamais abra o forno antes dos 50 minutos para evitar colapso.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98" y="457200"/>
            <a:ext cx="6309360" cy="475488"/>
          </a:xfrm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2200" b="1" i="0">
                <a:solidFill>
                  <a:srgbClr val="0E1D8E"/>
                </a:solidFill>
                <a:latin typeface="Lexend"/>
              </a:rPr>
              <a:t>ERROS MAIS COMUNS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8" y="219456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pt-BR" sz="750" b="1" i="0">
                <a:solidFill>
                  <a:srgbClr val="C71D81"/>
                </a:solidFill>
                <a:latin typeface="Lexend"/>
              </a:rPr>
              <a:t>GASTRONOMIA  ·  LAB365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698" y="1188720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33426" y="1261872"/>
            <a:ext cx="320040" cy="320040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icone:triangle-ale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5" y="1335481"/>
            <a:ext cx="172822" cy="172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058" y="1188720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Usar ovos frios direto da geladeira deixa a textura gomosa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8" y="1746504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33426" y="1819656"/>
            <a:ext cx="320040" cy="320040"/>
          </a:xfrm>
          <a:prstGeom prst="ellipse">
            <a:avLst/>
          </a:prstGeom>
          <a:solidFill>
            <a:srgbClr val="FBE8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" name="icone:triangle-aler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5" y="1893265"/>
            <a:ext cx="172822" cy="1728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8058" y="1746504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Caramelo queimado demais amarga toda a calda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8" y="2304288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33426" y="2377440"/>
            <a:ext cx="320040" cy="320040"/>
          </a:xfrm>
          <a:prstGeom prst="ellipse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" name="icone:triangle-aler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5" y="2451049"/>
            <a:ext cx="172822" cy="1728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058" y="2304288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Forno muito alto cria bolhas de ar e textura porosa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8" y="2862072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33426" y="2935224"/>
            <a:ext cx="320040" cy="320040"/>
          </a:xfrm>
          <a:prstGeom prst="ellipse">
            <a:avLst/>
          </a:prstGeom>
          <a:solidFill>
            <a:srgbClr val="E8EA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icone:triangle-aler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5" y="3008833"/>
            <a:ext cx="172822" cy="1728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8058" y="2862072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Desenformar quente faz o pudim rachar ou desmoronar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8" y="3419856"/>
            <a:ext cx="8496605" cy="466344"/>
          </a:xfrm>
          <a:prstGeom prst="roundRect">
            <a:avLst>
              <a:gd name="adj" fmla="val 19607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33426" y="3493008"/>
            <a:ext cx="320040" cy="320040"/>
          </a:xfrm>
          <a:prstGeom prst="ellipse">
            <a:avLst/>
          </a:prstGeom>
          <a:solidFill>
            <a:srgbClr val="FEF1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" name="icone:triangle-ale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5" y="3566617"/>
            <a:ext cx="172822" cy="172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8" y="3419856"/>
            <a:ext cx="7719365" cy="4663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3A3A40"/>
                </a:solidFill>
                <a:latin typeface="Lexend"/>
              </a:rPr>
              <a:t>Bater demais incorpora ar e altera a cremosidade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698" y="4069080"/>
            <a:ext cx="8496605" cy="640080"/>
          </a:xfrm>
          <a:prstGeom prst="roundRect">
            <a:avLst>
              <a:gd name="adj" fmla="val 22857"/>
            </a:avLst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06578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6" name="icone:lightbulb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4" y="4265676"/>
            <a:ext cx="246888" cy="246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92378" y="4069080"/>
            <a:ext cx="739932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1" i="0">
                <a:solidFill>
                  <a:srgbClr val="85228B"/>
                </a:solidFill>
                <a:latin typeface="Lexend"/>
              </a:rPr>
              <a:t>Prevenção: </a:t>
            </a:r>
            <a:r>
              <a:rPr lang="pt-BR" sz="1100" b="0" i="0">
                <a:solidFill>
                  <a:srgbClr val="3A3A40"/>
                </a:solidFill>
                <a:latin typeface="Lexend"/>
              </a:rPr>
              <a:t>temperatura ambiente nos ovos e paciência no caramelo resolvem 80% dos erros.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63040"/>
            <a:ext cx="7315200" cy="685800"/>
          </a:xfrm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3000" b="1" i="0">
                <a:solidFill>
                  <a:srgbClr val="FFFFFF"/>
                </a:solidFill>
                <a:latin typeface="Lexend"/>
              </a:rPr>
              <a:t>PUDIM — SIMPLES E ETERNO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400" b="0" i="0">
                <a:solidFill>
                  <a:srgbClr val="FFFFFF"/>
                </a:solidFill>
                <a:latin typeface="Lexend"/>
              </a:rPr>
              <a:t>Três ingredientes, mil anos de história, um sabor inesquecível.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1000+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anos de história da receita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664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664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ingredientes na receita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1680" y="2926080"/>
            <a:ext cx="19507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3600" b="1" i="0">
                <a:solidFill>
                  <a:srgbClr val="FFFFFF"/>
                </a:solidFill>
                <a:latin typeface="Lexend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3566160"/>
            <a:ext cx="195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lang="pt-BR" sz="1100" b="0" i="0">
                <a:solidFill>
                  <a:srgbClr val="FFFFFF"/>
                </a:solidFill>
                <a:latin typeface="Lexend"/>
              </a:rPr>
              <a:t>sobremesa favorita do Brasil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Pudim</dc:title>
  <cp:lastModifiedBy>python-pptx</cp:lastModifiedBy>
  <cp:revision>1</cp:revision>
  <dcterms:modified xsi:type="dcterms:W3CDTF">2026-09-24T20:09:08Z</dcterms:modified>
  <dc:creator>Grupo 1  ·  LAB365 × SENAI</dc:creator>
  <dc:subject>LAB365 × SENAI</dc:subject>
</cp:coreProperties>
</file>