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5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1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71D81"/>
                </a:solidFill>
                <a:latin typeface="Arial"/>
              </a:rPr>
              <a:t>GRUPO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Assistente das Apostilas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RAG com Amazon Bedrock e Knowledge 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Grupo 1 · LAB365 × SENAI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74519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Por que alunos ficam sem resposta?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3697" y="219456"/>
            <a:ext cx="84966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71D81"/>
                </a:solidFill>
                <a:latin typeface="Arial"/>
              </a:rPr>
              <a:t>CONTEXTO E MOTIVAÇÃO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7" y="457200"/>
            <a:ext cx="84966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1D8E"/>
                </a:solidFill>
                <a:latin typeface="Arial"/>
              </a:rPr>
              <a:t>PROBLEMA E USUÁRIO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3697" y="1051560"/>
            <a:ext cx="8496604" cy="27432"/>
          </a:xfrm>
          <a:prstGeom prst="rect">
            <a:avLst/>
          </a:prstGeom>
          <a:solidFill>
            <a:srgbClr val="0E1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697" y="1207008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297" y="1143000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Alunos fazem perguntas sobre apostilas fora do horário das aulas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697" y="1627632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297" y="1563624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Professores não conseguem atender todos individualmente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" y="2048255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297" y="1984248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Buscas manuais no PDF são lentas e imprecisas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" y="2468879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" y="2404872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Conteúdo das apostilas está em PDFs não indexados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" y="2889503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297" y="2825496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Solução: agente que responde com trechos das apostilas como fonte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74519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A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Padrão RAG com serviços gerenciados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3697" y="219456"/>
            <a:ext cx="84966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71D81"/>
                </a:solidFill>
                <a:latin typeface="Arial"/>
              </a:rPr>
              <a:t>PADRÃO ESCOLHIDO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7" y="457200"/>
            <a:ext cx="84966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1D8E"/>
                </a:solidFill>
                <a:latin typeface="Arial"/>
              </a:rPr>
              <a:t>RAG — RETRIEVAL-AUGMENTED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3697" y="1051560"/>
            <a:ext cx="8496604" cy="27432"/>
          </a:xfrm>
          <a:prstGeom prst="rect">
            <a:avLst/>
          </a:prstGeom>
          <a:solidFill>
            <a:srgbClr val="0E1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697" y="1207008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297" y="1143000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Usuário faz pergunta → Cognito valida identidade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697" y="1627632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297" y="1563624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API Gateway roteia para Lambda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" y="2048255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297" y="1984248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Lambda consulta Knowledge Bases (chunking + embedding automático)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" y="2468879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" y="2404872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Bedrock gera resposta citando os trechos recuperados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" y="2889503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297" y="2825496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Progresso e histórico salvos no DynamoDB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697" y="3310127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" y="3246120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Apostilas em PDF armazenadas no S3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3697" y="4480560"/>
            <a:ext cx="8496604" cy="457200"/>
          </a:xfrm>
          <a:prstGeom prst="rect">
            <a:avLst/>
          </a:prstGeom>
          <a:solidFill>
            <a:srgbClr val="FE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6A00"/>
                </a:solidFill>
                <a:latin typeface="Arial"/>
              </a:rPr>
              <a:t>Modelo padrão: Amazon Titan Text Premier. Fallback: Claude 3 Haiku.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3697" y="219456"/>
            <a:ext cx="84966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71D81"/>
                </a:solidFill>
                <a:latin typeface="Arial"/>
              </a:rPr>
              <a:t>DIAGRAMA GERADO PELA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7" y="457200"/>
            <a:ext cx="84966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1D8E"/>
                </a:solidFill>
                <a:latin typeface="Arial"/>
              </a:rPr>
              <a:t>ARQUITETURA DO ASSISTENTE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3697" y="1051560"/>
            <a:ext cx="8496604" cy="27432"/>
          </a:xfrm>
          <a:prstGeom prst="rect">
            <a:avLst/>
          </a:prstGeom>
          <a:solidFill>
            <a:srgbClr val="0E1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3697" y="1188720"/>
            <a:ext cx="8496604" cy="3657600"/>
          </a:xfrm>
          <a:prstGeom prst="rect">
            <a:avLst/>
          </a:prstGeom>
          <a:solidFill>
            <a:srgbClr val="F2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3697" y="2743200"/>
            <a:ext cx="84966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37474"/>
                </a:solidFill>
                <a:latin typeface="Arial"/>
              </a:rPr>
              <a:t>[ imagem não encontrada: saida/apostilas-diagrama.png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3697" y="219456"/>
            <a:ext cx="84966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71D81"/>
                </a:solidFill>
                <a:latin typeface="Arial"/>
              </a:rPr>
              <a:t>DECISÃO DE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7" y="457200"/>
            <a:ext cx="84966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1D8E"/>
                </a:solidFill>
                <a:latin typeface="Arial"/>
              </a:rPr>
              <a:t>RAG VS. FINE-TUNING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3697" y="1051560"/>
            <a:ext cx="8496604" cy="27432"/>
          </a:xfrm>
          <a:prstGeom prst="rect">
            <a:avLst/>
          </a:prstGeom>
          <a:solidFill>
            <a:srgbClr val="0E1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3697" y="1143000"/>
            <a:ext cx="4023360" cy="365760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" y="128016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1D8E"/>
                </a:solidFill>
                <a:latin typeface="Arial"/>
              </a:rPr>
              <a:t>RAG (ESCOLHIDO)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857" y="178308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3A40"/>
                </a:solidFill>
                <a:latin typeface="Arial"/>
              </a:rPr>
              <a:t>• Atualiza o conteúdo sem retreinar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857" y="214884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3A40"/>
                </a:solidFill>
                <a:latin typeface="Arial"/>
              </a:rPr>
              <a:t>• Fontes citáveis e auditáveis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" y="25146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3A40"/>
                </a:solidFill>
                <a:latin typeface="Arial"/>
              </a:rPr>
              <a:t>• Custo menor e estável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" y="28803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3A40"/>
                </a:solidFill>
                <a:latin typeface="Arial"/>
              </a:rPr>
              <a:t>• Pronto em horas, não semanas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1377" y="1143000"/>
            <a:ext cx="4023360" cy="3657600"/>
          </a:xfrm>
          <a:prstGeom prst="rect">
            <a:avLst/>
          </a:prstGeom>
          <a:solidFill>
            <a:srgbClr val="FB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8537" y="128016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1D8E"/>
                </a:solidFill>
                <a:latin typeface="Arial"/>
              </a:rPr>
              <a:t>FINE-TUNING (ALTERNATIVA)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8537" y="178308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3A40"/>
                </a:solidFill>
                <a:latin typeface="Arial"/>
              </a:rPr>
              <a:t>• Requer dados rotulados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8537" y="214884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3A40"/>
                </a:solidFill>
                <a:latin typeface="Arial"/>
              </a:rPr>
              <a:t>• Retreino a cada apostila nova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8537" y="25146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3A40"/>
                </a:solidFill>
                <a:latin typeface="Arial"/>
              </a:rPr>
              <a:t>• Custo de GPU elevado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8537" y="28803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3A40"/>
                </a:solidFill>
                <a:latin typeface="Arial"/>
              </a:rPr>
              <a:t>• Não cita a fonte original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2777" y="25603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A3A40"/>
                </a:solidFill>
                <a:latin typeface="Arial"/>
              </a:rPr>
              <a:t>vs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697" y="4480560"/>
            <a:ext cx="84966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A3A40"/>
                </a:solidFill>
                <a:latin typeface="Arial"/>
              </a:rPr>
              <a:t>Regra: comece pelo RAG. Fine-tuning só quando o domínio exige vocabulário muito especializado.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3697" y="219456"/>
            <a:ext cx="84966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C71D81"/>
                </a:solidFill>
                <a:latin typeface="Arial"/>
              </a:rPr>
              <a:t>SEGURANÇA E GOVERNANÇA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697" y="457200"/>
            <a:ext cx="84966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E1D8E"/>
                </a:solidFill>
                <a:latin typeface="Arial"/>
              </a:rPr>
              <a:t>GUARDRAILS E GOVERNANÇA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3697" y="1051560"/>
            <a:ext cx="8496604" cy="27432"/>
          </a:xfrm>
          <a:prstGeom prst="rect">
            <a:avLst/>
          </a:prstGeom>
          <a:solidFill>
            <a:srgbClr val="0E1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697" y="1207008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297" y="1143000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Cognito com MFA obrigatório para professores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697" y="1627632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297" y="1563624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Guardrails do Bedrock: filtro de conteúdo inapropriado 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" y="2048255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297" y="1984248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Nenhum dado pessoal de aluno nos prompts (anonimização no Lambda)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" y="2468879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297" y="2404872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Chaves AWS via IAM Role — nunca hardcoded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" y="2889503"/>
            <a:ext cx="164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E1D8E"/>
                </a:solidFill>
                <a:latin typeface="Arial"/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297" y="2825496"/>
            <a:ext cx="82296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3A40"/>
                </a:solidFill>
                <a:latin typeface="Arial"/>
              </a:rPr>
              <a:t>Logs de acesso no CloudTrail por 90 dias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5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71D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8305"/>
                </a:solidFill>
                <a:latin typeface="Arial"/>
              </a:rPr>
              <a:t>&lt; 3s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tempo de resposta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188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8305"/>
                </a:solidFill>
                <a:latin typeface="Arial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chaves expostas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1887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8305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pilares Well-Arch.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Pronto para defender no tribunal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→  Gerar diagrama com a skill gerador-arquitetura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9475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→  Defender no tribunal às 16h10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79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→  Fork do repositório para cada integrante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